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32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carte est produite par le modèle. Il retrouve seul les Landes, l'arc méditerranéen et la Corse, alors que ni la latitude ni la longitude ne font partie de ses variables. C'est la végétation et le relief qui portent cette géographie.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de départ concret. Si on demande d'où vient le pic de mars : Cantal 52 % de ses feux hors saison estivale, Dordogne 44 %, Lozère 41 %. Ces chiffres sont calculés dans l'application, page Les données.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Formuler l'apport sans exagérer : on ne remplace pas le FWI, on l'utilise comme entrée principale et on lui ajoute une résolution spatiale qu'il n'a pas.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le fait que H3 est formulée dans le sens qui permet de la réfuter : si le LSTM avait gagné, on l'aurait déployé. Le résultat n'était pas décidé d'avance.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contrainte qui explique chacune des décisions méthodologiques présentées ensuite. Le dire maintenant évite de le justifier cinq fois.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heuristique par le nom aurait « résolu » tous les cas et corrompu la cible, le voisinage et les features CORINE de communes innocentes. Perdre 0,68 % des feux coûte moins cher que d'en inventer.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253 millions de lignes plutôt que 52 809 : c'est un choix coûteux en stockage et en temps de calcul, et il a une raison technique précise. PostgreSQL avec 20 partitions annuelles.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Exemple à donner si on demande : « feux des 30 jours précédents » au 3 août 2023 lit juillet 2023, et ce n'est pas une fuite, car le 3 août à 8 h on connaît juillet. « Taux moyen de la commune sur toute la période » lit le futur, et c'en est une.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souvent la première question posée : pourquoi pas l'exactitude. Répondre par le chiffre, 99,98 % de justesse en répondant toujours non.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piège est invisible : le modèle fonctionne, les métriques sont bonnes, seul le niveau absolu des probabilités est faux. C'est pour cette raison que l'application affiche un rang.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on demande pourquoi 200 répliques : au-delà, la largeur des intervalles ne bouge plus de façon utile, et le coût est linéaire.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modèle C est celui qui répond à la contrainte de déploiement, et c'est aussi la seule référence honnête face au LSTM, puisqu'aucun des deux ne voit l'historique des feux.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réponse à H1 : la météo seule plafonne à ×5, le croisement avec le territoire monte à ×42. L'écart entre les deux est la moitié de la réponse à la question de recherche.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problème classique d'estimation sur petits domaines. Le point méthodologique : les groupes sont formés sans regarder la cible, la sinistralité n'entre qu'ensuite.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commenter le classement ici. Le commentaire n'a de sens qu'une fois les intervalles affichés, et c'est justement l'erreur que l'on veut éviter de commettre devant le jury.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que cette diapositive démontre vraiment, c'est que le protocole sait dire « je ne sais pas ». Un protocole qui conclut toujours quelque chose ne conclut rien.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LSTM voit 30 jours × 8 indices, soit 240 valeurs. Le modèle C voit les 8 indices du jour plus deux décalages. Vingt fois plus d'historique météo, et il perd.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Réserve à donner spontanément, sans attendre la question : le LSTM ne reçoit pas danger_effis, qui pèse 13,7 % dans le modèle C. L'écart de 23,6 % est donc un majorant, et c'est la première chose à reprendre.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détour n'est pas décoratif : il montre que la conclusion sur le LSTM ne dépend pas d'une seule expérience, mais de trois familles de méthodes qui disent la même chose.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Dans l'application, un basculement permet de comparer les deux modèles, et il refuse de le faire ailleurs que sur le test, en expliquant pourquoi pour chaque période.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Protocole : on retire une région du train, on entraîne, on teste sur la région exclue, neuf fois. C'est la réponse la plus directe à H2 : le territoire porte une information qui transfère, l'historique non.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à faire passer : on a préféré ne pas afficher de probabilité plutôt que d'en afficher une fausse. C'est un choix documenté, pas un oubli.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Regarder la variabilité et pas seulement la moyenne : le lift moyen de 63× cache un intervalle de 76 à 151 selon l'année.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diapositive qui relie les métriques à une décision. Si on demande pourquoi ne pas déployer v3 malgré son avance : cette avance disparaît là où elle devrait servir.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Formulation exacte à employer : les conditions favorables aux feux augmentent très significativement, et le nombre de départs reste stable. Ne jamais dire que les feux augmentent, les données du projet ne le montrent pas. Trois lectures possibles, à donner dans cet ordre : 20 points d'observation seulement, une prévention qui absorbe pour l'instant la hausse de l'aléa, et le fait qu'on projette l'aléa et non le bilan.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Réponse à H1 et H2 réunies : les variables de territoire occupent le haut du classement à égalité avec la météo. La météo situe le moment, le territoire situe le lieu. Si on demande la garantie : TreeSHAP est exact sur un modèle d'arbres, vérifié à 9,5e-07 près.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 LIME, si la question vient : sur un modèle d'arbres il approxime ce que TreeSHAP calcule exactement, donc il ne peut pas faire mieux. Il redeviendrait le bon outil sur un modèle qu'on ne peut pas ouvrir, une API ou un réseau profond.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L'application affiche cet avertissement à chaque date postérieure à 2025, et grise la zone antérieure à 2045 sur les graphiques de projection. Le dire avant qu'on le demande.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bug d'alignement est reproduit volontairement dans le notebook et dans l'application : on permute les lignes, la PR-AUC tombe de 0,0085 à 0,0002, exactement la ligne du hasard, avec les mêmes valeurs dans le fichier.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Enchaîner directement sur la conclusion : ces limites définissent la suite du travail, elles ne l'invalident pas.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la démonstration ici : la carte d'abord, puis le basculement rétrospectif sur une date d'août, puis la page Pourquoi. Prévoir trois minutes.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Terminer sur la réserve plutôt que sur la performance. Si une seule chose doit rester : le modèle classe bien, il ne quantifie pas.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84000" y="1584000"/>
            <a:ext cx="8640000" cy="360000"/>
          </a:xfrm>
          <a:prstGeom prst="rect">
            <a:avLst/>
          </a:prstGeom>
          <a:noFill/>
        </p:spPr>
        <p:txBody>
          <a:bodyPr wrap="square">
            <a:spAutoFit/>
          </a:bodyPr>
          <a:lstStyle/>
          <a:p>
            <a:pPr>
              <a:lnSpc>
                <a:spcPct val="125000"/>
              </a:lnSpc>
            </a:pPr>
            <a:r>
              <a:rPr sz="1300" b="1">
                <a:solidFill>
                  <a:srgbClr val="E34948"/>
                </a:solidFill>
                <a:latin typeface="Calibri"/>
              </a:rPr>
              <a:t>Projet de fin d'année · M1 Data / IA · La Plateforme_</a:t>
            </a:r>
          </a:p>
        </p:txBody>
      </p:sp>
      <p:sp>
        <p:nvSpPr>
          <p:cNvPr id="3" name="TextBox 2"/>
          <p:cNvSpPr txBox="1"/>
          <p:nvPr/>
        </p:nvSpPr>
        <p:spPr>
          <a:xfrm>
            <a:off x="684000" y="1980000"/>
            <a:ext cx="10800000" cy="1440000"/>
          </a:xfrm>
          <a:prstGeom prst="rect">
            <a:avLst/>
          </a:prstGeom>
          <a:noFill/>
        </p:spPr>
        <p:txBody>
          <a:bodyPr wrap="square">
            <a:spAutoFit/>
          </a:bodyPr>
          <a:lstStyle/>
          <a:p>
            <a:pPr>
              <a:lnSpc>
                <a:spcPct val="105000"/>
              </a:lnSpc>
            </a:pPr>
            <a:r>
              <a:rPr sz="4000" b="1">
                <a:solidFill>
                  <a:srgbClr val="0B0B0B"/>
                </a:solidFill>
                <a:latin typeface="Calibri"/>
              </a:rPr>
              <a:t>Où va-t-il brûler</a:t>
            </a:r>
          </a:p>
          <a:p>
            <a:pPr>
              <a:lnSpc>
                <a:spcPct val="105000"/>
              </a:lnSpc>
            </a:pPr>
            <a:r>
              <a:rPr sz="4000" b="1">
                <a:solidFill>
                  <a:srgbClr val="0B0B0B"/>
                </a:solidFill>
                <a:latin typeface="Calibri"/>
              </a:rPr>
              <a:t>demain ?</a:t>
            </a:r>
          </a:p>
        </p:txBody>
      </p:sp>
      <p:sp>
        <p:nvSpPr>
          <p:cNvPr id="4" name="TextBox 3"/>
          <p:cNvSpPr txBox="1"/>
          <p:nvPr/>
        </p:nvSpPr>
        <p:spPr>
          <a:xfrm>
            <a:off x="684000" y="3816000"/>
            <a:ext cx="9360000" cy="1080000"/>
          </a:xfrm>
          <a:prstGeom prst="rect">
            <a:avLst/>
          </a:prstGeom>
          <a:noFill/>
        </p:spPr>
        <p:txBody>
          <a:bodyPr wrap="square">
            <a:spAutoFit/>
          </a:bodyPr>
          <a:lstStyle/>
          <a:p>
            <a:pPr>
              <a:lnSpc>
                <a:spcPct val="135000"/>
              </a:lnSpc>
            </a:pPr>
            <a:r>
              <a:rPr sz="1700" b="0">
                <a:solidFill>
                  <a:srgbClr val="6B6963"/>
                </a:solidFill>
                <a:latin typeface="Calibri"/>
              </a:rPr>
              <a:t>Estimer le risque de départ de feu pour chacune des 34 734</a:t>
            </a:r>
          </a:p>
          <a:p>
            <a:pPr>
              <a:lnSpc>
                <a:spcPct val="135000"/>
              </a:lnSpc>
            </a:pPr>
            <a:r>
              <a:rPr sz="1700" b="0">
                <a:solidFill>
                  <a:srgbClr val="6B6963"/>
                </a:solidFill>
                <a:latin typeface="Calibri"/>
              </a:rPr>
              <a:t>communes de France métropolitaine, chaque jour,</a:t>
            </a:r>
          </a:p>
          <a:p>
            <a:pPr>
              <a:lnSpc>
                <a:spcPct val="135000"/>
              </a:lnSpc>
            </a:pPr>
            <a:r>
              <a:rPr sz="1700" b="0">
                <a:solidFill>
                  <a:srgbClr val="6B6963"/>
                </a:solidFill>
                <a:latin typeface="Calibri"/>
              </a:rPr>
              <a:t>de 1973 à 2100.</a:t>
            </a:r>
          </a:p>
        </p:txBody>
      </p:sp>
      <p:sp>
        <p:nvSpPr>
          <p:cNvPr id="5" name="TextBox 4"/>
          <p:cNvSpPr txBox="1"/>
          <p:nvPr/>
        </p:nvSpPr>
        <p:spPr>
          <a:xfrm>
            <a:off x="684000" y="5832000"/>
            <a:ext cx="10080000" cy="503999"/>
          </a:xfrm>
          <a:prstGeom prst="rect">
            <a:avLst/>
          </a:prstGeom>
          <a:noFill/>
        </p:spPr>
        <p:txBody>
          <a:bodyPr wrap="square">
            <a:spAutoFit/>
          </a:bodyPr>
          <a:lstStyle/>
          <a:p>
            <a:pPr>
              <a:lnSpc>
                <a:spcPct val="125000"/>
              </a:lnSpc>
            </a:pPr>
            <a:r>
              <a:rPr sz="1200" b="0">
                <a:solidFill>
                  <a:srgbClr val="6B6963"/>
                </a:solidFill>
                <a:latin typeface="Calibri"/>
              </a:rPr>
              <a:t>Romuald Courtois</a:t>
            </a:r>
          </a:p>
        </p:txBody>
      </p:sp>
      <p:pic>
        <p:nvPicPr>
          <p:cNvPr id="6" name="Picture 5" descr="carte.png"/>
          <p:cNvPicPr>
            <a:picLocks noChangeAspect="1"/>
          </p:cNvPicPr>
          <p:nvPr/>
        </p:nvPicPr>
        <p:blipFill>
          <a:blip r:embed="rId2"/>
          <a:stretch>
            <a:fillRect/>
          </a:stretch>
        </p:blipFill>
        <p:spPr>
          <a:xfrm>
            <a:off x="7380000" y="1486458"/>
            <a:ext cx="4140000" cy="386708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84000" y="2268000"/>
            <a:ext cx="2160000" cy="503999"/>
          </a:xfrm>
          <a:prstGeom prst="rect">
            <a:avLst/>
          </a:prstGeom>
          <a:noFill/>
        </p:spPr>
        <p:txBody>
          <a:bodyPr wrap="square">
            <a:spAutoFit/>
          </a:bodyPr>
          <a:lstStyle/>
          <a:p>
            <a:pPr>
              <a:lnSpc>
                <a:spcPct val="125000"/>
              </a:lnSpc>
            </a:pPr>
            <a:r>
              <a:rPr sz="1500" b="1">
                <a:solidFill>
                  <a:srgbClr val="E34948"/>
                </a:solidFill>
                <a:latin typeface="Calibri"/>
              </a:rPr>
              <a:t>01</a:t>
            </a:r>
          </a:p>
        </p:txBody>
      </p:sp>
      <p:sp>
        <p:nvSpPr>
          <p:cNvPr id="3" name="TextBox 2"/>
          <p:cNvSpPr txBox="1"/>
          <p:nvPr/>
        </p:nvSpPr>
        <p:spPr>
          <a:xfrm>
            <a:off x="684000" y="2628000"/>
            <a:ext cx="10080000" cy="1080000"/>
          </a:xfrm>
          <a:prstGeom prst="rect">
            <a:avLst/>
          </a:prstGeom>
          <a:noFill/>
        </p:spPr>
        <p:txBody>
          <a:bodyPr wrap="square">
            <a:spAutoFit/>
          </a:bodyPr>
          <a:lstStyle/>
          <a:p>
            <a:pPr>
              <a:lnSpc>
                <a:spcPct val="110000"/>
              </a:lnSpc>
            </a:pPr>
            <a:r>
              <a:rPr sz="3400" b="1">
                <a:solidFill>
                  <a:srgbClr val="FCFCFB"/>
                </a:solidFill>
                <a:latin typeface="Calibri"/>
              </a:rPr>
              <a:t>Introduction</a:t>
            </a:r>
          </a:p>
        </p:txBody>
      </p:sp>
      <p:sp>
        <p:nvSpPr>
          <p:cNvPr id="4" name="TextBox 3"/>
          <p:cNvSpPr txBox="1"/>
          <p:nvPr/>
        </p:nvSpPr>
        <p:spPr>
          <a:xfrm>
            <a:off x="684000" y="4104000"/>
            <a:ext cx="9360000" cy="900000"/>
          </a:xfrm>
          <a:prstGeom prst="rect">
            <a:avLst/>
          </a:prstGeom>
          <a:noFill/>
        </p:spPr>
        <p:txBody>
          <a:bodyPr wrap="square">
            <a:spAutoFit/>
          </a:bodyPr>
          <a:lstStyle/>
          <a:p>
            <a:pPr>
              <a:lnSpc>
                <a:spcPct val="135000"/>
              </a:lnSpc>
            </a:pPr>
            <a:r>
              <a:rPr sz="1600" b="0">
                <a:solidFill>
                  <a:srgbClr val="C3C2B7"/>
                </a:solidFill>
                <a:latin typeface="Calibri"/>
              </a:rPr>
              <a:t>Le phénomène, et ce qui manque aux outils existants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 phénomène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52 809 feux déclarés sur le périmètre d'étude, entre 1973 et 2025.</a:t>
            </a:r>
          </a:p>
        </p:txBody>
      </p:sp>
      <p:pic>
        <p:nvPicPr>
          <p:cNvPr id="5" name="Picture 4" descr="03_feux-par-jour-de-l-annee-cumul-sur-53-ans.png"/>
          <p:cNvPicPr>
            <a:picLocks noChangeAspect="1"/>
          </p:cNvPicPr>
          <p:nvPr/>
        </p:nvPicPr>
        <p:blipFill>
          <a:blip r:embed="rId2"/>
          <a:stretch>
            <a:fillRect/>
          </a:stretch>
        </p:blipFill>
        <p:spPr>
          <a:xfrm>
            <a:off x="905023" y="1944000"/>
            <a:ext cx="6217952" cy="3456000"/>
          </a:xfrm>
          <a:prstGeom prst="rect">
            <a:avLst/>
          </a:prstGeom>
        </p:spPr>
      </p:pic>
      <p:sp>
        <p:nvSpPr>
          <p:cNvPr id="6" name="TextBox 5"/>
          <p:cNvSpPr txBox="1"/>
          <p:nvPr/>
        </p:nvSpPr>
        <p:spPr>
          <a:xfrm>
            <a:off x="7560000" y="1944000"/>
            <a:ext cx="4031999" cy="432000"/>
          </a:xfrm>
          <a:prstGeom prst="rect">
            <a:avLst/>
          </a:prstGeom>
          <a:noFill/>
        </p:spPr>
        <p:txBody>
          <a:bodyPr wrap="square">
            <a:spAutoFit/>
          </a:bodyPr>
          <a:lstStyle/>
          <a:p>
            <a:pPr>
              <a:lnSpc>
                <a:spcPct val="125000"/>
              </a:lnSpc>
            </a:pPr>
            <a:r>
              <a:rPr sz="1350" b="1">
                <a:solidFill>
                  <a:srgbClr val="0B0B0B"/>
                </a:solidFill>
                <a:latin typeface="Calibri"/>
              </a:rPr>
              <a:t>Deux saisons, pas une</a:t>
            </a:r>
          </a:p>
        </p:txBody>
      </p:sp>
      <p:sp>
        <p:nvSpPr>
          <p:cNvPr id="7" name="TextBox 6"/>
          <p:cNvSpPr txBox="1"/>
          <p:nvPr/>
        </p:nvSpPr>
        <p:spPr>
          <a:xfrm>
            <a:off x="7560000" y="2376000"/>
            <a:ext cx="4031999" cy="514382"/>
          </a:xfrm>
          <a:prstGeom prst="rect">
            <a:avLst/>
          </a:prstGeom>
          <a:noFill/>
        </p:spPr>
        <p:txBody>
          <a:bodyPr wrap="square">
            <a:spAutoFit/>
          </a:bodyPr>
          <a:lstStyle/>
          <a:p>
            <a:pPr>
              <a:lnSpc>
                <a:spcPct val="125000"/>
              </a:lnSpc>
            </a:pPr>
            <a:r>
              <a:rPr sz="1350" b="0">
                <a:solidFill>
                  <a:srgbClr val="6B6963"/>
                </a:solidFill>
                <a:latin typeface="Calibri"/>
              </a:rPr>
              <a:t>· Le pic d'août est celui qu'on attend : l'arc méditerranéen, la Corse, un été sec.</a:t>
            </a:r>
          </a:p>
        </p:txBody>
      </p:sp>
      <p:sp>
        <p:nvSpPr>
          <p:cNvPr id="8" name="TextBox 7"/>
          <p:cNvSpPr txBox="1"/>
          <p:nvPr/>
        </p:nvSpPr>
        <p:spPr>
          <a:xfrm>
            <a:off x="7560000" y="2911982"/>
            <a:ext cx="4031999" cy="1285956"/>
          </a:xfrm>
          <a:prstGeom prst="rect">
            <a:avLst/>
          </a:prstGeom>
          <a:noFill/>
        </p:spPr>
        <p:txBody>
          <a:bodyPr wrap="square">
            <a:spAutoFit/>
          </a:bodyPr>
          <a:lstStyle/>
          <a:p>
            <a:pPr>
              <a:lnSpc>
                <a:spcPct val="125000"/>
              </a:lnSpc>
            </a:pPr>
            <a:r>
              <a:rPr sz="1350" b="0">
                <a:solidFill>
                  <a:srgbClr val="6B6963"/>
                </a:solidFill>
                <a:latin typeface="Calibri"/>
              </a:rPr>
              <a:t>· Celui de mars est moins connu. Il concerne le Sud-Ouest et le Massif central, et il ne relève pas de la même végétation : ce sont des landes et des herbacées sèches avant la reprise, souvent des écobuages qui échappent.</a:t>
            </a:r>
          </a:p>
        </p:txBody>
      </p:sp>
      <p:sp>
        <p:nvSpPr>
          <p:cNvPr id="9" name="TextBox 8"/>
          <p:cNvSpPr txBox="1"/>
          <p:nvPr/>
        </p:nvSpPr>
        <p:spPr>
          <a:xfrm>
            <a:off x="7560000" y="4219538"/>
            <a:ext cx="4031999" cy="432000"/>
          </a:xfrm>
          <a:prstGeom prst="rect">
            <a:avLst/>
          </a:prstGeom>
          <a:noFill/>
        </p:spPr>
        <p:txBody>
          <a:bodyPr wrap="square">
            <a:spAutoFit/>
          </a:bodyPr>
          <a:lstStyle/>
          <a:p>
            <a:pPr>
              <a:lnSpc>
                <a:spcPct val="125000"/>
              </a:lnSpc>
            </a:pPr>
            <a:r>
              <a:rPr sz="1350" b="1">
                <a:solidFill>
                  <a:srgbClr val="0B0B0B"/>
                </a:solidFill>
                <a:latin typeface="Calibri"/>
              </a:rPr>
              <a:t>Une conséquence pour le modèle</a:t>
            </a:r>
          </a:p>
        </p:txBody>
      </p:sp>
      <p:sp>
        <p:nvSpPr>
          <p:cNvPr id="10" name="TextBox 9"/>
          <p:cNvSpPr txBox="1"/>
          <p:nvPr/>
        </p:nvSpPr>
        <p:spPr>
          <a:xfrm>
            <a:off x="7560000" y="4651538"/>
            <a:ext cx="4031999" cy="771573"/>
          </a:xfrm>
          <a:prstGeom prst="rect">
            <a:avLst/>
          </a:prstGeom>
          <a:noFill/>
        </p:spPr>
        <p:txBody>
          <a:bodyPr wrap="square">
            <a:spAutoFit/>
          </a:bodyPr>
          <a:lstStyle/>
          <a:p>
            <a:pPr>
              <a:lnSpc>
                <a:spcPct val="125000"/>
              </a:lnSpc>
            </a:pPr>
            <a:r>
              <a:rPr sz="1350" b="0">
                <a:solidFill>
                  <a:srgbClr val="6B6963"/>
                </a:solidFill>
                <a:latin typeface="Calibri"/>
              </a:rPr>
              <a:t>· Un modèle qui n'apprendrait que l'été raterait un feu sur cinq. La saisonnalité doit donc entrer comme variable, et pas comme filtre.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Ce qui existe déjà, et ce qui manque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 danger météo est un service public. La question posée ici commence là où il s'arrête.</a:t>
            </a:r>
          </a:p>
        </p:txBody>
      </p:sp>
      <p:graphicFrame>
        <p:nvGraphicFramePr>
          <p:cNvPr id="5" name="Table 4"/>
          <p:cNvGraphicFramePr>
            <a:graphicFrameLocks noGrp="1"/>
          </p:cNvGraphicFramePr>
          <p:nvPr/>
        </p:nvGraphicFramePr>
        <p:xfrm>
          <a:off x="684000" y="1944000"/>
          <a:ext cx="10800000" cy="2015999"/>
        </p:xfrm>
        <a:graphic>
          <a:graphicData uri="http://schemas.openxmlformats.org/drawingml/2006/table">
            <a:tbl>
              <a:tblPr firstRow="1" bandRow="1">
                <a:tableStyleId>{5C22544A-7EE6-4342-B048-85BDC9FD1C3A}</a:tableStyleId>
              </a:tblPr>
              <a:tblGrid>
                <a:gridCol w="1980000"/>
                <a:gridCol w="4680000"/>
                <a:gridCol w="4140000"/>
              </a:tblGrid>
              <a:tr h="403199">
                <a:tc>
                  <a:txBody>
                    <a:bodyPr/>
                    <a:lstStyle/>
                    <a:p>
                      <a:r>
                        <a:rPr sz="1300" b="1">
                          <a:solidFill>
                            <a:srgbClr val="FCFCFB"/>
                          </a:solidFill>
                          <a:latin typeface="Calibri"/>
                        </a:rPr>
                        <a:t> </a:t>
                      </a:r>
                    </a:p>
                  </a:txBody>
                  <a:tcPr>
                    <a:solidFill>
                      <a:srgbClr val="0B0B0B"/>
                    </a:solidFill>
                  </a:tcPr>
                </a:tc>
                <a:tc>
                  <a:txBody>
                    <a:bodyPr/>
                    <a:lstStyle/>
                    <a:p>
                      <a:r>
                        <a:rPr sz="1300" b="1">
                          <a:solidFill>
                            <a:srgbClr val="FCFCFB"/>
                          </a:solidFill>
                          <a:latin typeface="Calibri"/>
                        </a:rPr>
                        <a:t>Ce que fournit le danger météo (EFFIS, Météo-France)</a:t>
                      </a:r>
                    </a:p>
                  </a:txBody>
                  <a:tcPr>
                    <a:solidFill>
                      <a:srgbClr val="0B0B0B"/>
                    </a:solidFill>
                  </a:tcPr>
                </a:tc>
                <a:tc>
                  <a:txBody>
                    <a:bodyPr/>
                    <a:lstStyle/>
                    <a:p>
                      <a:r>
                        <a:rPr sz="1300" b="1">
                          <a:solidFill>
                            <a:srgbClr val="FCFCFB"/>
                          </a:solidFill>
                          <a:latin typeface="Calibri"/>
                        </a:rPr>
                        <a:t>Ce que ce projet ajoute</a:t>
                      </a:r>
                    </a:p>
                  </a:txBody>
                  <a:tcPr>
                    <a:solidFill>
                      <a:srgbClr val="0B0B0B"/>
                    </a:solidFill>
                  </a:tcPr>
                </a:tc>
              </a:tr>
              <a:tr h="403199">
                <a:tc>
                  <a:txBody>
                    <a:bodyPr/>
                    <a:lstStyle/>
                    <a:p>
                      <a:r>
                        <a:rPr sz="1300" b="0">
                          <a:solidFill>
                            <a:srgbClr val="6B6963"/>
                          </a:solidFill>
                          <a:latin typeface="Calibri"/>
                        </a:rPr>
                        <a:t>Objet mesuré</a:t>
                      </a:r>
                    </a:p>
                  </a:txBody>
                  <a:tcPr>
                    <a:solidFill>
                      <a:srgbClr val="FCFCFB"/>
                    </a:solidFill>
                  </a:tcPr>
                </a:tc>
                <a:tc>
                  <a:txBody>
                    <a:bodyPr/>
                    <a:lstStyle/>
                    <a:p>
                      <a:r>
                        <a:rPr sz="1300" b="0">
                          <a:solidFill>
                            <a:srgbClr val="6B6963"/>
                          </a:solidFill>
                          <a:latin typeface="Calibri"/>
                        </a:rPr>
                        <a:t>l'inflammabilité de l'air et du combustible</a:t>
                      </a:r>
                    </a:p>
                  </a:txBody>
                  <a:tcPr>
                    <a:solidFill>
                      <a:srgbClr val="FCFCFB"/>
                    </a:solidFill>
                  </a:tcPr>
                </a:tc>
                <a:tc>
                  <a:txBody>
                    <a:bodyPr/>
                    <a:lstStyle/>
                    <a:p>
                      <a:r>
                        <a:rPr sz="1300" b="0">
                          <a:solidFill>
                            <a:srgbClr val="6B6963"/>
                          </a:solidFill>
                          <a:latin typeface="Calibri"/>
                        </a:rPr>
                        <a:t>la probabilité qu'un départ soit déclaré</a:t>
                      </a:r>
                    </a:p>
                  </a:txBody>
                  <a:tcPr>
                    <a:solidFill>
                      <a:srgbClr val="FCFCFB"/>
                    </a:solidFill>
                  </a:tcPr>
                </a:tc>
              </a:tr>
              <a:tr h="403199">
                <a:tc>
                  <a:txBody>
                    <a:bodyPr/>
                    <a:lstStyle/>
                    <a:p>
                      <a:r>
                        <a:rPr sz="1300" b="0">
                          <a:solidFill>
                            <a:srgbClr val="6B6963"/>
                          </a:solidFill>
                          <a:latin typeface="Calibri"/>
                        </a:rPr>
                        <a:t>Maille</a:t>
                      </a:r>
                    </a:p>
                  </a:txBody>
                  <a:tcPr>
                    <a:solidFill>
                      <a:srgbClr val="FCFCFB"/>
                    </a:solidFill>
                  </a:tcPr>
                </a:tc>
                <a:tc>
                  <a:txBody>
                    <a:bodyPr/>
                    <a:lstStyle/>
                    <a:p>
                      <a:r>
                        <a:rPr sz="1300" b="0">
                          <a:solidFill>
                            <a:srgbClr val="6B6963"/>
                          </a:solidFill>
                          <a:latin typeface="Calibri"/>
                        </a:rPr>
                        <a:t>0,25°, soit environ 28 km</a:t>
                      </a:r>
                    </a:p>
                  </a:txBody>
                  <a:tcPr>
                    <a:solidFill>
                      <a:srgbClr val="FCFCFB"/>
                    </a:solidFill>
                  </a:tcPr>
                </a:tc>
                <a:tc>
                  <a:txBody>
                    <a:bodyPr/>
                    <a:lstStyle/>
                    <a:p>
                      <a:r>
                        <a:rPr sz="1300" b="0">
                          <a:solidFill>
                            <a:srgbClr val="6B6963"/>
                          </a:solidFill>
                          <a:latin typeface="Calibri"/>
                        </a:rPr>
                        <a:t>la commune</a:t>
                      </a:r>
                    </a:p>
                  </a:txBody>
                  <a:tcPr>
                    <a:solidFill>
                      <a:srgbClr val="FCFCFB"/>
                    </a:solidFill>
                  </a:tcPr>
                </a:tc>
              </a:tr>
              <a:tr h="403199">
                <a:tc>
                  <a:txBody>
                    <a:bodyPr/>
                    <a:lstStyle/>
                    <a:p>
                      <a:r>
                        <a:rPr sz="1300" b="0">
                          <a:solidFill>
                            <a:srgbClr val="6B6963"/>
                          </a:solidFill>
                          <a:latin typeface="Calibri"/>
                        </a:rPr>
                        <a:t>Territoire</a:t>
                      </a:r>
                    </a:p>
                  </a:txBody>
                  <a:tcPr>
                    <a:solidFill>
                      <a:srgbClr val="FCFCFB"/>
                    </a:solidFill>
                  </a:tcPr>
                </a:tc>
                <a:tc>
                  <a:txBody>
                    <a:bodyPr/>
                    <a:lstStyle/>
                    <a:p>
                      <a:r>
                        <a:rPr sz="1300" b="0">
                          <a:solidFill>
                            <a:srgbClr val="6B6963"/>
                          </a:solidFill>
                          <a:latin typeface="Calibri"/>
                        </a:rPr>
                        <a:t>non pris en compte</a:t>
                      </a:r>
                    </a:p>
                  </a:txBody>
                  <a:tcPr>
                    <a:solidFill>
                      <a:srgbClr val="FCFCFB"/>
                    </a:solidFill>
                  </a:tcPr>
                </a:tc>
                <a:tc>
                  <a:txBody>
                    <a:bodyPr/>
                    <a:lstStyle/>
                    <a:p>
                      <a:r>
                        <a:rPr sz="1300" b="0">
                          <a:solidFill>
                            <a:srgbClr val="6B6963"/>
                          </a:solidFill>
                          <a:latin typeface="Calibri"/>
                        </a:rPr>
                        <a:t>végétation, relief, densité, littoral</a:t>
                      </a:r>
                    </a:p>
                  </a:txBody>
                  <a:tcPr>
                    <a:solidFill>
                      <a:srgbClr val="FCFCFB"/>
                    </a:solidFill>
                  </a:tcPr>
                </a:tc>
              </a:tr>
              <a:tr h="403203">
                <a:tc>
                  <a:txBody>
                    <a:bodyPr/>
                    <a:lstStyle/>
                    <a:p>
                      <a:r>
                        <a:rPr sz="1300" b="0">
                          <a:solidFill>
                            <a:srgbClr val="6B6963"/>
                          </a:solidFill>
                          <a:latin typeface="Calibri"/>
                        </a:rPr>
                        <a:t>Horizon</a:t>
                      </a:r>
                    </a:p>
                  </a:txBody>
                  <a:tcPr>
                    <a:solidFill>
                      <a:srgbClr val="FCFCFB"/>
                    </a:solidFill>
                  </a:tcPr>
                </a:tc>
                <a:tc>
                  <a:txBody>
                    <a:bodyPr/>
                    <a:lstStyle/>
                    <a:p>
                      <a:r>
                        <a:rPr sz="1300" b="0">
                          <a:solidFill>
                            <a:srgbClr val="6B6963"/>
                          </a:solidFill>
                          <a:latin typeface="Calibri"/>
                        </a:rPr>
                        <a:t>quelques jours</a:t>
                      </a:r>
                    </a:p>
                  </a:txBody>
                  <a:tcPr>
                    <a:solidFill>
                      <a:srgbClr val="FCFCFB"/>
                    </a:solidFill>
                  </a:tcPr>
                </a:tc>
                <a:tc>
                  <a:txBody>
                    <a:bodyPr/>
                    <a:lstStyle/>
                    <a:p>
                      <a:r>
                        <a:rPr sz="1300" b="0">
                          <a:solidFill>
                            <a:srgbClr val="6B6963"/>
                          </a:solidFill>
                          <a:latin typeface="Calibri"/>
                        </a:rPr>
                        <a:t>1973 à 2100, trois scénarios GIEC</a:t>
                      </a:r>
                    </a:p>
                  </a:txBody>
                  <a:tcPr>
                    <a:solidFill>
                      <a:srgbClr val="FCFCFB"/>
                    </a:solidFill>
                  </a:tcPr>
                </a:tc>
              </a:tr>
            </a:tbl>
          </a:graphicData>
        </a:graphic>
      </p:graphicFrame>
      <p:sp>
        <p:nvSpPr>
          <p:cNvPr id="6" name="Rectangle 5"/>
          <p:cNvSpPr/>
          <p:nvPr/>
        </p:nvSpPr>
        <p:spPr>
          <a:xfrm>
            <a:off x="684000" y="4248000"/>
            <a:ext cx="39600" cy="1440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4284000"/>
            <a:ext cx="10548000" cy="1440000"/>
          </a:xfrm>
          <a:prstGeom prst="rect">
            <a:avLst/>
          </a:prstGeom>
          <a:noFill/>
        </p:spPr>
        <p:txBody>
          <a:bodyPr wrap="square">
            <a:spAutoFit/>
          </a:bodyPr>
          <a:lstStyle/>
          <a:p>
            <a:pPr>
              <a:lnSpc>
                <a:spcPct val="130000"/>
              </a:lnSpc>
            </a:pPr>
            <a:r>
              <a:rPr sz="1500" b="0">
                <a:solidFill>
                  <a:srgbClr val="0B0B0B"/>
                </a:solidFill>
                <a:latin typeface="Calibri"/>
              </a:rPr>
              <a:t>À l'intérieur d'une même maille météo de 28 km, on trouve en moyenne 31 communes. Elles reçoivent aujourd'hui le même indice de danger, qu'elles soient couvertes de maquis ou bétonnées.</a:t>
            </a:r>
          </a:p>
          <a:p>
            <a:pPr>
              <a:lnSpc>
                <a:spcPct val="130000"/>
              </a:lnSpc>
            </a:pPr>
            <a:r>
              <a:rPr sz="1500" b="0">
                <a:solidFill>
                  <a:srgbClr val="0B0B0B"/>
                </a:solidFill>
                <a:latin typeface="Calibri"/>
              </a:rPr>
              <a:t>C'est précisément l'écart que ce travail cherche à combler : la météo dit quand, elle ne dit pas où.</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84000" y="2268000"/>
            <a:ext cx="2160000" cy="503999"/>
          </a:xfrm>
          <a:prstGeom prst="rect">
            <a:avLst/>
          </a:prstGeom>
          <a:noFill/>
        </p:spPr>
        <p:txBody>
          <a:bodyPr wrap="square">
            <a:spAutoFit/>
          </a:bodyPr>
          <a:lstStyle/>
          <a:p>
            <a:pPr>
              <a:lnSpc>
                <a:spcPct val="125000"/>
              </a:lnSpc>
            </a:pPr>
            <a:r>
              <a:rPr sz="1500" b="1">
                <a:solidFill>
                  <a:srgbClr val="E34948"/>
                </a:solidFill>
                <a:latin typeface="Calibri"/>
              </a:rPr>
              <a:t>02</a:t>
            </a:r>
          </a:p>
        </p:txBody>
      </p:sp>
      <p:sp>
        <p:nvSpPr>
          <p:cNvPr id="3" name="TextBox 2"/>
          <p:cNvSpPr txBox="1"/>
          <p:nvPr/>
        </p:nvSpPr>
        <p:spPr>
          <a:xfrm>
            <a:off x="684000" y="2628000"/>
            <a:ext cx="10080000" cy="1080000"/>
          </a:xfrm>
          <a:prstGeom prst="rect">
            <a:avLst/>
          </a:prstGeom>
          <a:noFill/>
        </p:spPr>
        <p:txBody>
          <a:bodyPr wrap="square">
            <a:spAutoFit/>
          </a:bodyPr>
          <a:lstStyle/>
          <a:p>
            <a:pPr>
              <a:lnSpc>
                <a:spcPct val="110000"/>
              </a:lnSpc>
            </a:pPr>
            <a:r>
              <a:rPr sz="3400" b="1">
                <a:solidFill>
                  <a:srgbClr val="FCFCFB"/>
                </a:solidFill>
                <a:latin typeface="Calibri"/>
              </a:rPr>
              <a:t>Question de recherche</a:t>
            </a:r>
          </a:p>
        </p:txBody>
      </p:sp>
      <p:sp>
        <p:nvSpPr>
          <p:cNvPr id="4" name="TextBox 3"/>
          <p:cNvSpPr txBox="1"/>
          <p:nvPr/>
        </p:nvSpPr>
        <p:spPr>
          <a:xfrm>
            <a:off x="684000" y="4104000"/>
            <a:ext cx="9360000" cy="900000"/>
          </a:xfrm>
          <a:prstGeom prst="rect">
            <a:avLst/>
          </a:prstGeom>
          <a:noFill/>
        </p:spPr>
        <p:txBody>
          <a:bodyPr wrap="square">
            <a:spAutoFit/>
          </a:bodyPr>
          <a:lstStyle/>
          <a:p>
            <a:pPr>
              <a:lnSpc>
                <a:spcPct val="135000"/>
              </a:lnSpc>
            </a:pPr>
            <a:r>
              <a:rPr sz="1600" b="0">
                <a:solidFill>
                  <a:srgbClr val="C3C2B7"/>
                </a:solidFill>
                <a:latin typeface="Calibri"/>
              </a:rPr>
              <a:t>Une question principale, quatre hypothèses testables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 question</a:t>
            </a:r>
          </a:p>
        </p:txBody>
      </p:sp>
      <p:sp>
        <p:nvSpPr>
          <p:cNvPr id="4" name="Rectangle 3"/>
          <p:cNvSpPr/>
          <p:nvPr/>
        </p:nvSpPr>
        <p:spPr>
          <a:xfrm>
            <a:off x="684000" y="1404000"/>
            <a:ext cx="39600" cy="1296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2000" y="1440000"/>
            <a:ext cx="10548000" cy="1296000"/>
          </a:xfrm>
          <a:prstGeom prst="rect">
            <a:avLst/>
          </a:prstGeom>
          <a:noFill/>
        </p:spPr>
        <p:txBody>
          <a:bodyPr wrap="square">
            <a:spAutoFit/>
          </a:bodyPr>
          <a:lstStyle/>
          <a:p>
            <a:pPr>
              <a:lnSpc>
                <a:spcPct val="130000"/>
              </a:lnSpc>
            </a:pPr>
            <a:r>
              <a:rPr sz="2100" b="0">
                <a:solidFill>
                  <a:srgbClr val="0B0B0B"/>
                </a:solidFill>
                <a:latin typeface="Calibri"/>
              </a:rPr>
              <a:t>Peut-on estimer, à l'échelle du couple commune × jour, la probabilité qu'un départ de feu soit déclaré, à partir des seules données publiques disponibles en temps réel ?</a:t>
            </a:r>
          </a:p>
        </p:txBody>
      </p:sp>
      <p:sp>
        <p:nvSpPr>
          <p:cNvPr id="6" name="TextBox 5"/>
          <p:cNvSpPr txBox="1"/>
          <p:nvPr/>
        </p:nvSpPr>
        <p:spPr>
          <a:xfrm>
            <a:off x="684000" y="3060000"/>
            <a:ext cx="10800000" cy="432000"/>
          </a:xfrm>
          <a:prstGeom prst="rect">
            <a:avLst/>
          </a:prstGeom>
          <a:noFill/>
        </p:spPr>
        <p:txBody>
          <a:bodyPr wrap="square">
            <a:spAutoFit/>
          </a:bodyPr>
          <a:lstStyle/>
          <a:p>
            <a:pPr>
              <a:lnSpc>
                <a:spcPct val="125000"/>
              </a:lnSpc>
            </a:pPr>
            <a:r>
              <a:rPr sz="1700" b="1">
                <a:solidFill>
                  <a:srgbClr val="0B0B0B"/>
                </a:solidFill>
                <a:latin typeface="Calibri"/>
              </a:rPr>
              <a:t>Quatre hypothèses, chacune vérifiable, chacune réfutable</a:t>
            </a:r>
          </a:p>
        </p:txBody>
      </p:sp>
      <p:graphicFrame>
        <p:nvGraphicFramePr>
          <p:cNvPr id="7" name="Table 6"/>
          <p:cNvGraphicFramePr>
            <a:graphicFrameLocks noGrp="1"/>
          </p:cNvGraphicFramePr>
          <p:nvPr/>
        </p:nvGraphicFramePr>
        <p:xfrm>
          <a:off x="684000" y="3636000"/>
          <a:ext cx="10800000" cy="2664000"/>
        </p:xfrm>
        <a:graphic>
          <a:graphicData uri="http://schemas.openxmlformats.org/drawingml/2006/table">
            <a:tbl>
              <a:tblPr firstRow="1" bandRow="1">
                <a:tableStyleId>{5C22544A-7EE6-4342-B048-85BDC9FD1C3A}</a:tableStyleId>
              </a:tblPr>
              <a:tblGrid>
                <a:gridCol w="648000"/>
                <a:gridCol w="4392000"/>
                <a:gridCol w="5760000"/>
              </a:tblGrid>
              <a:tr h="532800">
                <a:tc>
                  <a:txBody>
                    <a:bodyPr/>
                    <a:lstStyle/>
                    <a:p>
                      <a:r>
                        <a:rPr sz="1300" b="1">
                          <a:solidFill>
                            <a:srgbClr val="FCFCFB"/>
                          </a:solidFill>
                          <a:latin typeface="Calibri"/>
                        </a:rPr>
                        <a:t> </a:t>
                      </a:r>
                    </a:p>
                  </a:txBody>
                  <a:tcPr>
                    <a:solidFill>
                      <a:srgbClr val="0B0B0B"/>
                    </a:solidFill>
                  </a:tcPr>
                </a:tc>
                <a:tc>
                  <a:txBody>
                    <a:bodyPr/>
                    <a:lstStyle/>
                    <a:p>
                      <a:r>
                        <a:rPr sz="1300" b="1">
                          <a:solidFill>
                            <a:srgbClr val="FCFCFB"/>
                          </a:solidFill>
                          <a:latin typeface="Calibri"/>
                        </a:rPr>
                        <a:t>Hypothèse</a:t>
                      </a:r>
                    </a:p>
                  </a:txBody>
                  <a:tcPr>
                    <a:solidFill>
                      <a:srgbClr val="0B0B0B"/>
                    </a:solidFill>
                  </a:tcPr>
                </a:tc>
                <a:tc>
                  <a:txBody>
                    <a:bodyPr/>
                    <a:lstStyle/>
                    <a:p>
                      <a:r>
                        <a:rPr sz="1300" b="1">
                          <a:solidFill>
                            <a:srgbClr val="FCFCFB"/>
                          </a:solidFill>
                          <a:latin typeface="Calibri"/>
                        </a:rPr>
                        <a:t>Comment on la teste</a:t>
                      </a:r>
                    </a:p>
                  </a:txBody>
                  <a:tcPr>
                    <a:solidFill>
                      <a:srgbClr val="0B0B0B"/>
                    </a:solidFill>
                  </a:tcPr>
                </a:tc>
              </a:tr>
              <a:tr h="532800">
                <a:tc>
                  <a:txBody>
                    <a:bodyPr/>
                    <a:lstStyle/>
                    <a:p>
                      <a:r>
                        <a:rPr sz="1300" b="0">
                          <a:solidFill>
                            <a:srgbClr val="6B6963"/>
                          </a:solidFill>
                          <a:latin typeface="Calibri"/>
                        </a:rPr>
                        <a:t>H1</a:t>
                      </a:r>
                    </a:p>
                  </a:txBody>
                  <a:tcPr>
                    <a:solidFill>
                      <a:srgbClr val="FCFCFB"/>
                    </a:solidFill>
                  </a:tcPr>
                </a:tc>
                <a:tc>
                  <a:txBody>
                    <a:bodyPr/>
                    <a:lstStyle/>
                    <a:p>
                      <a:r>
                        <a:rPr sz="1300" b="0">
                          <a:solidFill>
                            <a:srgbClr val="6B6963"/>
                          </a:solidFill>
                          <a:latin typeface="Calibri"/>
                        </a:rPr>
                        <a:t>La météo seule ne suffit pas à localiser le risque</a:t>
                      </a:r>
                    </a:p>
                  </a:txBody>
                  <a:tcPr>
                    <a:solidFill>
                      <a:srgbClr val="FCFCFB"/>
                    </a:solidFill>
                  </a:tcPr>
                </a:tc>
                <a:tc>
                  <a:txBody>
                    <a:bodyPr/>
                    <a:lstStyle/>
                    <a:p>
                      <a:r>
                        <a:rPr sz="1300" b="0">
                          <a:solidFill>
                            <a:srgbClr val="6B6963"/>
                          </a:solidFill>
                          <a:latin typeface="Calibri"/>
                        </a:rPr>
                        <a:t>baseline « danger EFFIS seul », comparée au croisement avec le territoire</a:t>
                      </a:r>
                    </a:p>
                  </a:txBody>
                  <a:tcPr>
                    <a:solidFill>
                      <a:srgbClr val="FCFCFB"/>
                    </a:solidFill>
                  </a:tcPr>
                </a:tc>
              </a:tr>
              <a:tr h="532800">
                <a:tc>
                  <a:txBody>
                    <a:bodyPr/>
                    <a:lstStyle/>
                    <a:p>
                      <a:r>
                        <a:rPr sz="1300" b="0">
                          <a:solidFill>
                            <a:srgbClr val="6B6963"/>
                          </a:solidFill>
                          <a:latin typeface="Calibri"/>
                        </a:rPr>
                        <a:t>H2</a:t>
                      </a:r>
                    </a:p>
                  </a:txBody>
                  <a:tcPr>
                    <a:solidFill>
                      <a:srgbClr val="FCFCFB"/>
                    </a:solidFill>
                  </a:tcPr>
                </a:tc>
                <a:tc>
                  <a:txBody>
                    <a:bodyPr/>
                    <a:lstStyle/>
                    <a:p>
                      <a:r>
                        <a:rPr sz="1300" b="0">
                          <a:solidFill>
                            <a:srgbClr val="6B6963"/>
                          </a:solidFill>
                          <a:latin typeface="Calibri"/>
                        </a:rPr>
                        <a:t>Le territoire apporte une information que la météo ne porte pas</a:t>
                      </a:r>
                    </a:p>
                  </a:txBody>
                  <a:tcPr>
                    <a:solidFill>
                      <a:srgbClr val="FCFCFB"/>
                    </a:solidFill>
                  </a:tcPr>
                </a:tc>
                <a:tc>
                  <a:txBody>
                    <a:bodyPr/>
                    <a:lstStyle/>
                    <a:p>
                      <a:r>
                        <a:rPr sz="1300" b="0">
                          <a:solidFill>
                            <a:srgbClr val="6B6963"/>
                          </a:solidFill>
                          <a:latin typeface="Calibri"/>
                        </a:rPr>
                        <a:t>SHAP sur deux populations, et validation croisée par région</a:t>
                      </a:r>
                    </a:p>
                  </a:txBody>
                  <a:tcPr>
                    <a:solidFill>
                      <a:srgbClr val="FCFCFB"/>
                    </a:solidFill>
                  </a:tcPr>
                </a:tc>
              </a:tr>
              <a:tr h="532800">
                <a:tc>
                  <a:txBody>
                    <a:bodyPr/>
                    <a:lstStyle/>
                    <a:p>
                      <a:r>
                        <a:rPr sz="1300" b="0">
                          <a:solidFill>
                            <a:srgbClr val="6B6963"/>
                          </a:solidFill>
                          <a:latin typeface="Calibri"/>
                        </a:rPr>
                        <a:t>H3</a:t>
                      </a:r>
                    </a:p>
                  </a:txBody>
                  <a:tcPr>
                    <a:solidFill>
                      <a:srgbClr val="FCFCFB"/>
                    </a:solidFill>
                  </a:tcPr>
                </a:tc>
                <a:tc>
                  <a:txBody>
                    <a:bodyPr/>
                    <a:lstStyle/>
                    <a:p>
                      <a:r>
                        <a:rPr sz="1300" b="0">
                          <a:solidFill>
                            <a:srgbClr val="6B6963"/>
                          </a:solidFill>
                          <a:latin typeface="Calibri"/>
                        </a:rPr>
                        <a:t>Une architecture séquentielle n'apporte rien de plus que des indices physiques agrégés</a:t>
                      </a:r>
                    </a:p>
                  </a:txBody>
                  <a:tcPr>
                    <a:solidFill>
                      <a:srgbClr val="FCFCFB"/>
                    </a:solidFill>
                  </a:tcPr>
                </a:tc>
                <a:tc>
                  <a:txBody>
                    <a:bodyPr/>
                    <a:lstStyle/>
                    <a:p>
                      <a:r>
                        <a:rPr sz="1300" b="0">
                          <a:solidFill>
                            <a:srgbClr val="6B6963"/>
                          </a:solidFill>
                          <a:latin typeface="Calibri"/>
                        </a:rPr>
                        <a:t>LSTM contre modèle physique, à information égale, bootstrap apparié</a:t>
                      </a:r>
                    </a:p>
                  </a:txBody>
                  <a:tcPr>
                    <a:solidFill>
                      <a:srgbClr val="FCFCFB"/>
                    </a:solidFill>
                  </a:tcPr>
                </a:tc>
              </a:tr>
              <a:tr h="532800">
                <a:tc>
                  <a:txBody>
                    <a:bodyPr/>
                    <a:lstStyle/>
                    <a:p>
                      <a:r>
                        <a:rPr sz="1300" b="0">
                          <a:solidFill>
                            <a:srgbClr val="6B6963"/>
                          </a:solidFill>
                          <a:latin typeface="Calibri"/>
                        </a:rPr>
                        <a:t>H4</a:t>
                      </a:r>
                    </a:p>
                  </a:txBody>
                  <a:tcPr>
                    <a:solidFill>
                      <a:srgbClr val="FCFCFB"/>
                    </a:solidFill>
                  </a:tcPr>
                </a:tc>
                <a:tc>
                  <a:txBody>
                    <a:bodyPr/>
                    <a:lstStyle/>
                    <a:p>
                      <a:r>
                        <a:rPr sz="1300" b="0">
                          <a:solidFill>
                            <a:srgbClr val="6B6963"/>
                          </a:solidFill>
                          <a:latin typeface="Calibri"/>
                        </a:rPr>
                        <a:t>Le danger météo augmente de façon détectable sur 53 ans</a:t>
                      </a:r>
                    </a:p>
                  </a:txBody>
                  <a:tcPr>
                    <a:solidFill>
                      <a:srgbClr val="FCFCFB"/>
                    </a:solidFill>
                  </a:tcPr>
                </a:tc>
                <a:tc>
                  <a:txBody>
                    <a:bodyPr/>
                    <a:lstStyle/>
                    <a:p>
                      <a:r>
                        <a:rPr sz="1300" b="0">
                          <a:solidFill>
                            <a:srgbClr val="6B6963"/>
                          </a:solidFill>
                          <a:latin typeface="Calibri"/>
                        </a:rPr>
                        <a:t>régression de tendance sur quatre séries, avec test de significativité</a:t>
                      </a:r>
                    </a:p>
                  </a:txBody>
                  <a:tcPr>
                    <a:solidFill>
                      <a:srgbClr val="FCFCFB"/>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Ce qui rend la question difficile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Un départ de feu est un événement rare.</a:t>
            </a:r>
          </a:p>
        </p:txBody>
      </p:sp>
      <p:sp>
        <p:nvSpPr>
          <p:cNvPr id="5" name="TextBox 4"/>
          <p:cNvSpPr txBox="1"/>
          <p:nvPr/>
        </p:nvSpPr>
        <p:spPr>
          <a:xfrm>
            <a:off x="684000" y="2052000"/>
            <a:ext cx="5040000" cy="1224000"/>
          </a:xfrm>
          <a:prstGeom prst="rect">
            <a:avLst/>
          </a:prstGeom>
          <a:noFill/>
        </p:spPr>
        <p:txBody>
          <a:bodyPr wrap="square">
            <a:spAutoFit/>
          </a:bodyPr>
          <a:lstStyle/>
          <a:p>
            <a:pPr>
              <a:lnSpc>
                <a:spcPct val="100000"/>
              </a:lnSpc>
            </a:pPr>
            <a:r>
              <a:rPr sz="6600" b="1">
                <a:solidFill>
                  <a:srgbClr val="E34948"/>
                </a:solidFill>
                <a:latin typeface="Calibri"/>
              </a:rPr>
              <a:t>0,019 %</a:t>
            </a:r>
          </a:p>
        </p:txBody>
      </p:sp>
      <p:sp>
        <p:nvSpPr>
          <p:cNvPr id="6" name="TextBox 5"/>
          <p:cNvSpPr txBox="1"/>
          <p:nvPr/>
        </p:nvSpPr>
        <p:spPr>
          <a:xfrm>
            <a:off x="684000" y="3384000"/>
            <a:ext cx="5040000" cy="864000"/>
          </a:xfrm>
          <a:prstGeom prst="rect">
            <a:avLst/>
          </a:prstGeom>
          <a:noFill/>
        </p:spPr>
        <p:txBody>
          <a:bodyPr wrap="square">
            <a:spAutoFit/>
          </a:bodyPr>
          <a:lstStyle/>
          <a:p>
            <a:pPr>
              <a:lnSpc>
                <a:spcPct val="125000"/>
              </a:lnSpc>
            </a:pPr>
            <a:r>
              <a:rPr sz="1500" b="0">
                <a:solidFill>
                  <a:srgbClr val="6B6963"/>
                </a:solidFill>
                <a:latin typeface="Calibri"/>
              </a:rPr>
              <a:t>des couples commune × jour comptent</a:t>
            </a:r>
          </a:p>
          <a:p>
            <a:pPr>
              <a:lnSpc>
                <a:spcPct val="125000"/>
              </a:lnSpc>
            </a:pPr>
            <a:r>
              <a:rPr sz="1500" b="0">
                <a:solidFill>
                  <a:srgbClr val="6B6963"/>
                </a:solidFill>
                <a:latin typeface="Calibri"/>
              </a:rPr>
              <a:t>au moins un départ de feu</a:t>
            </a:r>
          </a:p>
        </p:txBody>
      </p:sp>
      <p:sp>
        <p:nvSpPr>
          <p:cNvPr id="7" name="TextBox 6"/>
          <p:cNvSpPr txBox="1"/>
          <p:nvPr/>
        </p:nvSpPr>
        <p:spPr>
          <a:xfrm>
            <a:off x="6300000" y="2088000"/>
            <a:ext cx="5220000" cy="486000"/>
          </a:xfrm>
          <a:prstGeom prst="rect">
            <a:avLst/>
          </a:prstGeom>
          <a:noFill/>
        </p:spPr>
        <p:txBody>
          <a:bodyPr wrap="square">
            <a:spAutoFit/>
          </a:bodyPr>
          <a:lstStyle/>
          <a:p>
            <a:pPr>
              <a:lnSpc>
                <a:spcPct val="125000"/>
              </a:lnSpc>
            </a:pPr>
            <a:r>
              <a:rPr sz="1500" b="1">
                <a:solidFill>
                  <a:srgbClr val="0B0B0B"/>
                </a:solidFill>
                <a:latin typeface="Calibri"/>
              </a:rPr>
              <a:t>Répondre toujours « non » donne 99,98 % de justesse</a:t>
            </a:r>
          </a:p>
        </p:txBody>
      </p:sp>
      <p:sp>
        <p:nvSpPr>
          <p:cNvPr id="8" name="TextBox 7"/>
          <p:cNvSpPr txBox="1"/>
          <p:nvPr/>
        </p:nvSpPr>
        <p:spPr>
          <a:xfrm>
            <a:off x="6300000" y="2574000"/>
            <a:ext cx="5220000" cy="571536"/>
          </a:xfrm>
          <a:prstGeom prst="rect">
            <a:avLst/>
          </a:prstGeom>
          <a:noFill/>
        </p:spPr>
        <p:txBody>
          <a:bodyPr wrap="square">
            <a:spAutoFit/>
          </a:bodyPr>
          <a:lstStyle/>
          <a:p>
            <a:pPr>
              <a:lnSpc>
                <a:spcPct val="125000"/>
              </a:lnSpc>
            </a:pPr>
            <a:r>
              <a:rPr sz="1500" b="0">
                <a:solidFill>
                  <a:srgbClr val="6B6963"/>
                </a:solidFill>
                <a:latin typeface="Calibri"/>
              </a:rPr>
              <a:t>· et ne sert à rien. L'exactitude est inutilisable ici.</a:t>
            </a:r>
          </a:p>
        </p:txBody>
      </p:sp>
      <p:sp>
        <p:nvSpPr>
          <p:cNvPr id="9" name="TextBox 8"/>
          <p:cNvSpPr txBox="1"/>
          <p:nvPr/>
        </p:nvSpPr>
        <p:spPr>
          <a:xfrm>
            <a:off x="6300000" y="3167136"/>
            <a:ext cx="5220000" cy="486000"/>
          </a:xfrm>
          <a:prstGeom prst="rect">
            <a:avLst/>
          </a:prstGeom>
          <a:noFill/>
        </p:spPr>
        <p:txBody>
          <a:bodyPr wrap="square">
            <a:spAutoFit/>
          </a:bodyPr>
          <a:lstStyle/>
          <a:p>
            <a:pPr>
              <a:lnSpc>
                <a:spcPct val="125000"/>
              </a:lnSpc>
            </a:pPr>
            <a:r>
              <a:rPr sz="1500" b="1">
                <a:solidFill>
                  <a:srgbClr val="0B0B0B"/>
                </a:solidFill>
                <a:latin typeface="Calibri"/>
              </a:rPr>
              <a:t>Une fuite de données ne provoque pas d'erreur</a:t>
            </a:r>
          </a:p>
        </p:txBody>
      </p:sp>
      <p:sp>
        <p:nvSpPr>
          <p:cNvPr id="10" name="TextBox 9"/>
          <p:cNvSpPr txBox="1"/>
          <p:nvPr/>
        </p:nvSpPr>
        <p:spPr>
          <a:xfrm>
            <a:off x="6300000" y="3653136"/>
            <a:ext cx="5220000" cy="571536"/>
          </a:xfrm>
          <a:prstGeom prst="rect">
            <a:avLst/>
          </a:prstGeom>
          <a:noFill/>
        </p:spPr>
        <p:txBody>
          <a:bodyPr wrap="square">
            <a:spAutoFit/>
          </a:bodyPr>
          <a:lstStyle/>
          <a:p>
            <a:pPr>
              <a:lnSpc>
                <a:spcPct val="125000"/>
              </a:lnSpc>
            </a:pPr>
            <a:r>
              <a:rPr sz="1500" b="0">
                <a:solidFill>
                  <a:srgbClr val="6B6963"/>
                </a:solidFill>
                <a:latin typeface="Calibri"/>
              </a:rPr>
              <a:t>· elle produit d'excellentes métriques et un modèle sans valeur. Rien dans les scores ne la signale.</a:t>
            </a:r>
          </a:p>
        </p:txBody>
      </p:sp>
      <p:sp>
        <p:nvSpPr>
          <p:cNvPr id="11" name="TextBox 10"/>
          <p:cNvSpPr txBox="1"/>
          <p:nvPr/>
        </p:nvSpPr>
        <p:spPr>
          <a:xfrm>
            <a:off x="6300000" y="4246272"/>
            <a:ext cx="5220000" cy="486000"/>
          </a:xfrm>
          <a:prstGeom prst="rect">
            <a:avLst/>
          </a:prstGeom>
          <a:noFill/>
        </p:spPr>
        <p:txBody>
          <a:bodyPr wrap="square">
            <a:spAutoFit/>
          </a:bodyPr>
          <a:lstStyle/>
          <a:p>
            <a:pPr>
              <a:lnSpc>
                <a:spcPct val="125000"/>
              </a:lnSpc>
            </a:pPr>
            <a:r>
              <a:rPr sz="1500" b="1">
                <a:solidFill>
                  <a:srgbClr val="0B0B0B"/>
                </a:solidFill>
                <a:latin typeface="Calibri"/>
              </a:rPr>
              <a:t>Le déséquilibre commande le reste du protocole</a:t>
            </a:r>
          </a:p>
        </p:txBody>
      </p:sp>
      <p:sp>
        <p:nvSpPr>
          <p:cNvPr id="12" name="TextBox 11"/>
          <p:cNvSpPr txBox="1"/>
          <p:nvPr/>
        </p:nvSpPr>
        <p:spPr>
          <a:xfrm>
            <a:off x="6300000" y="4732272"/>
            <a:ext cx="5220000" cy="571536"/>
          </a:xfrm>
          <a:prstGeom prst="rect">
            <a:avLst/>
          </a:prstGeom>
          <a:noFill/>
        </p:spPr>
        <p:txBody>
          <a:bodyPr wrap="square">
            <a:spAutoFit/>
          </a:bodyPr>
          <a:lstStyle/>
          <a:p>
            <a:pPr>
              <a:lnSpc>
                <a:spcPct val="125000"/>
              </a:lnSpc>
            </a:pPr>
            <a:r>
              <a:rPr sz="1500" b="0">
                <a:solidFill>
                  <a:srgbClr val="6B6963"/>
                </a:solidFill>
                <a:latin typeface="Calibri"/>
              </a:rPr>
              <a:t>· la métrique, l'échantillonnage, la calibration, et jusqu'à la façon de comparer deux modèles entre eux.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84000" y="2268000"/>
            <a:ext cx="2160000" cy="503999"/>
          </a:xfrm>
          <a:prstGeom prst="rect">
            <a:avLst/>
          </a:prstGeom>
          <a:noFill/>
        </p:spPr>
        <p:txBody>
          <a:bodyPr wrap="square">
            <a:spAutoFit/>
          </a:bodyPr>
          <a:lstStyle/>
          <a:p>
            <a:pPr>
              <a:lnSpc>
                <a:spcPct val="125000"/>
              </a:lnSpc>
            </a:pPr>
            <a:r>
              <a:rPr sz="1500" b="1">
                <a:solidFill>
                  <a:srgbClr val="E34948"/>
                </a:solidFill>
                <a:latin typeface="Calibri"/>
              </a:rPr>
              <a:t>03</a:t>
            </a:r>
          </a:p>
        </p:txBody>
      </p:sp>
      <p:sp>
        <p:nvSpPr>
          <p:cNvPr id="3" name="TextBox 2"/>
          <p:cNvSpPr txBox="1"/>
          <p:nvPr/>
        </p:nvSpPr>
        <p:spPr>
          <a:xfrm>
            <a:off x="684000" y="2628000"/>
            <a:ext cx="10080000" cy="1080000"/>
          </a:xfrm>
          <a:prstGeom prst="rect">
            <a:avLst/>
          </a:prstGeom>
          <a:noFill/>
        </p:spPr>
        <p:txBody>
          <a:bodyPr wrap="square">
            <a:spAutoFit/>
          </a:bodyPr>
          <a:lstStyle/>
          <a:p>
            <a:pPr>
              <a:lnSpc>
                <a:spcPct val="110000"/>
              </a:lnSpc>
            </a:pPr>
            <a:r>
              <a:rPr sz="3400" b="1">
                <a:solidFill>
                  <a:srgbClr val="FCFCFB"/>
                </a:solidFill>
                <a:latin typeface="Calibri"/>
              </a:rPr>
              <a:t>Méthodologie</a:t>
            </a:r>
          </a:p>
        </p:txBody>
      </p:sp>
      <p:sp>
        <p:nvSpPr>
          <p:cNvPr id="4" name="TextBox 3"/>
          <p:cNvSpPr txBox="1"/>
          <p:nvPr/>
        </p:nvSpPr>
        <p:spPr>
          <a:xfrm>
            <a:off x="684000" y="4104000"/>
            <a:ext cx="9360000" cy="900000"/>
          </a:xfrm>
          <a:prstGeom prst="rect">
            <a:avLst/>
          </a:prstGeom>
          <a:noFill/>
        </p:spPr>
        <p:txBody>
          <a:bodyPr wrap="square">
            <a:spAutoFit/>
          </a:bodyPr>
          <a:lstStyle/>
          <a:p>
            <a:pPr>
              <a:lnSpc>
                <a:spcPct val="135000"/>
              </a:lnSpc>
            </a:pPr>
            <a:r>
              <a:rPr sz="1600" b="0">
                <a:solidFill>
                  <a:srgbClr val="C3C2B7"/>
                </a:solidFill>
                <a:latin typeface="Calibri"/>
              </a:rPr>
              <a:t>Les données, le protocole, et ce qui protège le résultat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Quatre sources publiques, croisées</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Jointure sur le code INSEE et sur une grille météo de 0,25°.</a:t>
            </a:r>
          </a:p>
        </p:txBody>
      </p:sp>
      <p:graphicFrame>
        <p:nvGraphicFramePr>
          <p:cNvPr id="5" name="Table 4"/>
          <p:cNvGraphicFramePr>
            <a:graphicFrameLocks noGrp="1"/>
          </p:cNvGraphicFramePr>
          <p:nvPr/>
        </p:nvGraphicFramePr>
        <p:xfrm>
          <a:off x="684000" y="1944000"/>
          <a:ext cx="10800000" cy="2160000"/>
        </p:xfrm>
        <a:graphic>
          <a:graphicData uri="http://schemas.openxmlformats.org/drawingml/2006/table">
            <a:tbl>
              <a:tblPr firstRow="1" bandRow="1">
                <a:tableStyleId>{5C22544A-7EE6-4342-B048-85BDC9FD1C3A}</a:tableStyleId>
              </a:tblPr>
              <a:tblGrid>
                <a:gridCol w="2520000"/>
                <a:gridCol w="5040000"/>
                <a:gridCol w="3240000"/>
              </a:tblGrid>
              <a:tr h="432000">
                <a:tc>
                  <a:txBody>
                    <a:bodyPr/>
                    <a:lstStyle/>
                    <a:p>
                      <a:r>
                        <a:rPr sz="1300" b="1">
                          <a:solidFill>
                            <a:srgbClr val="FCFCFB"/>
                          </a:solidFill>
                          <a:latin typeface="Calibri"/>
                        </a:rPr>
                        <a:t>Source</a:t>
                      </a:r>
                    </a:p>
                  </a:txBody>
                  <a:tcPr>
                    <a:solidFill>
                      <a:srgbClr val="0B0B0B"/>
                    </a:solidFill>
                  </a:tcPr>
                </a:tc>
                <a:tc>
                  <a:txBody>
                    <a:bodyPr/>
                    <a:lstStyle/>
                    <a:p>
                      <a:r>
                        <a:rPr sz="1300" b="1">
                          <a:solidFill>
                            <a:srgbClr val="FCFCFB"/>
                          </a:solidFill>
                          <a:latin typeface="Calibri"/>
                        </a:rPr>
                        <a:t>Ce qu'elle apporte</a:t>
                      </a:r>
                    </a:p>
                  </a:txBody>
                  <a:tcPr>
                    <a:solidFill>
                      <a:srgbClr val="0B0B0B"/>
                    </a:solidFill>
                  </a:tcPr>
                </a:tc>
                <a:tc>
                  <a:txBody>
                    <a:bodyPr/>
                    <a:lstStyle/>
                    <a:p>
                      <a:r>
                        <a:rPr sz="1300" b="1">
                          <a:solidFill>
                            <a:srgbClr val="FCFCFB"/>
                          </a:solidFill>
                          <a:latin typeface="Calibri"/>
                        </a:rPr>
                        <a:t>Volume</a:t>
                      </a:r>
                    </a:p>
                  </a:txBody>
                  <a:tcPr>
                    <a:solidFill>
                      <a:srgbClr val="0B0B0B"/>
                    </a:solidFill>
                  </a:tcPr>
                </a:tc>
              </a:tr>
              <a:tr h="432000">
                <a:tc>
                  <a:txBody>
                    <a:bodyPr/>
                    <a:lstStyle/>
                    <a:p>
                      <a:r>
                        <a:rPr sz="1300" b="0">
                          <a:solidFill>
                            <a:srgbClr val="6B6963"/>
                          </a:solidFill>
                          <a:latin typeface="Calibri"/>
                        </a:rPr>
                        <a:t>CEMS · Copernicus</a:t>
                      </a:r>
                    </a:p>
                  </a:txBody>
                  <a:tcPr>
                    <a:solidFill>
                      <a:srgbClr val="FCFCFB"/>
                    </a:solidFill>
                  </a:tcPr>
                </a:tc>
                <a:tc>
                  <a:txBody>
                    <a:bodyPr/>
                    <a:lstStyle/>
                    <a:p>
                      <a:r>
                        <a:rPr sz="1300" b="0">
                          <a:solidFill>
                            <a:srgbClr val="6B6963"/>
                          </a:solidFill>
                          <a:latin typeface="Calibri"/>
                        </a:rPr>
                        <a:t>8 indices de danger, par jour et par maille</a:t>
                      </a:r>
                    </a:p>
                  </a:txBody>
                  <a:tcPr>
                    <a:solidFill>
                      <a:srgbClr val="FCFCFB"/>
                    </a:solidFill>
                  </a:tcPr>
                </a:tc>
                <a:tc>
                  <a:txBody>
                    <a:bodyPr/>
                    <a:lstStyle/>
                    <a:p>
                      <a:r>
                        <a:rPr sz="1300" b="0">
                          <a:solidFill>
                            <a:srgbClr val="6B6963"/>
                          </a:solidFill>
                          <a:latin typeface="Calibri"/>
                        </a:rPr>
                        <a:t>21,9 M lignes · 1973-2025</a:t>
                      </a:r>
                    </a:p>
                  </a:txBody>
                  <a:tcPr>
                    <a:solidFill>
                      <a:srgbClr val="FCFCFB"/>
                    </a:solidFill>
                  </a:tcPr>
                </a:tc>
              </a:tr>
              <a:tr h="432000">
                <a:tc>
                  <a:txBody>
                    <a:bodyPr/>
                    <a:lstStyle/>
                    <a:p>
                      <a:r>
                        <a:rPr sz="1300" b="0">
                          <a:solidFill>
                            <a:srgbClr val="6B6963"/>
                          </a:solidFill>
                          <a:latin typeface="Calibri"/>
                        </a:rPr>
                        <a:t>BDIFF · IGN</a:t>
                      </a:r>
                    </a:p>
                  </a:txBody>
                  <a:tcPr>
                    <a:solidFill>
                      <a:srgbClr val="FCFCFB"/>
                    </a:solidFill>
                  </a:tcPr>
                </a:tc>
                <a:tc>
                  <a:txBody>
                    <a:bodyPr/>
                    <a:lstStyle/>
                    <a:p>
                      <a:r>
                        <a:rPr sz="1300" b="0">
                          <a:solidFill>
                            <a:srgbClr val="6B6963"/>
                          </a:solidFill>
                          <a:latin typeface="Calibri"/>
                        </a:rPr>
                        <a:t>les feux déclarés, commune par commune</a:t>
                      </a:r>
                    </a:p>
                  </a:txBody>
                  <a:tcPr>
                    <a:solidFill>
                      <a:srgbClr val="FCFCFB"/>
                    </a:solidFill>
                  </a:tcPr>
                </a:tc>
                <a:tc>
                  <a:txBody>
                    <a:bodyPr/>
                    <a:lstStyle/>
                    <a:p>
                      <a:r>
                        <a:rPr sz="1300" b="0">
                          <a:solidFill>
                            <a:srgbClr val="6B6963"/>
                          </a:solidFill>
                          <a:latin typeface="Calibri"/>
                        </a:rPr>
                        <a:t>52 809 feux sur le périmètre</a:t>
                      </a:r>
                    </a:p>
                  </a:txBody>
                  <a:tcPr>
                    <a:solidFill>
                      <a:srgbClr val="FCFCFB"/>
                    </a:solidFill>
                  </a:tcPr>
                </a:tc>
              </a:tr>
              <a:tr h="432000">
                <a:tc>
                  <a:txBody>
                    <a:bodyPr/>
                    <a:lstStyle/>
                    <a:p>
                      <a:r>
                        <a:rPr sz="1300" b="0">
                          <a:solidFill>
                            <a:srgbClr val="6B6963"/>
                          </a:solidFill>
                          <a:latin typeface="Calibri"/>
                        </a:rPr>
                        <a:t>CORINE Land Cover</a:t>
                      </a:r>
                    </a:p>
                  </a:txBody>
                  <a:tcPr>
                    <a:solidFill>
                      <a:srgbClr val="FCFCFB"/>
                    </a:solidFill>
                  </a:tcPr>
                </a:tc>
                <a:tc>
                  <a:txBody>
                    <a:bodyPr/>
                    <a:lstStyle/>
                    <a:p>
                      <a:r>
                        <a:rPr sz="1300" b="0">
                          <a:solidFill>
                            <a:srgbClr val="6B6963"/>
                          </a:solidFill>
                          <a:latin typeface="Calibri"/>
                        </a:rPr>
                        <a:t>l'occupation du sol, 44 postes</a:t>
                      </a:r>
                    </a:p>
                  </a:txBody>
                  <a:tcPr>
                    <a:solidFill>
                      <a:srgbClr val="FCFCFB"/>
                    </a:solidFill>
                  </a:tcPr>
                </a:tc>
                <a:tc>
                  <a:txBody>
                    <a:bodyPr/>
                    <a:lstStyle/>
                    <a:p>
                      <a:r>
                        <a:rPr sz="1300" b="0">
                          <a:solidFill>
                            <a:srgbClr val="6B6963"/>
                          </a:solidFill>
                          <a:latin typeface="Calibri"/>
                        </a:rPr>
                        <a:t>1,08 M lignes</a:t>
                      </a:r>
                    </a:p>
                  </a:txBody>
                  <a:tcPr>
                    <a:solidFill>
                      <a:srgbClr val="FCFCFB"/>
                    </a:solidFill>
                  </a:tcPr>
                </a:tc>
              </a:tr>
              <a:tr h="432000">
                <a:tc>
                  <a:txBody>
                    <a:bodyPr/>
                    <a:lstStyle/>
                    <a:p>
                      <a:r>
                        <a:rPr sz="1300" b="0">
                          <a:solidFill>
                            <a:srgbClr val="6B6963"/>
                          </a:solidFill>
                          <a:latin typeface="Calibri"/>
                        </a:rPr>
                        <a:t>INSEE</a:t>
                      </a:r>
                    </a:p>
                  </a:txBody>
                  <a:tcPr>
                    <a:solidFill>
                      <a:srgbClr val="FCFCFB"/>
                    </a:solidFill>
                  </a:tcPr>
                </a:tc>
                <a:tc>
                  <a:txBody>
                    <a:bodyPr/>
                    <a:lstStyle/>
                    <a:p>
                      <a:r>
                        <a:rPr sz="1300" b="0">
                          <a:solidFill>
                            <a:srgbClr val="6B6963"/>
                          </a:solidFill>
                          <a:latin typeface="Calibri"/>
                        </a:rPr>
                        <a:t>référentiel des communes, et leurs fusions</a:t>
                      </a:r>
                    </a:p>
                  </a:txBody>
                  <a:tcPr>
                    <a:solidFill>
                      <a:srgbClr val="FCFCFB"/>
                    </a:solidFill>
                  </a:tcPr>
                </a:tc>
                <a:tc>
                  <a:txBody>
                    <a:bodyPr/>
                    <a:lstStyle/>
                    <a:p>
                      <a:r>
                        <a:rPr sz="1300" b="0">
                          <a:solidFill>
                            <a:srgbClr val="6B6963"/>
                          </a:solidFill>
                          <a:latin typeface="Calibri"/>
                        </a:rPr>
                        <a:t>34 734 communes</a:t>
                      </a:r>
                    </a:p>
                  </a:txBody>
                  <a:tcPr>
                    <a:solidFill>
                      <a:srgbClr val="FCFCFB"/>
                    </a:solidFill>
                  </a:tcPr>
                </a:tc>
              </a:tr>
            </a:tbl>
          </a:graphicData>
        </a:graphic>
      </p:graphicFrame>
      <p:sp>
        <p:nvSpPr>
          <p:cNvPr id="6" name="Rectangle 5"/>
          <p:cNvSpPr/>
          <p:nvPr/>
        </p:nvSpPr>
        <p:spPr>
          <a:xfrm>
            <a:off x="684000" y="4392000"/>
            <a:ext cx="39600" cy="15840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4428000"/>
            <a:ext cx="10548000" cy="1584000"/>
          </a:xfrm>
          <a:prstGeom prst="rect">
            <a:avLst/>
          </a:prstGeom>
          <a:noFill/>
        </p:spPr>
        <p:txBody>
          <a:bodyPr wrap="square">
            <a:spAutoFit/>
          </a:bodyPr>
          <a:lstStyle/>
          <a:p>
            <a:pPr>
              <a:lnSpc>
                <a:spcPct val="130000"/>
              </a:lnSpc>
            </a:pPr>
            <a:r>
              <a:rPr sz="1400" b="0">
                <a:solidFill>
                  <a:srgbClr val="0B0B0B"/>
                </a:solidFill>
                <a:latin typeface="Calibri"/>
              </a:rPr>
              <a:t>Le point délicat n'est pas le volume, ce sont les fusions de communes.</a:t>
            </a:r>
          </a:p>
          <a:p>
            <a:pPr>
              <a:lnSpc>
                <a:spcPct val="130000"/>
              </a:lnSpc>
            </a:pPr>
            <a:r>
              <a:rPr sz="1400" b="0">
                <a:solidFill>
                  <a:srgbClr val="0B0B0B"/>
                </a:solidFill>
                <a:latin typeface="Calibri"/>
              </a:rPr>
              <a:t>965 feux portent un code INSEE qui n'existe plus. Les rapprocher par le nom produisait de faux positifs : « Chirac » en Lozère renvoyait vers la Charente. On a donc utilisé le fichier officiel des mouvements de communes de l'INSEE, et les 30 cas restants sont écartés et comptés, jamais devinés.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 table centrale : commune × jour</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Une ligne par commune et par jour, qu'il y ait eu un feu ou non.</a:t>
            </a:r>
          </a:p>
        </p:txBody>
      </p:sp>
      <p:graphicFrame>
        <p:nvGraphicFramePr>
          <p:cNvPr id="5" name="Table 4"/>
          <p:cNvGraphicFramePr>
            <a:graphicFrameLocks noGrp="1"/>
          </p:cNvGraphicFramePr>
          <p:nvPr/>
        </p:nvGraphicFramePr>
        <p:xfrm>
          <a:off x="684000" y="1944000"/>
          <a:ext cx="8640000" cy="1944000"/>
        </p:xfrm>
        <a:graphic>
          <a:graphicData uri="http://schemas.openxmlformats.org/drawingml/2006/table">
            <a:tbl>
              <a:tblPr firstRow="1" bandRow="1">
                <a:tableStyleId>{5C22544A-7EE6-4342-B048-85BDC9FD1C3A}</a:tableStyleId>
              </a:tblPr>
              <a:tblGrid>
                <a:gridCol w="1728000"/>
                <a:gridCol w="1728000"/>
                <a:gridCol w="1728000"/>
                <a:gridCol w="1728000"/>
                <a:gridCol w="1728000"/>
              </a:tblGrid>
              <a:tr h="388800">
                <a:tc>
                  <a:txBody>
                    <a:bodyPr/>
                    <a:lstStyle/>
                    <a:p>
                      <a:r>
                        <a:rPr sz="1300" b="1">
                          <a:solidFill>
                            <a:srgbClr val="FCFCFB"/>
                          </a:solidFill>
                          <a:latin typeface="Calibri"/>
                        </a:rPr>
                        <a:t>Partition</a:t>
                      </a:r>
                    </a:p>
                  </a:txBody>
                  <a:tcPr>
                    <a:solidFill>
                      <a:srgbClr val="0B0B0B"/>
                    </a:solidFill>
                  </a:tcPr>
                </a:tc>
                <a:tc>
                  <a:txBody>
                    <a:bodyPr/>
                    <a:lstStyle/>
                    <a:p>
                      <a:r>
                        <a:rPr sz="1300" b="1">
                          <a:solidFill>
                            <a:srgbClr val="FCFCFB"/>
                          </a:solidFill>
                          <a:latin typeface="Calibri"/>
                        </a:rPr>
                        <a:t>Années</a:t>
                      </a:r>
                    </a:p>
                  </a:txBody>
                  <a:tcPr>
                    <a:solidFill>
                      <a:srgbClr val="0B0B0B"/>
                    </a:solidFill>
                  </a:tcPr>
                </a:tc>
                <a:tc>
                  <a:txBody>
                    <a:bodyPr/>
                    <a:lstStyle/>
                    <a:p>
                      <a:r>
                        <a:rPr sz="1300" b="1">
                          <a:solidFill>
                            <a:srgbClr val="FCFCFB"/>
                          </a:solidFill>
                          <a:latin typeface="Calibri"/>
                        </a:rPr>
                        <a:t>Lignes</a:t>
                      </a:r>
                    </a:p>
                  </a:txBody>
                  <a:tcPr>
                    <a:solidFill>
                      <a:srgbClr val="0B0B0B"/>
                    </a:solidFill>
                  </a:tcPr>
                </a:tc>
                <a:tc>
                  <a:txBody>
                    <a:bodyPr/>
                    <a:lstStyle/>
                    <a:p>
                      <a:r>
                        <a:rPr sz="1300" b="1">
                          <a:solidFill>
                            <a:srgbClr val="FCFCFB"/>
                          </a:solidFill>
                          <a:latin typeface="Calibri"/>
                        </a:rPr>
                        <a:t>Feux</a:t>
                      </a:r>
                    </a:p>
                  </a:txBody>
                  <a:tcPr>
                    <a:solidFill>
                      <a:srgbClr val="0B0B0B"/>
                    </a:solidFill>
                  </a:tcPr>
                </a:tc>
                <a:tc>
                  <a:txBody>
                    <a:bodyPr/>
                    <a:lstStyle/>
                    <a:p>
                      <a:r>
                        <a:rPr sz="1300" b="1">
                          <a:solidFill>
                            <a:srgbClr val="FCFCFB"/>
                          </a:solidFill>
                          <a:latin typeface="Calibri"/>
                        </a:rPr>
                        <a:t>Taux</a:t>
                      </a:r>
                    </a:p>
                  </a:txBody>
                  <a:tcPr>
                    <a:solidFill>
                      <a:srgbClr val="0B0B0B"/>
                    </a:solidFill>
                  </a:tcPr>
                </a:tc>
              </a:tr>
              <a:tr h="388800">
                <a:tc>
                  <a:txBody>
                    <a:bodyPr/>
                    <a:lstStyle/>
                    <a:p>
                      <a:r>
                        <a:rPr sz="1300" b="0">
                          <a:solidFill>
                            <a:srgbClr val="6B6963"/>
                          </a:solidFill>
                          <a:latin typeface="Calibri"/>
                        </a:rPr>
                        <a:t>train</a:t>
                      </a:r>
                    </a:p>
                  </a:txBody>
                  <a:tcPr>
                    <a:solidFill>
                      <a:srgbClr val="FCFCFB"/>
                    </a:solidFill>
                  </a:tcPr>
                </a:tc>
                <a:tc>
                  <a:txBody>
                    <a:bodyPr/>
                    <a:lstStyle/>
                    <a:p>
                      <a:r>
                        <a:rPr sz="1300" b="0">
                          <a:solidFill>
                            <a:srgbClr val="6B6963"/>
                          </a:solidFill>
                          <a:latin typeface="Calibri"/>
                        </a:rPr>
                        <a:t>2006-2019</a:t>
                      </a:r>
                    </a:p>
                  </a:txBody>
                  <a:tcPr>
                    <a:solidFill>
                      <a:srgbClr val="FCFCFB"/>
                    </a:solidFill>
                  </a:tcPr>
                </a:tc>
                <a:tc>
                  <a:txBody>
                    <a:bodyPr/>
                    <a:lstStyle/>
                    <a:p>
                      <a:r>
                        <a:rPr sz="1300" b="0">
                          <a:solidFill>
                            <a:srgbClr val="6B6963"/>
                          </a:solidFill>
                          <a:latin typeface="Calibri"/>
                        </a:rPr>
                        <a:t>177 594 942</a:t>
                      </a:r>
                    </a:p>
                  </a:txBody>
                  <a:tcPr>
                    <a:solidFill>
                      <a:srgbClr val="FCFCFB"/>
                    </a:solidFill>
                  </a:tcPr>
                </a:tc>
                <a:tc>
                  <a:txBody>
                    <a:bodyPr/>
                    <a:lstStyle/>
                    <a:p>
                      <a:r>
                        <a:rPr sz="1300" b="0">
                          <a:solidFill>
                            <a:srgbClr val="6B6963"/>
                          </a:solidFill>
                          <a:latin typeface="Calibri"/>
                        </a:rPr>
                        <a:t>33 632</a:t>
                      </a:r>
                    </a:p>
                  </a:txBody>
                  <a:tcPr>
                    <a:solidFill>
                      <a:srgbClr val="FCFCFB"/>
                    </a:solidFill>
                  </a:tcPr>
                </a:tc>
                <a:tc>
                  <a:txBody>
                    <a:bodyPr/>
                    <a:lstStyle/>
                    <a:p>
                      <a:r>
                        <a:rPr sz="1300" b="0">
                          <a:solidFill>
                            <a:srgbClr val="6B6963"/>
                          </a:solidFill>
                          <a:latin typeface="Calibri"/>
                        </a:rPr>
                        <a:t>0,0189 %</a:t>
                      </a:r>
                    </a:p>
                  </a:txBody>
                  <a:tcPr>
                    <a:solidFill>
                      <a:srgbClr val="FCFCFB"/>
                    </a:solidFill>
                  </a:tcPr>
                </a:tc>
              </a:tr>
              <a:tr h="388800">
                <a:tc>
                  <a:txBody>
                    <a:bodyPr/>
                    <a:lstStyle/>
                    <a:p>
                      <a:r>
                        <a:rPr sz="1300" b="0">
                          <a:solidFill>
                            <a:srgbClr val="6B6963"/>
                          </a:solidFill>
                          <a:latin typeface="Calibri"/>
                        </a:rPr>
                        <a:t>validation</a:t>
                      </a:r>
                    </a:p>
                  </a:txBody>
                  <a:tcPr>
                    <a:solidFill>
                      <a:srgbClr val="FCFCFB"/>
                    </a:solidFill>
                  </a:tcPr>
                </a:tc>
                <a:tc>
                  <a:txBody>
                    <a:bodyPr/>
                    <a:lstStyle/>
                    <a:p>
                      <a:r>
                        <a:rPr sz="1300" b="0">
                          <a:solidFill>
                            <a:srgbClr val="6B6963"/>
                          </a:solidFill>
                          <a:latin typeface="Calibri"/>
                        </a:rPr>
                        <a:t>2020-2022</a:t>
                      </a:r>
                    </a:p>
                  </a:txBody>
                  <a:tcPr>
                    <a:solidFill>
                      <a:srgbClr val="FCFCFB"/>
                    </a:solidFill>
                  </a:tcPr>
                </a:tc>
                <a:tc>
                  <a:txBody>
                    <a:bodyPr/>
                    <a:lstStyle/>
                    <a:p>
                      <a:r>
                        <a:rPr sz="1300" b="0">
                          <a:solidFill>
                            <a:srgbClr val="6B6963"/>
                          </a:solidFill>
                          <a:latin typeface="Calibri"/>
                        </a:rPr>
                        <a:t>38 068 464</a:t>
                      </a:r>
                    </a:p>
                  </a:txBody>
                  <a:tcPr>
                    <a:solidFill>
                      <a:srgbClr val="FCFCFB"/>
                    </a:solidFill>
                  </a:tcPr>
                </a:tc>
                <a:tc>
                  <a:txBody>
                    <a:bodyPr/>
                    <a:lstStyle/>
                    <a:p>
                      <a:r>
                        <a:rPr sz="1300" b="0">
                          <a:solidFill>
                            <a:srgbClr val="6B6963"/>
                          </a:solidFill>
                          <a:latin typeface="Calibri"/>
                        </a:rPr>
                        <a:t>9 176</a:t>
                      </a:r>
                    </a:p>
                  </a:txBody>
                  <a:tcPr>
                    <a:solidFill>
                      <a:srgbClr val="FCFCFB"/>
                    </a:solidFill>
                  </a:tcPr>
                </a:tc>
                <a:tc>
                  <a:txBody>
                    <a:bodyPr/>
                    <a:lstStyle/>
                    <a:p>
                      <a:r>
                        <a:rPr sz="1300" b="0">
                          <a:solidFill>
                            <a:srgbClr val="6B6963"/>
                          </a:solidFill>
                          <a:latin typeface="Calibri"/>
                        </a:rPr>
                        <a:t>0,0241 %</a:t>
                      </a:r>
                    </a:p>
                  </a:txBody>
                  <a:tcPr>
                    <a:solidFill>
                      <a:srgbClr val="FCFCFB"/>
                    </a:solidFill>
                  </a:tcPr>
                </a:tc>
              </a:tr>
              <a:tr h="388800">
                <a:tc>
                  <a:txBody>
                    <a:bodyPr/>
                    <a:lstStyle/>
                    <a:p>
                      <a:r>
                        <a:rPr sz="1300" b="0">
                          <a:solidFill>
                            <a:srgbClr val="6B6963"/>
                          </a:solidFill>
                          <a:latin typeface="Calibri"/>
                        </a:rPr>
                        <a:t>test</a:t>
                      </a:r>
                    </a:p>
                  </a:txBody>
                  <a:tcPr>
                    <a:solidFill>
                      <a:srgbClr val="FCFCFB"/>
                    </a:solidFill>
                  </a:tcPr>
                </a:tc>
                <a:tc>
                  <a:txBody>
                    <a:bodyPr/>
                    <a:lstStyle/>
                    <a:p>
                      <a:r>
                        <a:rPr sz="1300" b="0">
                          <a:solidFill>
                            <a:srgbClr val="6B6963"/>
                          </a:solidFill>
                          <a:latin typeface="Calibri"/>
                        </a:rPr>
                        <a:t>2023-2025</a:t>
                      </a:r>
                    </a:p>
                  </a:txBody>
                  <a:tcPr>
                    <a:solidFill>
                      <a:srgbClr val="FCFCFB"/>
                    </a:solidFill>
                  </a:tcPr>
                </a:tc>
                <a:tc>
                  <a:txBody>
                    <a:bodyPr/>
                    <a:lstStyle/>
                    <a:p>
                      <a:r>
                        <a:rPr sz="1300" b="0">
                          <a:solidFill>
                            <a:srgbClr val="6B6963"/>
                          </a:solidFill>
                          <a:latin typeface="Calibri"/>
                        </a:rPr>
                        <a:t>38 068 464</a:t>
                      </a:r>
                    </a:p>
                  </a:txBody>
                  <a:tcPr>
                    <a:solidFill>
                      <a:srgbClr val="FCFCFB"/>
                    </a:solidFill>
                  </a:tcPr>
                </a:tc>
                <a:tc>
                  <a:txBody>
                    <a:bodyPr/>
                    <a:lstStyle/>
                    <a:p>
                      <a:r>
                        <a:rPr sz="1300" b="0">
                          <a:solidFill>
                            <a:srgbClr val="6B6963"/>
                          </a:solidFill>
                          <a:latin typeface="Calibri"/>
                        </a:rPr>
                        <a:t>6 322</a:t>
                      </a:r>
                    </a:p>
                  </a:txBody>
                  <a:tcPr>
                    <a:solidFill>
                      <a:srgbClr val="FCFCFB"/>
                    </a:solidFill>
                  </a:tcPr>
                </a:tc>
                <a:tc>
                  <a:txBody>
                    <a:bodyPr/>
                    <a:lstStyle/>
                    <a:p>
                      <a:r>
                        <a:rPr sz="1300" b="0">
                          <a:solidFill>
                            <a:srgbClr val="6B6963"/>
                          </a:solidFill>
                          <a:latin typeface="Calibri"/>
                        </a:rPr>
                        <a:t>0,0166 %</a:t>
                      </a:r>
                    </a:p>
                  </a:txBody>
                  <a:tcPr>
                    <a:solidFill>
                      <a:srgbClr val="FCFCFB"/>
                    </a:solidFill>
                  </a:tcPr>
                </a:tc>
              </a:tr>
              <a:tr h="388800">
                <a:tc>
                  <a:txBody>
                    <a:bodyPr/>
                    <a:lstStyle/>
                    <a:p>
                      <a:r>
                        <a:rPr sz="1300" b="1">
                          <a:solidFill>
                            <a:srgbClr val="0B0B0B"/>
                          </a:solidFill>
                          <a:latin typeface="Calibri"/>
                        </a:rPr>
                        <a:t>total</a:t>
                      </a:r>
                    </a:p>
                  </a:txBody>
                  <a:tcPr>
                    <a:solidFill>
                      <a:srgbClr val="F2F1EC"/>
                    </a:solidFill>
                  </a:tcPr>
                </a:tc>
                <a:tc>
                  <a:txBody>
                    <a:bodyPr/>
                    <a:lstStyle/>
                    <a:p>
                      <a:r>
                        <a:rPr sz="1300" b="1">
                          <a:solidFill>
                            <a:srgbClr val="0B0B0B"/>
                          </a:solidFill>
                          <a:latin typeface="Calibri"/>
                        </a:rPr>
                        <a:t>2006-2025</a:t>
                      </a:r>
                    </a:p>
                  </a:txBody>
                  <a:tcPr>
                    <a:solidFill>
                      <a:srgbClr val="F2F1EC"/>
                    </a:solidFill>
                  </a:tcPr>
                </a:tc>
                <a:tc>
                  <a:txBody>
                    <a:bodyPr/>
                    <a:lstStyle/>
                    <a:p>
                      <a:r>
                        <a:rPr sz="1300" b="1">
                          <a:solidFill>
                            <a:srgbClr val="0B0B0B"/>
                          </a:solidFill>
                          <a:latin typeface="Calibri"/>
                        </a:rPr>
                        <a:t>253 731 870</a:t>
                      </a:r>
                    </a:p>
                  </a:txBody>
                  <a:tcPr>
                    <a:solidFill>
                      <a:srgbClr val="F2F1EC"/>
                    </a:solidFill>
                  </a:tcPr>
                </a:tc>
                <a:tc>
                  <a:txBody>
                    <a:bodyPr/>
                    <a:lstStyle/>
                    <a:p>
                      <a:r>
                        <a:rPr sz="1300" b="1">
                          <a:solidFill>
                            <a:srgbClr val="0B0B0B"/>
                          </a:solidFill>
                          <a:latin typeface="Calibri"/>
                        </a:rPr>
                        <a:t>49 130</a:t>
                      </a:r>
                    </a:p>
                  </a:txBody>
                  <a:tcPr>
                    <a:solidFill>
                      <a:srgbClr val="F2F1EC"/>
                    </a:solidFill>
                  </a:tcPr>
                </a:tc>
                <a:tc>
                  <a:txBody>
                    <a:bodyPr/>
                    <a:lstStyle/>
                    <a:p>
                      <a:r>
                        <a:rPr sz="1300" b="1">
                          <a:solidFill>
                            <a:srgbClr val="0B0B0B"/>
                          </a:solidFill>
                          <a:latin typeface="Calibri"/>
                        </a:rPr>
                        <a:t>0,0194 %</a:t>
                      </a:r>
                    </a:p>
                  </a:txBody>
                  <a:tcPr>
                    <a:solidFill>
                      <a:srgbClr val="F2F1EC"/>
                    </a:solidFill>
                  </a:tcPr>
                </a:tc>
              </a:tr>
            </a:tbl>
          </a:graphicData>
        </a:graphic>
      </p:graphicFrame>
      <p:sp>
        <p:nvSpPr>
          <p:cNvPr id="6" name="Rectangle 5"/>
          <p:cNvSpPr/>
          <p:nvPr/>
        </p:nvSpPr>
        <p:spPr>
          <a:xfrm>
            <a:off x="684000" y="4176000"/>
            <a:ext cx="39600" cy="136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4212000"/>
            <a:ext cx="10548000" cy="1368000"/>
          </a:xfrm>
          <a:prstGeom prst="rect">
            <a:avLst/>
          </a:prstGeom>
          <a:noFill/>
        </p:spPr>
        <p:txBody>
          <a:bodyPr wrap="square">
            <a:spAutoFit/>
          </a:bodyPr>
          <a:lstStyle/>
          <a:p>
            <a:pPr>
              <a:lnSpc>
                <a:spcPct val="130000"/>
              </a:lnSpc>
            </a:pPr>
            <a:r>
              <a:rPr sz="1400" b="0">
                <a:solidFill>
                  <a:srgbClr val="0B0B0B"/>
                </a:solidFill>
                <a:latin typeface="Calibri"/>
              </a:rPr>
              <a:t>Pourquoi une grille dense plutôt que la seule liste des feux</a:t>
            </a:r>
          </a:p>
          <a:p>
            <a:pPr>
              <a:lnSpc>
                <a:spcPct val="130000"/>
              </a:lnSpc>
            </a:pPr>
            <a:r>
              <a:rPr sz="1400" b="0">
                <a:solidFill>
                  <a:srgbClr val="0B0B0B"/>
                </a:solidFill>
                <a:latin typeface="Calibri"/>
              </a:rPr>
              <a:t>Parce qu'une série creuse rendrait les fenêtres glissantes silencieusement fausses. « Feux des 30 jours précédents » se calcule en remontant 30 lignes : si les jours sans feu sont absents, on remonte en réalité plusieurs années.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 barrière du split</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Découpage temporel, jamais aléatoire.</a:t>
            </a:r>
          </a:p>
        </p:txBody>
      </p:sp>
      <p:sp>
        <p:nvSpPr>
          <p:cNvPr id="5" name="TextBox 4"/>
          <p:cNvSpPr txBox="1"/>
          <p:nvPr/>
        </p:nvSpPr>
        <p:spPr>
          <a:xfrm>
            <a:off x="684000" y="1944000"/>
            <a:ext cx="6120000" cy="503999"/>
          </a:xfrm>
          <a:prstGeom prst="rect">
            <a:avLst/>
          </a:prstGeom>
          <a:noFill/>
        </p:spPr>
        <p:txBody>
          <a:bodyPr wrap="square">
            <a:spAutoFit/>
          </a:bodyPr>
          <a:lstStyle/>
          <a:p>
            <a:pPr>
              <a:lnSpc>
                <a:spcPct val="125000"/>
              </a:lnSpc>
            </a:pPr>
            <a:r>
              <a:rPr sz="1500" b="1">
                <a:solidFill>
                  <a:srgbClr val="0B0B0B"/>
                </a:solidFill>
                <a:latin typeface="Calibri"/>
              </a:rPr>
              <a:t>train · 2006-2019 · apprendre</a:t>
            </a:r>
          </a:p>
        </p:txBody>
      </p:sp>
      <p:sp>
        <p:nvSpPr>
          <p:cNvPr id="6" name="TextBox 5"/>
          <p:cNvSpPr txBox="1"/>
          <p:nvPr/>
        </p:nvSpPr>
        <p:spPr>
          <a:xfrm>
            <a:off x="684000" y="2448000"/>
            <a:ext cx="6120000" cy="571536"/>
          </a:xfrm>
          <a:prstGeom prst="rect">
            <a:avLst/>
          </a:prstGeom>
          <a:noFill/>
        </p:spPr>
        <p:txBody>
          <a:bodyPr wrap="square">
            <a:spAutoFit/>
          </a:bodyPr>
          <a:lstStyle/>
          <a:p>
            <a:pPr>
              <a:lnSpc>
                <a:spcPct val="125000"/>
              </a:lnSpc>
            </a:pPr>
            <a:r>
              <a:rPr sz="1500" b="0">
                <a:solidFill>
                  <a:srgbClr val="6B6963"/>
                </a:solidFill>
                <a:latin typeface="Calibri"/>
              </a:rPr>
              <a:t>· 177,6 M lignes. Tout ce qui possède un .fit() s'ajuste ici, et nulle part ailleurs.</a:t>
            </a:r>
          </a:p>
        </p:txBody>
      </p:sp>
      <p:sp>
        <p:nvSpPr>
          <p:cNvPr id="7" name="TextBox 6"/>
          <p:cNvSpPr txBox="1"/>
          <p:nvPr/>
        </p:nvSpPr>
        <p:spPr>
          <a:xfrm>
            <a:off x="684000" y="3041136"/>
            <a:ext cx="6120000" cy="503999"/>
          </a:xfrm>
          <a:prstGeom prst="rect">
            <a:avLst/>
          </a:prstGeom>
          <a:noFill/>
        </p:spPr>
        <p:txBody>
          <a:bodyPr wrap="square">
            <a:spAutoFit/>
          </a:bodyPr>
          <a:lstStyle/>
          <a:p>
            <a:pPr>
              <a:lnSpc>
                <a:spcPct val="125000"/>
              </a:lnSpc>
            </a:pPr>
            <a:r>
              <a:rPr sz="1500" b="1">
                <a:solidFill>
                  <a:srgbClr val="0B0B0B"/>
                </a:solidFill>
                <a:latin typeface="Calibri"/>
              </a:rPr>
              <a:t>validation · 2020-2022 · choisir</a:t>
            </a:r>
          </a:p>
        </p:txBody>
      </p:sp>
      <p:sp>
        <p:nvSpPr>
          <p:cNvPr id="8" name="TextBox 7"/>
          <p:cNvSpPr txBox="1"/>
          <p:nvPr/>
        </p:nvSpPr>
        <p:spPr>
          <a:xfrm>
            <a:off x="684000" y="3545136"/>
            <a:ext cx="6120000" cy="571536"/>
          </a:xfrm>
          <a:prstGeom prst="rect">
            <a:avLst/>
          </a:prstGeom>
          <a:noFill/>
        </p:spPr>
        <p:txBody>
          <a:bodyPr wrap="square">
            <a:spAutoFit/>
          </a:bodyPr>
          <a:lstStyle/>
          <a:p>
            <a:pPr>
              <a:lnSpc>
                <a:spcPct val="125000"/>
              </a:lnSpc>
            </a:pPr>
            <a:r>
              <a:rPr sz="1500" b="0">
                <a:solidFill>
                  <a:srgbClr val="6B6963"/>
                </a:solidFill>
                <a:latin typeface="Calibri"/>
              </a:rPr>
              <a:t>· Hyperparamètres, sélection du modèle, calibration, comparaisons.</a:t>
            </a:r>
          </a:p>
        </p:txBody>
      </p:sp>
      <p:sp>
        <p:nvSpPr>
          <p:cNvPr id="9" name="TextBox 8"/>
          <p:cNvSpPr txBox="1"/>
          <p:nvPr/>
        </p:nvSpPr>
        <p:spPr>
          <a:xfrm>
            <a:off x="684000" y="4138272"/>
            <a:ext cx="6120000" cy="503999"/>
          </a:xfrm>
          <a:prstGeom prst="rect">
            <a:avLst/>
          </a:prstGeom>
          <a:noFill/>
        </p:spPr>
        <p:txBody>
          <a:bodyPr wrap="square">
            <a:spAutoFit/>
          </a:bodyPr>
          <a:lstStyle/>
          <a:p>
            <a:pPr>
              <a:lnSpc>
                <a:spcPct val="125000"/>
              </a:lnSpc>
            </a:pPr>
            <a:r>
              <a:rPr sz="1500" b="1">
                <a:solidFill>
                  <a:srgbClr val="0B0B0B"/>
                </a:solidFill>
                <a:latin typeface="Calibri"/>
              </a:rPr>
              <a:t>test · 2023-2025 · juger, une seule fois</a:t>
            </a:r>
          </a:p>
        </p:txBody>
      </p:sp>
      <p:sp>
        <p:nvSpPr>
          <p:cNvPr id="10" name="TextBox 9"/>
          <p:cNvSpPr txBox="1"/>
          <p:nvPr/>
        </p:nvSpPr>
        <p:spPr>
          <a:xfrm>
            <a:off x="684000" y="4642272"/>
            <a:ext cx="6120000" cy="503999"/>
          </a:xfrm>
          <a:prstGeom prst="rect">
            <a:avLst/>
          </a:prstGeom>
          <a:noFill/>
        </p:spPr>
        <p:txBody>
          <a:bodyPr wrap="square">
            <a:spAutoFit/>
          </a:bodyPr>
          <a:lstStyle/>
          <a:p>
            <a:pPr>
              <a:lnSpc>
                <a:spcPct val="125000"/>
              </a:lnSpc>
            </a:pPr>
            <a:r>
              <a:rPr sz="1500" b="0">
                <a:solidFill>
                  <a:srgbClr val="6B6963"/>
                </a:solidFill>
                <a:latin typeface="Calibri"/>
              </a:rPr>
              <a:t>· Ouvert après gel complet. Aucune décision n'en découle.</a:t>
            </a:r>
          </a:p>
        </p:txBody>
      </p:sp>
      <p:sp>
        <p:nvSpPr>
          <p:cNvPr id="11" name="Rectangle 10"/>
          <p:cNvSpPr/>
          <p:nvPr/>
        </p:nvSpPr>
        <p:spPr>
          <a:xfrm>
            <a:off x="7020000" y="2016000"/>
            <a:ext cx="39600" cy="1296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18000" y="2052000"/>
            <a:ext cx="4284000" cy="1296000"/>
          </a:xfrm>
          <a:prstGeom prst="rect">
            <a:avLst/>
          </a:prstGeom>
          <a:noFill/>
        </p:spPr>
        <p:txBody>
          <a:bodyPr wrap="square">
            <a:spAutoFit/>
          </a:bodyPr>
          <a:lstStyle/>
          <a:p>
            <a:pPr>
              <a:lnSpc>
                <a:spcPct val="130000"/>
              </a:lnSpc>
            </a:pPr>
            <a:r>
              <a:rPr sz="1400" b="0">
                <a:solidFill>
                  <a:srgbClr val="0B0B0B"/>
                </a:solidFill>
                <a:latin typeface="Calibri"/>
              </a:rPr>
              <a:t>Un découpage aléatoire mettrait le 14 juillet 2019 dans le train et le 15 dans le test. Le modèle « prédirait » un feu qu'il a déjà vu, à 20 km et un jour d'écart.</a:t>
            </a:r>
          </a:p>
        </p:txBody>
      </p:sp>
      <p:sp>
        <p:nvSpPr>
          <p:cNvPr id="13" name="Rectangle 12"/>
          <p:cNvSpPr/>
          <p:nvPr/>
        </p:nvSpPr>
        <p:spPr>
          <a:xfrm>
            <a:off x="7020000" y="3600000"/>
            <a:ext cx="39600" cy="1584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18000" y="3636000"/>
            <a:ext cx="4284000" cy="1584000"/>
          </a:xfrm>
          <a:prstGeom prst="rect">
            <a:avLst/>
          </a:prstGeom>
          <a:noFill/>
        </p:spPr>
        <p:txBody>
          <a:bodyPr wrap="square">
            <a:spAutoFit/>
          </a:bodyPr>
          <a:lstStyle/>
          <a:p>
            <a:pPr>
              <a:lnSpc>
                <a:spcPct val="130000"/>
              </a:lnSpc>
            </a:pPr>
            <a:r>
              <a:rPr sz="1400" b="0">
                <a:solidFill>
                  <a:srgbClr val="0B0B0B"/>
                </a:solidFill>
                <a:latin typeface="Calibri"/>
              </a:rPr>
              <a:t>La règle qui tranche les cas douteux</a:t>
            </a:r>
          </a:p>
          <a:p>
            <a:pPr>
              <a:lnSpc>
                <a:spcPct val="130000"/>
              </a:lnSpc>
            </a:pPr>
            <a:r>
              <a:rPr sz="1400" b="0">
                <a:solidFill>
                  <a:srgbClr val="0B0B0B"/>
                </a:solidFill>
                <a:latin typeface="Calibri"/>
              </a:rPr>
              <a:t>Une feature datée peut regarder tout le passé, y compris celui de sa propre période d'évaluation.</a:t>
            </a:r>
          </a:p>
          <a:p>
            <a:pPr>
              <a:lnSpc>
                <a:spcPct val="130000"/>
              </a:lnSpc>
            </a:pPr>
            <a:r>
              <a:rPr sz="1400" b="0">
                <a:solidFill>
                  <a:srgbClr val="0B0B0B"/>
                </a:solidFill>
                <a:latin typeface="Calibri"/>
              </a:rPr>
              <a:t>Une statistique non datée ne peut regarder que le train.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Pourquoi PR-AUC, et pas ROC-AUC</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À 0,019 % de positifs, le choix de la métrique décide de ce qu'on croit avoir réussi.</a:t>
            </a:r>
          </a:p>
        </p:txBody>
      </p:sp>
      <p:graphicFrame>
        <p:nvGraphicFramePr>
          <p:cNvPr id="5" name="Table 4"/>
          <p:cNvGraphicFramePr>
            <a:graphicFrameLocks noGrp="1"/>
          </p:cNvGraphicFramePr>
          <p:nvPr/>
        </p:nvGraphicFramePr>
        <p:xfrm>
          <a:off x="684000" y="1944000"/>
          <a:ext cx="10800000" cy="1872000"/>
        </p:xfrm>
        <a:graphic>
          <a:graphicData uri="http://schemas.openxmlformats.org/drawingml/2006/table">
            <a:tbl>
              <a:tblPr firstRow="1" bandRow="1">
                <a:tableStyleId>{5C22544A-7EE6-4342-B048-85BDC9FD1C3A}</a:tableStyleId>
              </a:tblPr>
              <a:tblGrid>
                <a:gridCol w="2520000"/>
                <a:gridCol w="4140000"/>
                <a:gridCol w="4140000"/>
              </a:tblGrid>
              <a:tr h="468000">
                <a:tc>
                  <a:txBody>
                    <a:bodyPr/>
                    <a:lstStyle/>
                    <a:p>
                      <a:r>
                        <a:rPr sz="1300" b="1">
                          <a:solidFill>
                            <a:srgbClr val="FCFCFB"/>
                          </a:solidFill>
                          <a:latin typeface="Calibri"/>
                        </a:rPr>
                        <a:t> </a:t>
                      </a:r>
                    </a:p>
                  </a:txBody>
                  <a:tcPr>
                    <a:solidFill>
                      <a:srgbClr val="0B0B0B"/>
                    </a:solidFill>
                  </a:tcPr>
                </a:tc>
                <a:tc>
                  <a:txBody>
                    <a:bodyPr/>
                    <a:lstStyle/>
                    <a:p>
                      <a:r>
                        <a:rPr sz="1300" b="1">
                          <a:solidFill>
                            <a:srgbClr val="FCFCFB"/>
                          </a:solidFill>
                          <a:latin typeface="Calibri"/>
                        </a:rPr>
                        <a:t>ROC-AUC</a:t>
                      </a:r>
                    </a:p>
                  </a:txBody>
                  <a:tcPr>
                    <a:solidFill>
                      <a:srgbClr val="0B0B0B"/>
                    </a:solidFill>
                  </a:tcPr>
                </a:tc>
                <a:tc>
                  <a:txBody>
                    <a:bodyPr/>
                    <a:lstStyle/>
                    <a:p>
                      <a:r>
                        <a:rPr sz="1300" b="1">
                          <a:solidFill>
                            <a:srgbClr val="FCFCFB"/>
                          </a:solidFill>
                          <a:latin typeface="Calibri"/>
                        </a:rPr>
                        <a:t>PR-AUC</a:t>
                      </a:r>
                    </a:p>
                  </a:txBody>
                  <a:tcPr>
                    <a:solidFill>
                      <a:srgbClr val="0B0B0B"/>
                    </a:solidFill>
                  </a:tcPr>
                </a:tc>
              </a:tr>
              <a:tr h="468000">
                <a:tc>
                  <a:txBody>
                    <a:bodyPr/>
                    <a:lstStyle/>
                    <a:p>
                      <a:r>
                        <a:rPr sz="1300" b="0">
                          <a:solidFill>
                            <a:srgbClr val="6B6963"/>
                          </a:solidFill>
                          <a:latin typeface="Calibri"/>
                        </a:rPr>
                        <a:t>Ce qu'elle mesure</a:t>
                      </a:r>
                    </a:p>
                  </a:txBody>
                  <a:tcPr>
                    <a:solidFill>
                      <a:srgbClr val="FCFCFB"/>
                    </a:solidFill>
                  </a:tcPr>
                </a:tc>
                <a:tc>
                  <a:txBody>
                    <a:bodyPr/>
                    <a:lstStyle/>
                    <a:p>
                      <a:r>
                        <a:rPr sz="1300" b="0">
                          <a:solidFill>
                            <a:srgbClr val="6B6963"/>
                          </a:solidFill>
                          <a:latin typeface="Calibri"/>
                        </a:rPr>
                        <a:t>vrais positifs contre faux positifs</a:t>
                      </a:r>
                    </a:p>
                  </a:txBody>
                  <a:tcPr>
                    <a:solidFill>
                      <a:srgbClr val="FCFCFB"/>
                    </a:solidFill>
                  </a:tcPr>
                </a:tc>
                <a:tc>
                  <a:txBody>
                    <a:bodyPr/>
                    <a:lstStyle/>
                    <a:p>
                      <a:r>
                        <a:rPr sz="1300" b="0">
                          <a:solidFill>
                            <a:srgbClr val="6B6963"/>
                          </a:solidFill>
                          <a:latin typeface="Calibri"/>
                        </a:rPr>
                        <a:t>précision contre rappel</a:t>
                      </a:r>
                    </a:p>
                  </a:txBody>
                  <a:tcPr>
                    <a:solidFill>
                      <a:srgbClr val="FCFCFB"/>
                    </a:solidFill>
                  </a:tcPr>
                </a:tc>
              </a:tr>
              <a:tr h="468000">
                <a:tc>
                  <a:txBody>
                    <a:bodyPr/>
                    <a:lstStyle/>
                    <a:p>
                      <a:r>
                        <a:rPr sz="1300" b="0">
                          <a:solidFill>
                            <a:srgbClr val="6B6963"/>
                          </a:solidFill>
                          <a:latin typeface="Calibri"/>
                        </a:rPr>
                        <a:t>Valeur au hasard</a:t>
                      </a:r>
                    </a:p>
                  </a:txBody>
                  <a:tcPr>
                    <a:solidFill>
                      <a:srgbClr val="FCFCFB"/>
                    </a:solidFill>
                  </a:tcPr>
                </a:tc>
                <a:tc>
                  <a:txBody>
                    <a:bodyPr/>
                    <a:lstStyle/>
                    <a:p>
                      <a:r>
                        <a:rPr sz="1300" b="0">
                          <a:solidFill>
                            <a:srgbClr val="6B6963"/>
                          </a:solidFill>
                          <a:latin typeface="Calibri"/>
                        </a:rPr>
                        <a:t>0,50, quel que soit le déséquilibre</a:t>
                      </a:r>
                    </a:p>
                  </a:txBody>
                  <a:tcPr>
                    <a:solidFill>
                      <a:srgbClr val="FCFCFB"/>
                    </a:solidFill>
                  </a:tcPr>
                </a:tc>
                <a:tc>
                  <a:txBody>
                    <a:bodyPr/>
                    <a:lstStyle/>
                    <a:p>
                      <a:r>
                        <a:rPr sz="1300" b="0">
                          <a:solidFill>
                            <a:srgbClr val="6B6963"/>
                          </a:solidFill>
                          <a:latin typeface="Calibri"/>
                        </a:rPr>
                        <a:t>exactement le taux de base</a:t>
                      </a:r>
                    </a:p>
                  </a:txBody>
                  <a:tcPr>
                    <a:solidFill>
                      <a:srgbClr val="FCFCFB"/>
                    </a:solidFill>
                  </a:tcPr>
                </a:tc>
              </a:tr>
              <a:tr h="468000">
                <a:tc>
                  <a:txBody>
                    <a:bodyPr/>
                    <a:lstStyle/>
                    <a:p>
                      <a:r>
                        <a:rPr sz="1300" b="0">
                          <a:solidFill>
                            <a:srgbClr val="6B6963"/>
                          </a:solidFill>
                          <a:latin typeface="Calibri"/>
                        </a:rPr>
                        <a:t>À 0,019 % de positifs</a:t>
                      </a:r>
                    </a:p>
                  </a:txBody>
                  <a:tcPr>
                    <a:solidFill>
                      <a:srgbClr val="FCFCFB"/>
                    </a:solidFill>
                  </a:tcPr>
                </a:tc>
                <a:tc>
                  <a:txBody>
                    <a:bodyPr/>
                    <a:lstStyle/>
                    <a:p>
                      <a:r>
                        <a:rPr sz="1300" b="0">
                          <a:solidFill>
                            <a:srgbClr val="6B6963"/>
                          </a:solidFill>
                          <a:latin typeface="Calibri"/>
                        </a:rPr>
                        <a:t>flatteuse : un modèle médiocre affiche 0,95</a:t>
                      </a:r>
                    </a:p>
                  </a:txBody>
                  <a:tcPr>
                    <a:solidFill>
                      <a:srgbClr val="FCFCFB"/>
                    </a:solidFill>
                  </a:tcPr>
                </a:tc>
                <a:tc>
                  <a:txBody>
                    <a:bodyPr/>
                    <a:lstStyle/>
                    <a:p>
                      <a:r>
                        <a:rPr sz="1300" b="0">
                          <a:solidFill>
                            <a:srgbClr val="6B6963"/>
                          </a:solidFill>
                          <a:latin typeface="Calibri"/>
                        </a:rPr>
                        <a:t>lisible : le rapport donne le lift</a:t>
                      </a:r>
                    </a:p>
                  </a:txBody>
                  <a:tcPr>
                    <a:solidFill>
                      <a:srgbClr val="FCFCFB"/>
                    </a:solidFill>
                  </a:tcPr>
                </a:tc>
              </a:tr>
            </a:tbl>
          </a:graphicData>
        </a:graphic>
      </p:graphicFrame>
      <p:sp>
        <p:nvSpPr>
          <p:cNvPr id="6" name="TextBox 5"/>
          <p:cNvSpPr txBox="1"/>
          <p:nvPr/>
        </p:nvSpPr>
        <p:spPr>
          <a:xfrm>
            <a:off x="684000" y="4176000"/>
            <a:ext cx="10800000" cy="576000"/>
          </a:xfrm>
          <a:prstGeom prst="rect">
            <a:avLst/>
          </a:prstGeom>
          <a:noFill/>
        </p:spPr>
        <p:txBody>
          <a:bodyPr wrap="square">
            <a:spAutoFit/>
          </a:bodyPr>
          <a:lstStyle/>
          <a:p>
            <a:pPr>
              <a:lnSpc>
                <a:spcPct val="125000"/>
              </a:lnSpc>
            </a:pPr>
            <a:r>
              <a:rPr sz="2600" b="1">
                <a:solidFill>
                  <a:srgbClr val="0B0B0B"/>
                </a:solidFill>
                <a:latin typeface="Calibri"/>
              </a:rPr>
              <a:t>lift  =  PR-AUC ÷ taux de base</a:t>
            </a:r>
          </a:p>
        </p:txBody>
      </p:sp>
      <p:sp>
        <p:nvSpPr>
          <p:cNvPr id="7" name="TextBox 6"/>
          <p:cNvSpPr txBox="1"/>
          <p:nvPr/>
        </p:nvSpPr>
        <p:spPr>
          <a:xfrm>
            <a:off x="684000" y="4896000"/>
            <a:ext cx="10800000" cy="503999"/>
          </a:xfrm>
          <a:prstGeom prst="rect">
            <a:avLst/>
          </a:prstGeom>
          <a:noFill/>
        </p:spPr>
        <p:txBody>
          <a:bodyPr wrap="square">
            <a:spAutoFit/>
          </a:bodyPr>
          <a:lstStyle/>
          <a:p>
            <a:pPr>
              <a:lnSpc>
                <a:spcPct val="125000"/>
              </a:lnSpc>
            </a:pPr>
            <a:r>
              <a:rPr sz="1600" b="0">
                <a:solidFill>
                  <a:srgbClr val="6B6963"/>
                </a:solidFill>
                <a:latin typeface="Calibri"/>
              </a:rPr>
              <a:t>combien de fois mieux que tirer au sort, un nombre qui se dit à voix haute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 piège du sous-échantillonnage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 train est réduit à 1 positif pour 10 négatifs, sans quoi l'entraînement serait ingérable.</a:t>
            </a:r>
          </a:p>
        </p:txBody>
      </p:sp>
      <p:sp>
        <p:nvSpPr>
          <p:cNvPr id="5" name="TextBox 4"/>
          <p:cNvSpPr txBox="1"/>
          <p:nvPr/>
        </p:nvSpPr>
        <p:spPr>
          <a:xfrm>
            <a:off x="684000" y="2088000"/>
            <a:ext cx="4680000" cy="1224000"/>
          </a:xfrm>
          <a:prstGeom prst="rect">
            <a:avLst/>
          </a:prstGeom>
          <a:noFill/>
        </p:spPr>
        <p:txBody>
          <a:bodyPr wrap="square">
            <a:spAutoFit/>
          </a:bodyPr>
          <a:lstStyle/>
          <a:p>
            <a:pPr>
              <a:lnSpc>
                <a:spcPct val="100000"/>
              </a:lnSpc>
            </a:pPr>
            <a:r>
              <a:rPr sz="6000" b="1">
                <a:solidFill>
                  <a:srgbClr val="EB6834"/>
                </a:solidFill>
                <a:latin typeface="Calibri"/>
              </a:rPr>
              <a:t>× 487</a:t>
            </a:r>
          </a:p>
        </p:txBody>
      </p:sp>
      <p:sp>
        <p:nvSpPr>
          <p:cNvPr id="6" name="TextBox 5"/>
          <p:cNvSpPr txBox="1"/>
          <p:nvPr/>
        </p:nvSpPr>
        <p:spPr>
          <a:xfrm>
            <a:off x="684000" y="3420000"/>
            <a:ext cx="5040000" cy="864000"/>
          </a:xfrm>
          <a:prstGeom prst="rect">
            <a:avLst/>
          </a:prstGeom>
          <a:noFill/>
        </p:spPr>
        <p:txBody>
          <a:bodyPr wrap="square">
            <a:spAutoFit/>
          </a:bodyPr>
          <a:lstStyle/>
          <a:p>
            <a:pPr>
              <a:lnSpc>
                <a:spcPct val="125000"/>
              </a:lnSpc>
            </a:pPr>
            <a:r>
              <a:rPr sz="1500" b="0">
                <a:solidFill>
                  <a:srgbClr val="6B6963"/>
                </a:solidFill>
                <a:latin typeface="Calibri"/>
              </a:rPr>
              <a:t>l'écart entre le prior appris (9,1 %)</a:t>
            </a:r>
          </a:p>
          <a:p>
            <a:pPr>
              <a:lnSpc>
                <a:spcPct val="125000"/>
              </a:lnSpc>
            </a:pPr>
            <a:r>
              <a:rPr sz="1500" b="0">
                <a:solidFill>
                  <a:srgbClr val="6B6963"/>
                </a:solidFill>
                <a:latin typeface="Calibri"/>
              </a:rPr>
              <a:t>et le prior réel (0,019 %)</a:t>
            </a:r>
          </a:p>
        </p:txBody>
      </p:sp>
      <p:sp>
        <p:nvSpPr>
          <p:cNvPr id="7" name="TextBox 6"/>
          <p:cNvSpPr txBox="1"/>
          <p:nvPr/>
        </p:nvSpPr>
        <p:spPr>
          <a:xfrm>
            <a:off x="6300000" y="2052000"/>
            <a:ext cx="5220000" cy="468000"/>
          </a:xfrm>
          <a:prstGeom prst="rect">
            <a:avLst/>
          </a:prstGeom>
          <a:noFill/>
        </p:spPr>
        <p:txBody>
          <a:bodyPr wrap="square">
            <a:spAutoFit/>
          </a:bodyPr>
          <a:lstStyle/>
          <a:p>
            <a:pPr>
              <a:lnSpc>
                <a:spcPct val="125000"/>
              </a:lnSpc>
            </a:pPr>
            <a:r>
              <a:rPr sz="1450" b="1">
                <a:solidFill>
                  <a:srgbClr val="0B0B0B"/>
                </a:solidFill>
                <a:latin typeface="Calibri"/>
              </a:rPr>
              <a:t>Validation et test ne sont jamais échantillonnés</a:t>
            </a:r>
          </a:p>
        </p:txBody>
      </p:sp>
      <p:sp>
        <p:nvSpPr>
          <p:cNvPr id="8" name="TextBox 7"/>
          <p:cNvSpPr txBox="1"/>
          <p:nvPr/>
        </p:nvSpPr>
        <p:spPr>
          <a:xfrm>
            <a:off x="6300000" y="2520000"/>
            <a:ext cx="5220000" cy="552484"/>
          </a:xfrm>
          <a:prstGeom prst="rect">
            <a:avLst/>
          </a:prstGeom>
          <a:noFill/>
        </p:spPr>
        <p:txBody>
          <a:bodyPr wrap="square">
            <a:spAutoFit/>
          </a:bodyPr>
          <a:lstStyle/>
          <a:p>
            <a:pPr>
              <a:lnSpc>
                <a:spcPct val="125000"/>
              </a:lnSpc>
            </a:pPr>
            <a:r>
              <a:rPr sz="1450" b="0">
                <a:solidFill>
                  <a:srgbClr val="6B6963"/>
                </a:solidFill>
                <a:latin typeface="Calibri"/>
              </a:rPr>
              <a:t>· c'est ce qui rend les scores comparables au monde réel.</a:t>
            </a:r>
          </a:p>
        </p:txBody>
      </p:sp>
      <p:sp>
        <p:nvSpPr>
          <p:cNvPr id="9" name="TextBox 8"/>
          <p:cNvSpPr txBox="1"/>
          <p:nvPr/>
        </p:nvSpPr>
        <p:spPr>
          <a:xfrm>
            <a:off x="6300000" y="3094084"/>
            <a:ext cx="5220000" cy="552484"/>
          </a:xfrm>
          <a:prstGeom prst="rect">
            <a:avLst/>
          </a:prstGeom>
          <a:noFill/>
        </p:spPr>
        <p:txBody>
          <a:bodyPr wrap="square">
            <a:spAutoFit/>
          </a:bodyPr>
          <a:lstStyle/>
          <a:p>
            <a:pPr>
              <a:lnSpc>
                <a:spcPct val="125000"/>
              </a:lnSpc>
            </a:pPr>
            <a:r>
              <a:rPr sz="1450" b="1">
                <a:solidFill>
                  <a:srgbClr val="0B0B0B"/>
                </a:solidFill>
                <a:latin typeface="Calibri"/>
              </a:rPr>
              <a:t>Les statistiques dérivées de la cible se calculent sur le train complet</a:t>
            </a:r>
          </a:p>
        </p:txBody>
      </p:sp>
      <p:sp>
        <p:nvSpPr>
          <p:cNvPr id="10" name="TextBox 9"/>
          <p:cNvSpPr txBox="1"/>
          <p:nvPr/>
        </p:nvSpPr>
        <p:spPr>
          <a:xfrm>
            <a:off x="6300000" y="3668169"/>
            <a:ext cx="5220000" cy="828727"/>
          </a:xfrm>
          <a:prstGeom prst="rect">
            <a:avLst/>
          </a:prstGeom>
          <a:noFill/>
        </p:spPr>
        <p:txBody>
          <a:bodyPr wrap="square">
            <a:spAutoFit/>
          </a:bodyPr>
          <a:lstStyle/>
          <a:p>
            <a:pPr>
              <a:lnSpc>
                <a:spcPct val="125000"/>
              </a:lnSpc>
            </a:pPr>
            <a:r>
              <a:rPr sz="1450" b="0">
                <a:solidFill>
                  <a:srgbClr val="6B6963"/>
                </a:solidFill>
                <a:latin typeface="Calibri"/>
              </a:rPr>
              <a:t>· sur l'échantillon, un lissage bayésien vaudrait 9,1 % au lieu de 0,019 %. Le prior serait empoisonné, et rien dans les métriques ne le signalerait.</a:t>
            </a:r>
          </a:p>
        </p:txBody>
      </p:sp>
      <p:sp>
        <p:nvSpPr>
          <p:cNvPr id="11" name="TextBox 10"/>
          <p:cNvSpPr txBox="1"/>
          <p:nvPr/>
        </p:nvSpPr>
        <p:spPr>
          <a:xfrm>
            <a:off x="6300000" y="4518496"/>
            <a:ext cx="5220000" cy="468000"/>
          </a:xfrm>
          <a:prstGeom prst="rect">
            <a:avLst/>
          </a:prstGeom>
          <a:noFill/>
        </p:spPr>
        <p:txBody>
          <a:bodyPr wrap="square">
            <a:spAutoFit/>
          </a:bodyPr>
          <a:lstStyle/>
          <a:p>
            <a:pPr>
              <a:lnSpc>
                <a:spcPct val="125000"/>
              </a:lnSpc>
            </a:pPr>
            <a:r>
              <a:rPr sz="1450" b="1">
                <a:solidFill>
                  <a:srgbClr val="0B0B0B"/>
                </a:solidFill>
                <a:latin typeface="Calibri"/>
              </a:rPr>
              <a:t>La calibration absorbe le décalage</a:t>
            </a:r>
          </a:p>
        </p:txBody>
      </p:sp>
      <p:sp>
        <p:nvSpPr>
          <p:cNvPr id="12" name="TextBox 11"/>
          <p:cNvSpPr txBox="1"/>
          <p:nvPr/>
        </p:nvSpPr>
        <p:spPr>
          <a:xfrm>
            <a:off x="6300000" y="4986496"/>
            <a:ext cx="5220000" cy="552484"/>
          </a:xfrm>
          <a:prstGeom prst="rect">
            <a:avLst/>
          </a:prstGeom>
          <a:noFill/>
        </p:spPr>
        <p:txBody>
          <a:bodyPr wrap="square">
            <a:spAutoFit/>
          </a:bodyPr>
          <a:lstStyle/>
          <a:p>
            <a:pPr>
              <a:lnSpc>
                <a:spcPct val="125000"/>
              </a:lnSpc>
            </a:pPr>
            <a:r>
              <a:rPr sz="1450" b="0">
                <a:solidFill>
                  <a:srgbClr val="6B6963"/>
                </a:solidFill>
                <a:latin typeface="Calibri"/>
              </a:rPr>
              <a:t>· Platt ramène le biais de ×144,7 à ×1,13, sans rien coûter en PR-AUC.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Comment comparer deux modèles sans se tromper</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Un écart de PR-AUC entre deux modèles n'est pas un résultat tant qu'on ignore le bruit qui l'entoure.</a:t>
            </a:r>
          </a:p>
        </p:txBody>
      </p:sp>
      <p:sp>
        <p:nvSpPr>
          <p:cNvPr id="5" name="TextBox 4"/>
          <p:cNvSpPr txBox="1"/>
          <p:nvPr/>
        </p:nvSpPr>
        <p:spPr>
          <a:xfrm>
            <a:off x="684000" y="1944000"/>
            <a:ext cx="10800000" cy="446400"/>
          </a:xfrm>
          <a:prstGeom prst="rect">
            <a:avLst/>
          </a:prstGeom>
          <a:noFill/>
        </p:spPr>
        <p:txBody>
          <a:bodyPr wrap="square">
            <a:spAutoFit/>
          </a:bodyPr>
          <a:lstStyle/>
          <a:p>
            <a:pPr>
              <a:lnSpc>
                <a:spcPct val="125000"/>
              </a:lnSpc>
            </a:pPr>
            <a:r>
              <a:rPr sz="1500" b="1">
                <a:solidFill>
                  <a:srgbClr val="0B0B0B"/>
                </a:solidFill>
                <a:latin typeface="Calibri"/>
              </a:rPr>
              <a:t>Bootstrap apparié</a:t>
            </a:r>
          </a:p>
        </p:txBody>
      </p:sp>
      <p:sp>
        <p:nvSpPr>
          <p:cNvPr id="6" name="TextBox 5"/>
          <p:cNvSpPr txBox="1"/>
          <p:nvPr/>
        </p:nvSpPr>
        <p:spPr>
          <a:xfrm>
            <a:off x="684000" y="2390400"/>
            <a:ext cx="10800000" cy="571536"/>
          </a:xfrm>
          <a:prstGeom prst="rect">
            <a:avLst/>
          </a:prstGeom>
          <a:noFill/>
        </p:spPr>
        <p:txBody>
          <a:bodyPr wrap="square">
            <a:spAutoFit/>
          </a:bodyPr>
          <a:lstStyle/>
          <a:p>
            <a:pPr>
              <a:lnSpc>
                <a:spcPct val="125000"/>
              </a:lnSpc>
            </a:pPr>
            <a:r>
              <a:rPr sz="1500" b="0">
                <a:solidFill>
                  <a:srgbClr val="6B6963"/>
                </a:solidFill>
                <a:latin typeface="Calibri"/>
              </a:rPr>
              <a:t>· Les deux modèles sont évalués sur exactement les mêmes lignes, rééchantillonnées ensemble, 200 fois. On mesure la distribution de l'écart, pas deux distributions séparées.</a:t>
            </a:r>
          </a:p>
        </p:txBody>
      </p:sp>
      <p:sp>
        <p:nvSpPr>
          <p:cNvPr id="7" name="TextBox 6"/>
          <p:cNvSpPr txBox="1"/>
          <p:nvPr/>
        </p:nvSpPr>
        <p:spPr>
          <a:xfrm>
            <a:off x="684000" y="2983536"/>
            <a:ext cx="10800000" cy="446400"/>
          </a:xfrm>
          <a:prstGeom prst="rect">
            <a:avLst/>
          </a:prstGeom>
          <a:noFill/>
        </p:spPr>
        <p:txBody>
          <a:bodyPr wrap="square">
            <a:spAutoFit/>
          </a:bodyPr>
          <a:lstStyle/>
          <a:p>
            <a:pPr>
              <a:lnSpc>
                <a:spcPct val="125000"/>
              </a:lnSpc>
            </a:pPr>
            <a:r>
              <a:rPr sz="1500" b="1">
                <a:solidFill>
                  <a:srgbClr val="0B0B0B"/>
                </a:solidFill>
                <a:latin typeface="Calibri"/>
              </a:rPr>
              <a:t>On rééchantillonne les communes, pas les lignes</a:t>
            </a:r>
          </a:p>
        </p:txBody>
      </p:sp>
      <p:sp>
        <p:nvSpPr>
          <p:cNvPr id="8" name="TextBox 7"/>
          <p:cNvSpPr txBox="1"/>
          <p:nvPr/>
        </p:nvSpPr>
        <p:spPr>
          <a:xfrm>
            <a:off x="684000" y="3429936"/>
            <a:ext cx="10800000" cy="857303"/>
          </a:xfrm>
          <a:prstGeom prst="rect">
            <a:avLst/>
          </a:prstGeom>
          <a:noFill/>
        </p:spPr>
        <p:txBody>
          <a:bodyPr wrap="square">
            <a:spAutoFit/>
          </a:bodyPr>
          <a:lstStyle/>
          <a:p>
            <a:pPr>
              <a:lnSpc>
                <a:spcPct val="125000"/>
              </a:lnSpc>
            </a:pPr>
            <a:r>
              <a:rPr sz="1500" b="0">
                <a:solidFill>
                  <a:srgbClr val="6B6963"/>
                </a:solidFill>
                <a:latin typeface="Calibri"/>
              </a:rPr>
              <a:t>· Les 1 096 jours d'une même commune ne sont pas indépendants, et 31 communes partagent la même maille météo. Tirer ligne à ligne reviendrait à traiter 38 millions d'observations comme 38 millions d'expériences indépendantes.</a:t>
            </a:r>
          </a:p>
        </p:txBody>
      </p:sp>
      <p:sp>
        <p:nvSpPr>
          <p:cNvPr id="9" name="Rectangle 8"/>
          <p:cNvSpPr/>
          <p:nvPr/>
        </p:nvSpPr>
        <p:spPr>
          <a:xfrm>
            <a:off x="684000" y="4248000"/>
            <a:ext cx="39600" cy="1152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2000" y="4284000"/>
            <a:ext cx="10548000" cy="1152000"/>
          </a:xfrm>
          <a:prstGeom prst="rect">
            <a:avLst/>
          </a:prstGeom>
          <a:noFill/>
        </p:spPr>
        <p:txBody>
          <a:bodyPr wrap="square">
            <a:spAutoFit/>
          </a:bodyPr>
          <a:lstStyle/>
          <a:p>
            <a:pPr>
              <a:lnSpc>
                <a:spcPct val="130000"/>
              </a:lnSpc>
            </a:pPr>
            <a:r>
              <a:rPr sz="1500" b="0">
                <a:solidFill>
                  <a:srgbClr val="0B0B0B"/>
                </a:solidFill>
                <a:latin typeface="Calibri"/>
              </a:rPr>
              <a:t>C'est le point de méthode le plus important de cette partie. Un bootstrap ligne à ligne donne des intervalles beaucoup trop étroits, et fait conclure à des différences qui n'existent pas. Le terme consacré est la pseudo-réplication.</a:t>
            </a:r>
          </a:p>
        </p:txBody>
      </p:sp>
      <p:sp>
        <p:nvSpPr>
          <p:cNvPr id="11" name="Rectangle 10"/>
          <p:cNvSpPr/>
          <p:nvPr/>
        </p:nvSpPr>
        <p:spPr>
          <a:xfrm>
            <a:off x="684000" y="5544000"/>
            <a:ext cx="39600" cy="1152000"/>
          </a:xfrm>
          <a:prstGeom prst="rect">
            <a:avLst/>
          </a:prstGeom>
          <a:solidFill>
            <a:srgbClr val="C3C2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2000" y="5580000"/>
            <a:ext cx="10548000" cy="1152000"/>
          </a:xfrm>
          <a:prstGeom prst="rect">
            <a:avLst/>
          </a:prstGeom>
          <a:noFill/>
        </p:spPr>
        <p:txBody>
          <a:bodyPr wrap="square">
            <a:spAutoFit/>
          </a:bodyPr>
          <a:lstStyle/>
          <a:p>
            <a:pPr>
              <a:lnSpc>
                <a:spcPct val="130000"/>
              </a:lnSpc>
            </a:pPr>
            <a:r>
              <a:rPr sz="1400" b="0">
                <a:solidFill>
                  <a:srgbClr val="0B0B0B"/>
                </a:solidFill>
                <a:latin typeface="Calibri"/>
              </a:rPr>
              <a:t>Détail d'implémentation : la moyenne pondérée des précisions est recalculée par tri unique puis sommes cumulées, au lieu d'appeler scikit-learn 200 fois. Le résultat est identique à 1e-12 près, et la comparaison complète tient en quelques minutes au lieu de plusieurs heures.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Les modèles mis en concurrence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Chacun teste une idée précise, et non « essayons de voir ».</a:t>
            </a:r>
          </a:p>
        </p:txBody>
      </p:sp>
      <p:graphicFrame>
        <p:nvGraphicFramePr>
          <p:cNvPr id="5" name="Table 4"/>
          <p:cNvGraphicFramePr>
            <a:graphicFrameLocks noGrp="1"/>
          </p:cNvGraphicFramePr>
          <p:nvPr/>
        </p:nvGraphicFramePr>
        <p:xfrm>
          <a:off x="684000" y="1944000"/>
          <a:ext cx="10800000" cy="3240000"/>
        </p:xfrm>
        <a:graphic>
          <a:graphicData uri="http://schemas.openxmlformats.org/drawingml/2006/table">
            <a:tbl>
              <a:tblPr firstRow="1" bandRow="1">
                <a:tableStyleId>{5C22544A-7EE6-4342-B048-85BDC9FD1C3A}</a:tableStyleId>
              </a:tblPr>
              <a:tblGrid>
                <a:gridCol w="2160000"/>
                <a:gridCol w="5040000"/>
                <a:gridCol w="3600000"/>
              </a:tblGrid>
              <a:tr h="405000">
                <a:tc>
                  <a:txBody>
                    <a:bodyPr/>
                    <a:lstStyle/>
                    <a:p>
                      <a:r>
                        <a:rPr sz="1250" b="1">
                          <a:solidFill>
                            <a:srgbClr val="FCFCFB"/>
                          </a:solidFill>
                          <a:latin typeface="Calibri"/>
                        </a:rPr>
                        <a:t>Modèle</a:t>
                      </a:r>
                    </a:p>
                  </a:txBody>
                  <a:tcPr>
                    <a:solidFill>
                      <a:srgbClr val="0B0B0B"/>
                    </a:solidFill>
                  </a:tcPr>
                </a:tc>
                <a:tc>
                  <a:txBody>
                    <a:bodyPr/>
                    <a:lstStyle/>
                    <a:p>
                      <a:r>
                        <a:rPr sz="1250" b="1">
                          <a:solidFill>
                            <a:srgbClr val="FCFCFB"/>
                          </a:solidFill>
                          <a:latin typeface="Calibri"/>
                        </a:rPr>
                        <a:t>L'idée qu'il teste</a:t>
                      </a:r>
                    </a:p>
                  </a:txBody>
                  <a:tcPr>
                    <a:solidFill>
                      <a:srgbClr val="0B0B0B"/>
                    </a:solidFill>
                  </a:tcPr>
                </a:tc>
                <a:tc>
                  <a:txBody>
                    <a:bodyPr/>
                    <a:lstStyle/>
                    <a:p>
                      <a:r>
                        <a:rPr sz="1250" b="1">
                          <a:solidFill>
                            <a:srgbClr val="FCFCFB"/>
                          </a:solidFill>
                          <a:latin typeface="Calibri"/>
                        </a:rPr>
                        <a:t>Entrées</a:t>
                      </a:r>
                    </a:p>
                  </a:txBody>
                  <a:tcPr>
                    <a:solidFill>
                      <a:srgbClr val="0B0B0B"/>
                    </a:solidFill>
                  </a:tcPr>
                </a:tc>
              </a:tr>
              <a:tr h="405000">
                <a:tc>
                  <a:txBody>
                    <a:bodyPr/>
                    <a:lstStyle/>
                    <a:p>
                      <a:r>
                        <a:rPr sz="1250" b="0">
                          <a:solidFill>
                            <a:srgbClr val="6B6963"/>
                          </a:solidFill>
                          <a:latin typeface="Calibri"/>
                        </a:rPr>
                        <a:t>Baselines (3)</a:t>
                      </a:r>
                    </a:p>
                  </a:txBody>
                  <a:tcPr>
                    <a:solidFill>
                      <a:srgbClr val="FCFCFB"/>
                    </a:solidFill>
                  </a:tcPr>
                </a:tc>
                <a:tc>
                  <a:txBody>
                    <a:bodyPr/>
                    <a:lstStyle/>
                    <a:p>
                      <a:r>
                        <a:rPr sz="1250" b="0">
                          <a:solidFill>
                            <a:srgbClr val="6B6963"/>
                          </a:solidFill>
                          <a:latin typeface="Calibri"/>
                        </a:rPr>
                        <a:t>que valent des règles sans apprentissage</a:t>
                      </a:r>
                    </a:p>
                  </a:txBody>
                  <a:tcPr>
                    <a:solidFill>
                      <a:srgbClr val="FCFCFB"/>
                    </a:solidFill>
                  </a:tcPr>
                </a:tc>
                <a:tc>
                  <a:txBody>
                    <a:bodyPr/>
                    <a:lstStyle/>
                    <a:p>
                      <a:r>
                        <a:rPr sz="1250" b="0">
                          <a:solidFill>
                            <a:srgbClr val="6B6963"/>
                          </a:solidFill>
                          <a:latin typeface="Calibri"/>
                        </a:rPr>
                        <a:t>historique, danger EFFIS, et leur croisement</a:t>
                      </a:r>
                    </a:p>
                  </a:txBody>
                  <a:tcPr>
                    <a:solidFill>
                      <a:srgbClr val="FCFCFB"/>
                    </a:solidFill>
                  </a:tcPr>
                </a:tc>
              </a:tr>
              <a:tr h="405000">
                <a:tc>
                  <a:txBody>
                    <a:bodyPr/>
                    <a:lstStyle/>
                    <a:p>
                      <a:r>
                        <a:rPr sz="1250" b="0">
                          <a:solidFill>
                            <a:srgbClr val="6B6963"/>
                          </a:solidFill>
                          <a:latin typeface="Calibri"/>
                        </a:rPr>
                        <a:t>XGBoost v1</a:t>
                      </a:r>
                    </a:p>
                  </a:txBody>
                  <a:tcPr>
                    <a:solidFill>
                      <a:srgbClr val="FCFCFB"/>
                    </a:solidFill>
                  </a:tcPr>
                </a:tc>
                <a:tc>
                  <a:txBody>
                    <a:bodyPr/>
                    <a:lstStyle/>
                    <a:p>
                      <a:r>
                        <a:rPr sz="1250" b="0">
                          <a:solidFill>
                            <a:srgbClr val="6B6963"/>
                          </a:solidFill>
                          <a:latin typeface="Calibri"/>
                        </a:rPr>
                        <a:t>un gradient boosting standard suffit-il</a:t>
                      </a:r>
                    </a:p>
                  </a:txBody>
                  <a:tcPr>
                    <a:solidFill>
                      <a:srgbClr val="FCFCFB"/>
                    </a:solidFill>
                  </a:tcPr>
                </a:tc>
                <a:tc>
                  <a:txBody>
                    <a:bodyPr/>
                    <a:lstStyle/>
                    <a:p>
                      <a:r>
                        <a:rPr sz="1250" b="0">
                          <a:solidFill>
                            <a:srgbClr val="6B6963"/>
                          </a:solidFill>
                          <a:latin typeface="Calibri"/>
                        </a:rPr>
                        <a:t>météo, territoire, historique brut</a:t>
                      </a:r>
                    </a:p>
                  </a:txBody>
                  <a:tcPr>
                    <a:solidFill>
                      <a:srgbClr val="FCFCFB"/>
                    </a:solidFill>
                  </a:tcPr>
                </a:tc>
              </a:tr>
              <a:tr h="405000">
                <a:tc>
                  <a:txBody>
                    <a:bodyPr/>
                    <a:lstStyle/>
                    <a:p>
                      <a:r>
                        <a:rPr sz="1250" b="0">
                          <a:solidFill>
                            <a:srgbClr val="6B6963"/>
                          </a:solidFill>
                          <a:latin typeface="Calibri"/>
                        </a:rPr>
                        <a:t>XGBoost v3</a:t>
                      </a:r>
                    </a:p>
                  </a:txBody>
                  <a:tcPr>
                    <a:solidFill>
                      <a:srgbClr val="FCFCFB"/>
                    </a:solidFill>
                  </a:tcPr>
                </a:tc>
                <a:tc>
                  <a:txBody>
                    <a:bodyPr/>
                    <a:lstStyle/>
                    <a:p>
                      <a:r>
                        <a:rPr sz="1250" b="0">
                          <a:solidFill>
                            <a:srgbClr val="6B6963"/>
                          </a:solidFill>
                          <a:latin typeface="Calibri"/>
                        </a:rPr>
                        <a:t>peut-on donner un risque aux communes sans historique</a:t>
                      </a:r>
                    </a:p>
                  </a:txBody>
                  <a:tcPr>
                    <a:solidFill>
                      <a:srgbClr val="FCFCFB"/>
                    </a:solidFill>
                  </a:tcPr>
                </a:tc>
                <a:tc>
                  <a:txBody>
                    <a:bodyPr/>
                    <a:lstStyle/>
                    <a:p>
                      <a:r>
                        <a:rPr sz="1250" b="0">
                          <a:solidFill>
                            <a:srgbClr val="6B6963"/>
                          </a:solidFill>
                          <a:latin typeface="Calibri"/>
                        </a:rPr>
                        <a:t>v1 + lissage bayésien sur 30 groupes</a:t>
                      </a:r>
                    </a:p>
                  </a:txBody>
                  <a:tcPr>
                    <a:solidFill>
                      <a:srgbClr val="FCFCFB"/>
                    </a:solidFill>
                  </a:tcPr>
                </a:tc>
              </a:tr>
              <a:tr h="405000">
                <a:tc>
                  <a:txBody>
                    <a:bodyPr/>
                    <a:lstStyle/>
                    <a:p>
                      <a:r>
                        <a:rPr sz="1250" b="0">
                          <a:solidFill>
                            <a:srgbClr val="6B6963"/>
                          </a:solidFill>
                          <a:latin typeface="Calibri"/>
                        </a:rPr>
                        <a:t>DART</a:t>
                      </a:r>
                    </a:p>
                  </a:txBody>
                  <a:tcPr>
                    <a:solidFill>
                      <a:srgbClr val="FCFCFB"/>
                    </a:solidFill>
                  </a:tcPr>
                </a:tc>
                <a:tc>
                  <a:txBody>
                    <a:bodyPr/>
                    <a:lstStyle/>
                    <a:p>
                      <a:r>
                        <a:rPr sz="1250" b="0">
                          <a:solidFill>
                            <a:srgbClr val="6B6963"/>
                          </a:solidFill>
                          <a:latin typeface="Calibri"/>
                        </a:rPr>
                        <a:t>l'abandon d'arbres améliore-t-il la généralisation</a:t>
                      </a:r>
                    </a:p>
                  </a:txBody>
                  <a:tcPr>
                    <a:solidFill>
                      <a:srgbClr val="FCFCFB"/>
                    </a:solidFill>
                  </a:tcPr>
                </a:tc>
                <a:tc>
                  <a:txBody>
                    <a:bodyPr/>
                    <a:lstStyle/>
                    <a:p>
                      <a:r>
                        <a:rPr sz="1250" b="0">
                          <a:solidFill>
                            <a:srgbClr val="6B6963"/>
                          </a:solidFill>
                          <a:latin typeface="Calibri"/>
                        </a:rPr>
                        <a:t>identiques à v3</a:t>
                      </a:r>
                    </a:p>
                  </a:txBody>
                  <a:tcPr>
                    <a:solidFill>
                      <a:srgbClr val="FCFCFB"/>
                    </a:solidFill>
                  </a:tcPr>
                </a:tc>
              </a:tr>
              <a:tr h="405000">
                <a:tc>
                  <a:txBody>
                    <a:bodyPr/>
                    <a:lstStyle/>
                    <a:p>
                      <a:r>
                        <a:rPr sz="1250" b="0">
                          <a:solidFill>
                            <a:srgbClr val="6B6963"/>
                          </a:solidFill>
                          <a:latin typeface="Calibri"/>
                        </a:rPr>
                        <a:t>MLP</a:t>
                      </a:r>
                    </a:p>
                  </a:txBody>
                  <a:tcPr>
                    <a:solidFill>
                      <a:srgbClr val="FCFCFB"/>
                    </a:solidFill>
                  </a:tcPr>
                </a:tc>
                <a:tc>
                  <a:txBody>
                    <a:bodyPr/>
                    <a:lstStyle/>
                    <a:p>
                      <a:r>
                        <a:rPr sz="1250" b="0">
                          <a:solidFill>
                            <a:srgbClr val="6B6963"/>
                          </a:solidFill>
                          <a:latin typeface="Calibri"/>
                        </a:rPr>
                        <a:t>un réseau dense fait-il mieux que des arbres</a:t>
                      </a:r>
                    </a:p>
                  </a:txBody>
                  <a:tcPr>
                    <a:solidFill>
                      <a:srgbClr val="FCFCFB"/>
                    </a:solidFill>
                  </a:tcPr>
                </a:tc>
                <a:tc>
                  <a:txBody>
                    <a:bodyPr/>
                    <a:lstStyle/>
                    <a:p>
                      <a:r>
                        <a:rPr sz="1250" b="0">
                          <a:solidFill>
                            <a:srgbClr val="6B6963"/>
                          </a:solidFill>
                          <a:latin typeface="Calibri"/>
                        </a:rPr>
                        <a:t>identiques à v3, normalisées</a:t>
                      </a:r>
                    </a:p>
                  </a:txBody>
                  <a:tcPr>
                    <a:solidFill>
                      <a:srgbClr val="FCFCFB"/>
                    </a:solidFill>
                  </a:tcPr>
                </a:tc>
              </a:tr>
              <a:tr h="405000">
                <a:tc>
                  <a:txBody>
                    <a:bodyPr/>
                    <a:lstStyle/>
                    <a:p>
                      <a:r>
                        <a:rPr sz="1250" b="0">
                          <a:solidFill>
                            <a:srgbClr val="6B6963"/>
                          </a:solidFill>
                          <a:latin typeface="Calibri"/>
                        </a:rPr>
                        <a:t>XGBoost C</a:t>
                      </a:r>
                    </a:p>
                  </a:txBody>
                  <a:tcPr>
                    <a:solidFill>
                      <a:srgbClr val="FCFCFB"/>
                    </a:solidFill>
                  </a:tcPr>
                </a:tc>
                <a:tc>
                  <a:txBody>
                    <a:bodyPr/>
                    <a:lstStyle/>
                    <a:p>
                      <a:r>
                        <a:rPr sz="1250" b="0">
                          <a:solidFill>
                            <a:srgbClr val="6B6963"/>
                          </a:solidFill>
                          <a:latin typeface="Calibri"/>
                        </a:rPr>
                        <a:t>que reste-t-il sans aucun historique de feu</a:t>
                      </a:r>
                    </a:p>
                  </a:txBody>
                  <a:tcPr>
                    <a:solidFill>
                      <a:srgbClr val="FCFCFB"/>
                    </a:solidFill>
                  </a:tcPr>
                </a:tc>
                <a:tc>
                  <a:txBody>
                    <a:bodyPr/>
                    <a:lstStyle/>
                    <a:p>
                      <a:r>
                        <a:rPr sz="1250" b="0">
                          <a:solidFill>
                            <a:srgbClr val="6B6963"/>
                          </a:solidFill>
                          <a:latin typeface="Calibri"/>
                        </a:rPr>
                        <a:t>météo et territoire seulement, 41 features</a:t>
                      </a:r>
                    </a:p>
                  </a:txBody>
                  <a:tcPr>
                    <a:solidFill>
                      <a:srgbClr val="FCFCFB"/>
                    </a:solidFill>
                  </a:tcPr>
                </a:tc>
              </a:tr>
              <a:tr h="405000">
                <a:tc>
                  <a:txBody>
                    <a:bodyPr/>
                    <a:lstStyle/>
                    <a:p>
                      <a:r>
                        <a:rPr sz="1250" b="0">
                          <a:solidFill>
                            <a:srgbClr val="6B6963"/>
                          </a:solidFill>
                          <a:latin typeface="Calibri"/>
                        </a:rPr>
                        <a:t>LSTM</a:t>
                      </a:r>
                    </a:p>
                  </a:txBody>
                  <a:tcPr>
                    <a:solidFill>
                      <a:srgbClr val="FCFCFB"/>
                    </a:solidFill>
                  </a:tcPr>
                </a:tc>
                <a:tc>
                  <a:txBody>
                    <a:bodyPr/>
                    <a:lstStyle/>
                    <a:p>
                      <a:r>
                        <a:rPr sz="1250" b="0">
                          <a:solidFill>
                            <a:srgbClr val="6B6963"/>
                          </a:solidFill>
                          <a:latin typeface="Calibri"/>
                        </a:rPr>
                        <a:t>la séquence météo porte-t-elle un signal en propre</a:t>
                      </a:r>
                    </a:p>
                  </a:txBody>
                  <a:tcPr>
                    <a:solidFill>
                      <a:srgbClr val="FCFCFB"/>
                    </a:solidFill>
                  </a:tcPr>
                </a:tc>
                <a:tc>
                  <a:txBody>
                    <a:bodyPr/>
                    <a:lstStyle/>
                    <a:p>
                      <a:r>
                        <a:rPr sz="1250" b="0">
                          <a:solidFill>
                            <a:srgbClr val="6B6963"/>
                          </a:solidFill>
                          <a:latin typeface="Calibri"/>
                        </a:rPr>
                        <a:t>30 jours × 8 indices, soit 240 valeurs</a:t>
                      </a:r>
                    </a:p>
                  </a:txBody>
                  <a:tcPr>
                    <a:solidFill>
                      <a:srgbClr val="FCFCFB"/>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84000" y="2268000"/>
            <a:ext cx="2160000" cy="503999"/>
          </a:xfrm>
          <a:prstGeom prst="rect">
            <a:avLst/>
          </a:prstGeom>
          <a:noFill/>
        </p:spPr>
        <p:txBody>
          <a:bodyPr wrap="square">
            <a:spAutoFit/>
          </a:bodyPr>
          <a:lstStyle/>
          <a:p>
            <a:pPr>
              <a:lnSpc>
                <a:spcPct val="125000"/>
              </a:lnSpc>
            </a:pPr>
            <a:r>
              <a:rPr sz="1500" b="1">
                <a:solidFill>
                  <a:srgbClr val="E34948"/>
                </a:solidFill>
                <a:latin typeface="Calibri"/>
              </a:rPr>
              <a:t>04</a:t>
            </a:r>
          </a:p>
        </p:txBody>
      </p:sp>
      <p:sp>
        <p:nvSpPr>
          <p:cNvPr id="3" name="TextBox 2"/>
          <p:cNvSpPr txBox="1"/>
          <p:nvPr/>
        </p:nvSpPr>
        <p:spPr>
          <a:xfrm>
            <a:off x="684000" y="2628000"/>
            <a:ext cx="10080000" cy="1080000"/>
          </a:xfrm>
          <a:prstGeom prst="rect">
            <a:avLst/>
          </a:prstGeom>
          <a:noFill/>
        </p:spPr>
        <p:txBody>
          <a:bodyPr wrap="square">
            <a:spAutoFit/>
          </a:bodyPr>
          <a:lstStyle/>
          <a:p>
            <a:pPr>
              <a:lnSpc>
                <a:spcPct val="110000"/>
              </a:lnSpc>
            </a:pPr>
            <a:r>
              <a:rPr sz="3400" b="1">
                <a:solidFill>
                  <a:srgbClr val="FCFCFB"/>
                </a:solidFill>
                <a:latin typeface="Calibri"/>
              </a:rPr>
              <a:t>Résultats</a:t>
            </a:r>
          </a:p>
        </p:txBody>
      </p:sp>
      <p:sp>
        <p:nvSpPr>
          <p:cNvPr id="4" name="TextBox 3"/>
          <p:cNvSpPr txBox="1"/>
          <p:nvPr/>
        </p:nvSpPr>
        <p:spPr>
          <a:xfrm>
            <a:off x="684000" y="4104000"/>
            <a:ext cx="9360000" cy="900000"/>
          </a:xfrm>
          <a:prstGeom prst="rect">
            <a:avLst/>
          </a:prstGeom>
          <a:noFill/>
        </p:spPr>
        <p:txBody>
          <a:bodyPr wrap="square">
            <a:spAutoFit/>
          </a:bodyPr>
          <a:lstStyle/>
          <a:p>
            <a:pPr>
              <a:lnSpc>
                <a:spcPct val="135000"/>
              </a:lnSpc>
            </a:pPr>
            <a:r>
              <a:rPr sz="1600" b="0">
                <a:solidFill>
                  <a:srgbClr val="C3C2B7"/>
                </a:solidFill>
                <a:latin typeface="Calibri"/>
              </a:rPr>
              <a:t>Ce que mesurent les données, avant toute interprétation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 barre à battre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Sans référence, un lift de 63× ne veut rien dire.</a:t>
            </a:r>
          </a:p>
        </p:txBody>
      </p:sp>
      <p:graphicFrame>
        <p:nvGraphicFramePr>
          <p:cNvPr id="5" name="Table 4"/>
          <p:cNvGraphicFramePr>
            <a:graphicFrameLocks noGrp="1"/>
          </p:cNvGraphicFramePr>
          <p:nvPr/>
        </p:nvGraphicFramePr>
        <p:xfrm>
          <a:off x="684000" y="1944000"/>
          <a:ext cx="9000000" cy="2376000"/>
        </p:xfrm>
        <a:graphic>
          <a:graphicData uri="http://schemas.openxmlformats.org/drawingml/2006/table">
            <a:tbl>
              <a:tblPr firstRow="1" bandRow="1">
                <a:tableStyleId>{5C22544A-7EE6-4342-B048-85BDC9FD1C3A}</a:tableStyleId>
              </a:tblPr>
              <a:tblGrid>
                <a:gridCol w="5400000"/>
                <a:gridCol w="1800000"/>
                <a:gridCol w="1800000"/>
              </a:tblGrid>
              <a:tr h="396000">
                <a:tc>
                  <a:txBody>
                    <a:bodyPr/>
                    <a:lstStyle/>
                    <a:p>
                      <a:r>
                        <a:rPr sz="1300" b="1">
                          <a:solidFill>
                            <a:srgbClr val="FCFCFB"/>
                          </a:solidFill>
                          <a:latin typeface="Calibri"/>
                        </a:rPr>
                        <a:t>Prédicteur, sans aucun apprentissage</a:t>
                      </a:r>
                    </a:p>
                  </a:txBody>
                  <a:tcPr>
                    <a:solidFill>
                      <a:srgbClr val="0B0B0B"/>
                    </a:solidFill>
                  </a:tcPr>
                </a:tc>
                <a:tc>
                  <a:txBody>
                    <a:bodyPr/>
                    <a:lstStyle/>
                    <a:p>
                      <a:r>
                        <a:rPr sz="1300" b="1">
                          <a:solidFill>
                            <a:srgbClr val="FCFCFB"/>
                          </a:solidFill>
                          <a:latin typeface="Calibri"/>
                        </a:rPr>
                        <a:t>PR-AUC</a:t>
                      </a:r>
                    </a:p>
                  </a:txBody>
                  <a:tcPr>
                    <a:solidFill>
                      <a:srgbClr val="0B0B0B"/>
                    </a:solidFill>
                  </a:tcPr>
                </a:tc>
                <a:tc>
                  <a:txBody>
                    <a:bodyPr/>
                    <a:lstStyle/>
                    <a:p>
                      <a:r>
                        <a:rPr sz="1300" b="1">
                          <a:solidFill>
                            <a:srgbClr val="FCFCFB"/>
                          </a:solidFill>
                          <a:latin typeface="Calibri"/>
                        </a:rPr>
                        <a:t>lift</a:t>
                      </a:r>
                    </a:p>
                  </a:txBody>
                  <a:tcPr>
                    <a:solidFill>
                      <a:srgbClr val="0B0B0B"/>
                    </a:solidFill>
                  </a:tcPr>
                </a:tc>
              </a:tr>
              <a:tr h="396000">
                <a:tc>
                  <a:txBody>
                    <a:bodyPr/>
                    <a:lstStyle/>
                    <a:p>
                      <a:r>
                        <a:rPr sz="1300" b="0">
                          <a:solidFill>
                            <a:srgbClr val="6B6963"/>
                          </a:solidFill>
                          <a:latin typeface="Calibri"/>
                        </a:rPr>
                        <a:t>0 · hasard</a:t>
                      </a:r>
                    </a:p>
                  </a:txBody>
                  <a:tcPr>
                    <a:solidFill>
                      <a:srgbClr val="FCFCFB"/>
                    </a:solidFill>
                  </a:tcPr>
                </a:tc>
                <a:tc>
                  <a:txBody>
                    <a:bodyPr/>
                    <a:lstStyle/>
                    <a:p>
                      <a:r>
                        <a:rPr sz="1300" b="0">
                          <a:solidFill>
                            <a:srgbClr val="6B6963"/>
                          </a:solidFill>
                          <a:latin typeface="Calibri"/>
                        </a:rPr>
                        <a:t>0.0002</a:t>
                      </a:r>
                    </a:p>
                  </a:txBody>
                  <a:tcPr>
                    <a:solidFill>
                      <a:srgbClr val="FCFCFB"/>
                    </a:solidFill>
                  </a:tcPr>
                </a:tc>
                <a:tc>
                  <a:txBody>
                    <a:bodyPr/>
                    <a:lstStyle/>
                    <a:p>
                      <a:r>
                        <a:rPr sz="1300" b="0">
                          <a:solidFill>
                            <a:srgbClr val="6B6963"/>
                          </a:solidFill>
                          <a:latin typeface="Calibri"/>
                        </a:rPr>
                        <a:t>×1.0</a:t>
                      </a:r>
                    </a:p>
                  </a:txBody>
                  <a:tcPr>
                    <a:solidFill>
                      <a:srgbClr val="FCFCFB"/>
                    </a:solidFill>
                  </a:tcPr>
                </a:tc>
              </a:tr>
              <a:tr h="396000">
                <a:tc>
                  <a:txBody>
                    <a:bodyPr/>
                    <a:lstStyle/>
                    <a:p>
                      <a:r>
                        <a:rPr sz="1300" b="0">
                          <a:solidFill>
                            <a:srgbClr val="6B6963"/>
                          </a:solidFill>
                          <a:latin typeface="Calibri"/>
                        </a:rPr>
                        <a:t>1 · historique commune (spatial)</a:t>
                      </a:r>
                    </a:p>
                  </a:txBody>
                  <a:tcPr>
                    <a:solidFill>
                      <a:srgbClr val="FCFCFB"/>
                    </a:solidFill>
                  </a:tcPr>
                </a:tc>
                <a:tc>
                  <a:txBody>
                    <a:bodyPr/>
                    <a:lstStyle/>
                    <a:p>
                      <a:r>
                        <a:rPr sz="1300" b="0">
                          <a:solidFill>
                            <a:srgbClr val="6B6963"/>
                          </a:solidFill>
                          <a:latin typeface="Calibri"/>
                        </a:rPr>
                        <a:t>0.0047</a:t>
                      </a:r>
                    </a:p>
                  </a:txBody>
                  <a:tcPr>
                    <a:solidFill>
                      <a:srgbClr val="FCFCFB"/>
                    </a:solidFill>
                  </a:tcPr>
                </a:tc>
                <a:tc>
                  <a:txBody>
                    <a:bodyPr/>
                    <a:lstStyle/>
                    <a:p>
                      <a:r>
                        <a:rPr sz="1300" b="0">
                          <a:solidFill>
                            <a:srgbClr val="6B6963"/>
                          </a:solidFill>
                          <a:latin typeface="Calibri"/>
                        </a:rPr>
                        <a:t>×19.4</a:t>
                      </a:r>
                    </a:p>
                  </a:txBody>
                  <a:tcPr>
                    <a:solidFill>
                      <a:srgbClr val="FCFCFB"/>
                    </a:solidFill>
                  </a:tcPr>
                </a:tc>
              </a:tr>
              <a:tr h="396000">
                <a:tc>
                  <a:txBody>
                    <a:bodyPr/>
                    <a:lstStyle/>
                    <a:p>
                      <a:r>
                        <a:rPr sz="1300" b="0">
                          <a:solidFill>
                            <a:srgbClr val="6B6963"/>
                          </a:solidFill>
                          <a:latin typeface="Calibri"/>
                        </a:rPr>
                        <a:t>2 · danger EFFIS (météo)</a:t>
                      </a:r>
                    </a:p>
                  </a:txBody>
                  <a:tcPr>
                    <a:solidFill>
                      <a:srgbClr val="FCFCFB"/>
                    </a:solidFill>
                  </a:tcPr>
                </a:tc>
                <a:tc>
                  <a:txBody>
                    <a:bodyPr/>
                    <a:lstStyle/>
                    <a:p>
                      <a:r>
                        <a:rPr sz="1300" b="0">
                          <a:solidFill>
                            <a:srgbClr val="6B6963"/>
                          </a:solidFill>
                          <a:latin typeface="Calibri"/>
                        </a:rPr>
                        <a:t>0.0012</a:t>
                      </a:r>
                    </a:p>
                  </a:txBody>
                  <a:tcPr>
                    <a:solidFill>
                      <a:srgbClr val="FCFCFB"/>
                    </a:solidFill>
                  </a:tcPr>
                </a:tc>
                <a:tc>
                  <a:txBody>
                    <a:bodyPr/>
                    <a:lstStyle/>
                    <a:p>
                      <a:r>
                        <a:rPr sz="1300" b="0">
                          <a:solidFill>
                            <a:srgbClr val="6B6963"/>
                          </a:solidFill>
                          <a:latin typeface="Calibri"/>
                        </a:rPr>
                        <a:t>×5.1</a:t>
                      </a:r>
                    </a:p>
                  </a:txBody>
                  <a:tcPr>
                    <a:solidFill>
                      <a:srgbClr val="FCFCFB"/>
                    </a:solidFill>
                  </a:tcPr>
                </a:tc>
              </a:tr>
              <a:tr h="396000">
                <a:tc>
                  <a:txBody>
                    <a:bodyPr/>
                    <a:lstStyle/>
                    <a:p>
                      <a:r>
                        <a:rPr sz="1300" b="0">
                          <a:solidFill>
                            <a:srgbClr val="6B6963"/>
                          </a:solidFill>
                          <a:latin typeface="Calibri"/>
                        </a:rPr>
                        <a:t>3 · historique × EFFIS</a:t>
                      </a:r>
                    </a:p>
                  </a:txBody>
                  <a:tcPr>
                    <a:solidFill>
                      <a:srgbClr val="FCFCFB"/>
                    </a:solidFill>
                  </a:tcPr>
                </a:tc>
                <a:tc>
                  <a:txBody>
                    <a:bodyPr/>
                    <a:lstStyle/>
                    <a:p>
                      <a:r>
                        <a:rPr sz="1300" b="0">
                          <a:solidFill>
                            <a:srgbClr val="6B6963"/>
                          </a:solidFill>
                          <a:latin typeface="Calibri"/>
                        </a:rPr>
                        <a:t>0.0101</a:t>
                      </a:r>
                    </a:p>
                  </a:txBody>
                  <a:tcPr>
                    <a:solidFill>
                      <a:srgbClr val="FCFCFB"/>
                    </a:solidFill>
                  </a:tcPr>
                </a:tc>
                <a:tc>
                  <a:txBody>
                    <a:bodyPr/>
                    <a:lstStyle/>
                    <a:p>
                      <a:r>
                        <a:rPr sz="1300" b="0">
                          <a:solidFill>
                            <a:srgbClr val="6B6963"/>
                          </a:solidFill>
                          <a:latin typeface="Calibri"/>
                        </a:rPr>
                        <a:t>×42.1</a:t>
                      </a:r>
                    </a:p>
                  </a:txBody>
                  <a:tcPr>
                    <a:solidFill>
                      <a:srgbClr val="FCFCFB"/>
                    </a:solidFill>
                  </a:tcPr>
                </a:tc>
              </a:tr>
              <a:tr h="396000">
                <a:tc>
                  <a:txBody>
                    <a:bodyPr/>
                    <a:lstStyle/>
                    <a:p>
                      <a:r>
                        <a:rPr sz="1300" b="1">
                          <a:solidFill>
                            <a:srgbClr val="0B0B0B"/>
                          </a:solidFill>
                          <a:latin typeface="Calibri"/>
                        </a:rPr>
                        <a:t>le modèle déployé, mesuré sur le test</a:t>
                      </a:r>
                    </a:p>
                  </a:txBody>
                  <a:tcPr>
                    <a:solidFill>
                      <a:srgbClr val="F2F1EC"/>
                    </a:solidFill>
                  </a:tcPr>
                </a:tc>
                <a:tc>
                  <a:txBody>
                    <a:bodyPr/>
                    <a:lstStyle/>
                    <a:p>
                      <a:r>
                        <a:rPr sz="1300" b="1">
                          <a:solidFill>
                            <a:srgbClr val="0B0B0B"/>
                          </a:solidFill>
                          <a:latin typeface="Calibri"/>
                        </a:rPr>
                        <a:t>0.0106</a:t>
                      </a:r>
                    </a:p>
                  </a:txBody>
                  <a:tcPr>
                    <a:solidFill>
                      <a:srgbClr val="F2F1EC"/>
                    </a:solidFill>
                  </a:tcPr>
                </a:tc>
                <a:tc>
                  <a:txBody>
                    <a:bodyPr/>
                    <a:lstStyle/>
                    <a:p>
                      <a:r>
                        <a:rPr sz="1300" b="1">
                          <a:solidFill>
                            <a:srgbClr val="0B0B0B"/>
                          </a:solidFill>
                          <a:latin typeface="Calibri"/>
                        </a:rPr>
                        <a:t>×63.7</a:t>
                      </a:r>
                    </a:p>
                  </a:txBody>
                  <a:tcPr>
                    <a:solidFill>
                      <a:srgbClr val="F2F1EC"/>
                    </a:solidFill>
                  </a:tcPr>
                </a:tc>
              </a:tr>
            </a:tbl>
          </a:graphicData>
        </a:graphic>
      </p:graphicFrame>
      <p:sp>
        <p:nvSpPr>
          <p:cNvPr id="6" name="Rectangle 5"/>
          <p:cNvSpPr/>
          <p:nvPr/>
        </p:nvSpPr>
        <p:spPr>
          <a:xfrm>
            <a:off x="684000" y="4608000"/>
            <a:ext cx="39600" cy="10800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4644000"/>
            <a:ext cx="10548000" cy="1080000"/>
          </a:xfrm>
          <a:prstGeom prst="rect">
            <a:avLst/>
          </a:prstGeom>
          <a:noFill/>
        </p:spPr>
        <p:txBody>
          <a:bodyPr wrap="square">
            <a:spAutoFit/>
          </a:bodyPr>
          <a:lstStyle/>
          <a:p>
            <a:pPr>
              <a:lnSpc>
                <a:spcPct val="130000"/>
              </a:lnSpc>
            </a:pPr>
            <a:r>
              <a:rPr sz="1500" b="0">
                <a:solidFill>
                  <a:srgbClr val="0B0B0B"/>
                </a:solidFill>
                <a:latin typeface="Calibri"/>
              </a:rPr>
              <a:t>L'historique spatial seul vaut déjà ×19, la météo seule ×5, et leur croisement ×42.</a:t>
            </a:r>
          </a:p>
          <a:p>
            <a:pPr>
              <a:lnSpc>
                <a:spcPct val="130000"/>
              </a:lnSpc>
            </a:pPr>
            <a:r>
              <a:rPr sz="1500" b="0">
                <a:solidFill>
                  <a:srgbClr val="0B0B0B"/>
                </a:solidFill>
                <a:latin typeface="Calibri"/>
              </a:rPr>
              <a:t>C'est la barre à battre, et non le hasard. Un modèle à ×30 serait moins bon qu'une règle de trois, tout en paraissant excellent.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Donner un risque aux communes sans historique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 v1 tirait 54,6 % de son importance de l'historique de la commune. Il disait surtout que ce qui a brûlé rebrûlera.</a:t>
            </a:r>
          </a:p>
        </p:txBody>
      </p:sp>
      <p:pic>
        <p:nvPicPr>
          <p:cNvPr id="5" name="Picture 4" descr="02_le-lissage-bayesien-rendre-une-estimation-aux-communes-sans.png"/>
          <p:cNvPicPr>
            <a:picLocks noChangeAspect="1"/>
          </p:cNvPicPr>
          <p:nvPr/>
        </p:nvPicPr>
        <p:blipFill>
          <a:blip r:embed="rId2"/>
          <a:stretch>
            <a:fillRect/>
          </a:stretch>
        </p:blipFill>
        <p:spPr>
          <a:xfrm>
            <a:off x="684000" y="2584441"/>
            <a:ext cx="6659999" cy="2499116"/>
          </a:xfrm>
          <a:prstGeom prst="rect">
            <a:avLst/>
          </a:prstGeom>
        </p:spPr>
      </p:pic>
      <p:sp>
        <p:nvSpPr>
          <p:cNvPr id="6" name="TextBox 5"/>
          <p:cNvSpPr txBox="1"/>
          <p:nvPr/>
        </p:nvSpPr>
        <p:spPr>
          <a:xfrm>
            <a:off x="7668000" y="1944000"/>
            <a:ext cx="3924000" cy="439200"/>
          </a:xfrm>
          <a:prstGeom prst="rect">
            <a:avLst/>
          </a:prstGeom>
          <a:noFill/>
        </p:spPr>
        <p:txBody>
          <a:bodyPr wrap="square">
            <a:spAutoFit/>
          </a:bodyPr>
          <a:lstStyle/>
          <a:p>
            <a:pPr>
              <a:lnSpc>
                <a:spcPct val="125000"/>
              </a:lnSpc>
            </a:pPr>
            <a:r>
              <a:rPr sz="1300" b="1">
                <a:solidFill>
                  <a:srgbClr val="0B0B0B"/>
                </a:solidFill>
                <a:latin typeface="Calibri"/>
              </a:rPr>
              <a:t>Le problème</a:t>
            </a:r>
          </a:p>
        </p:txBody>
      </p:sp>
      <p:sp>
        <p:nvSpPr>
          <p:cNvPr id="7" name="TextBox 6"/>
          <p:cNvSpPr txBox="1"/>
          <p:nvPr/>
        </p:nvSpPr>
        <p:spPr>
          <a:xfrm>
            <a:off x="7668000" y="2383200"/>
            <a:ext cx="3924000" cy="742996"/>
          </a:xfrm>
          <a:prstGeom prst="rect">
            <a:avLst/>
          </a:prstGeom>
          <a:noFill/>
        </p:spPr>
        <p:txBody>
          <a:bodyPr wrap="square">
            <a:spAutoFit/>
          </a:bodyPr>
          <a:lstStyle/>
          <a:p>
            <a:pPr>
              <a:lnSpc>
                <a:spcPct val="125000"/>
              </a:lnSpc>
            </a:pPr>
            <a:r>
              <a:rPr sz="1300" b="0">
                <a:solidFill>
                  <a:srgbClr val="6B6963"/>
                </a:solidFill>
                <a:latin typeface="Calibri"/>
              </a:rPr>
              <a:t>· Une commune qui n'a jamais brûlé gardait un score bas, même entourée de communes qui brûlent chaque été.</a:t>
            </a:r>
          </a:p>
        </p:txBody>
      </p:sp>
      <p:sp>
        <p:nvSpPr>
          <p:cNvPr id="8" name="TextBox 7"/>
          <p:cNvSpPr txBox="1"/>
          <p:nvPr/>
        </p:nvSpPr>
        <p:spPr>
          <a:xfrm>
            <a:off x="7668000" y="3147796"/>
            <a:ext cx="3924000" cy="439200"/>
          </a:xfrm>
          <a:prstGeom prst="rect">
            <a:avLst/>
          </a:prstGeom>
          <a:noFill/>
        </p:spPr>
        <p:txBody>
          <a:bodyPr wrap="square">
            <a:spAutoFit/>
          </a:bodyPr>
          <a:lstStyle/>
          <a:p>
            <a:pPr>
              <a:lnSpc>
                <a:spcPct val="125000"/>
              </a:lnSpc>
            </a:pPr>
            <a:r>
              <a:rPr sz="1300" b="1">
                <a:solidFill>
                  <a:srgbClr val="0B0B0B"/>
                </a:solidFill>
                <a:latin typeface="Calibri"/>
              </a:rPr>
              <a:t>La réponse</a:t>
            </a:r>
          </a:p>
        </p:txBody>
      </p:sp>
      <p:sp>
        <p:nvSpPr>
          <p:cNvPr id="9" name="TextBox 8"/>
          <p:cNvSpPr txBox="1"/>
          <p:nvPr/>
        </p:nvSpPr>
        <p:spPr>
          <a:xfrm>
            <a:off x="7668000" y="3586996"/>
            <a:ext cx="3924000" cy="1238328"/>
          </a:xfrm>
          <a:prstGeom prst="rect">
            <a:avLst/>
          </a:prstGeom>
          <a:noFill/>
        </p:spPr>
        <p:txBody>
          <a:bodyPr wrap="square">
            <a:spAutoFit/>
          </a:bodyPr>
          <a:lstStyle/>
          <a:p>
            <a:pPr>
              <a:lnSpc>
                <a:spcPct val="125000"/>
              </a:lnSpc>
            </a:pPr>
            <a:r>
              <a:rPr sz="1300" b="0">
                <a:solidFill>
                  <a:srgbClr val="6B6963"/>
                </a:solidFill>
                <a:latin typeface="Calibri"/>
              </a:rPr>
              <a:t>· Regrouper les communes qui se ressemblent physiquement, en 30 groupes formés sans jamais regarder le feu, puis faire retomber chaque commune vers le taux de son groupe, à proportion de ce qu'on sait d'elle.</a:t>
            </a:r>
          </a:p>
        </p:txBody>
      </p:sp>
      <p:sp>
        <p:nvSpPr>
          <p:cNvPr id="10" name="TextBox 9"/>
          <p:cNvSpPr txBox="1"/>
          <p:nvPr/>
        </p:nvSpPr>
        <p:spPr>
          <a:xfrm>
            <a:off x="7668000" y="4846924"/>
            <a:ext cx="3924000" cy="439200"/>
          </a:xfrm>
          <a:prstGeom prst="rect">
            <a:avLst/>
          </a:prstGeom>
          <a:noFill/>
        </p:spPr>
        <p:txBody>
          <a:bodyPr wrap="square">
            <a:spAutoFit/>
          </a:bodyPr>
          <a:lstStyle/>
          <a:p>
            <a:pPr>
              <a:lnSpc>
                <a:spcPct val="125000"/>
              </a:lnSpc>
            </a:pPr>
            <a:r>
              <a:rPr sz="1300" b="1">
                <a:solidFill>
                  <a:srgbClr val="0B0B0B"/>
                </a:solidFill>
                <a:latin typeface="Calibri"/>
              </a:rPr>
              <a:t>Le gain, mesuré</a:t>
            </a:r>
          </a:p>
        </p:txBody>
      </p:sp>
      <p:sp>
        <p:nvSpPr>
          <p:cNvPr id="11" name="TextBox 10"/>
          <p:cNvSpPr txBox="1"/>
          <p:nvPr/>
        </p:nvSpPr>
        <p:spPr>
          <a:xfrm>
            <a:off x="7668000" y="5286124"/>
            <a:ext cx="3924000" cy="495331"/>
          </a:xfrm>
          <a:prstGeom prst="rect">
            <a:avLst/>
          </a:prstGeom>
          <a:noFill/>
        </p:spPr>
        <p:txBody>
          <a:bodyPr wrap="square">
            <a:spAutoFit/>
          </a:bodyPr>
          <a:lstStyle/>
          <a:p>
            <a:pPr>
              <a:lnSpc>
                <a:spcPct val="125000"/>
              </a:lnSpc>
            </a:pPr>
            <a:r>
              <a:rPr sz="1300" b="0">
                <a:solidFill>
                  <a:srgbClr val="6B6963"/>
                </a:solidFill>
                <a:latin typeface="Calibri"/>
              </a:rPr>
              <a:t>· +0,83 % de PR-AUC. Réel mais modeste, et le dire fait partie du résultat.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Les modèles, sur la même validation</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38 068 464 communes-jours, 9 176 feux, taux 0,0241 %.</a:t>
            </a:r>
          </a:p>
        </p:txBody>
      </p:sp>
      <p:graphicFrame>
        <p:nvGraphicFramePr>
          <p:cNvPr id="5" name="Table 4"/>
          <p:cNvGraphicFramePr>
            <a:graphicFrameLocks noGrp="1"/>
          </p:cNvGraphicFramePr>
          <p:nvPr/>
        </p:nvGraphicFramePr>
        <p:xfrm>
          <a:off x="684000" y="1944000"/>
          <a:ext cx="8280000" cy="2376000"/>
        </p:xfrm>
        <a:graphic>
          <a:graphicData uri="http://schemas.openxmlformats.org/drawingml/2006/table">
            <a:tbl>
              <a:tblPr firstRow="1" bandRow="1">
                <a:tableStyleId>{5C22544A-7EE6-4342-B048-85BDC9FD1C3A}</a:tableStyleId>
              </a:tblPr>
              <a:tblGrid>
                <a:gridCol w="3420000"/>
                <a:gridCol w="1620000"/>
                <a:gridCol w="1620000"/>
                <a:gridCol w="1620000"/>
              </a:tblGrid>
              <a:tr h="396000">
                <a:tc>
                  <a:txBody>
                    <a:bodyPr/>
                    <a:lstStyle/>
                    <a:p>
                      <a:r>
                        <a:rPr sz="1300" b="1">
                          <a:solidFill>
                            <a:srgbClr val="FCFCFB"/>
                          </a:solidFill>
                          <a:latin typeface="Calibri"/>
                        </a:rPr>
                        <a:t>Modèle</a:t>
                      </a:r>
                    </a:p>
                  </a:txBody>
                  <a:tcPr>
                    <a:solidFill>
                      <a:srgbClr val="0B0B0B"/>
                    </a:solidFill>
                  </a:tcPr>
                </a:tc>
                <a:tc>
                  <a:txBody>
                    <a:bodyPr/>
                    <a:lstStyle/>
                    <a:p>
                      <a:r>
                        <a:rPr sz="1300" b="1">
                          <a:solidFill>
                            <a:srgbClr val="FCFCFB"/>
                          </a:solidFill>
                          <a:latin typeface="Calibri"/>
                        </a:rPr>
                        <a:t>PR-AUC</a:t>
                      </a:r>
                    </a:p>
                  </a:txBody>
                  <a:tcPr>
                    <a:solidFill>
                      <a:srgbClr val="0B0B0B"/>
                    </a:solidFill>
                  </a:tcPr>
                </a:tc>
                <a:tc>
                  <a:txBody>
                    <a:bodyPr/>
                    <a:lstStyle/>
                    <a:p>
                      <a:r>
                        <a:rPr sz="1300" b="1">
                          <a:solidFill>
                            <a:srgbClr val="FCFCFB"/>
                          </a:solidFill>
                          <a:latin typeface="Calibri"/>
                        </a:rPr>
                        <a:t>lift</a:t>
                      </a:r>
                    </a:p>
                  </a:txBody>
                  <a:tcPr>
                    <a:solidFill>
                      <a:srgbClr val="0B0B0B"/>
                    </a:solidFill>
                  </a:tcPr>
                </a:tc>
                <a:tc>
                  <a:txBody>
                    <a:bodyPr/>
                    <a:lstStyle/>
                    <a:p>
                      <a:r>
                        <a:rPr sz="1300" b="1">
                          <a:solidFill>
                            <a:srgbClr val="FCFCFB"/>
                          </a:solidFill>
                          <a:latin typeface="Calibri"/>
                        </a:rPr>
                        <a:t>vs XGBoost v3</a:t>
                      </a:r>
                    </a:p>
                  </a:txBody>
                  <a:tcPr>
                    <a:solidFill>
                      <a:srgbClr val="0B0B0B"/>
                    </a:solidFill>
                  </a:tcPr>
                </a:tc>
              </a:tr>
              <a:tr h="396000">
                <a:tc>
                  <a:txBody>
                    <a:bodyPr/>
                    <a:lstStyle/>
                    <a:p>
                      <a:r>
                        <a:rPr sz="1300" b="1">
                          <a:solidFill>
                            <a:srgbClr val="0B0B0B"/>
                          </a:solidFill>
                          <a:latin typeface="Calibri"/>
                        </a:rPr>
                        <a:t>XGBoost v3</a:t>
                      </a:r>
                    </a:p>
                  </a:txBody>
                  <a:tcPr>
                    <a:solidFill>
                      <a:srgbClr val="F2F1EC"/>
                    </a:solidFill>
                  </a:tcPr>
                </a:tc>
                <a:tc>
                  <a:txBody>
                    <a:bodyPr/>
                    <a:lstStyle/>
                    <a:p>
                      <a:r>
                        <a:rPr sz="1300" b="1">
                          <a:solidFill>
                            <a:srgbClr val="0B0B0B"/>
                          </a:solidFill>
                          <a:latin typeface="Calibri"/>
                        </a:rPr>
                        <a:t>0.0177</a:t>
                      </a:r>
                    </a:p>
                  </a:txBody>
                  <a:tcPr>
                    <a:solidFill>
                      <a:srgbClr val="F2F1EC"/>
                    </a:solidFill>
                  </a:tcPr>
                </a:tc>
                <a:tc>
                  <a:txBody>
                    <a:bodyPr/>
                    <a:lstStyle/>
                    <a:p>
                      <a:r>
                        <a:rPr sz="1300" b="1">
                          <a:solidFill>
                            <a:srgbClr val="0B0B0B"/>
                          </a:solidFill>
                          <a:latin typeface="Calibri"/>
                        </a:rPr>
                        <a:t>×73.4</a:t>
                      </a:r>
                    </a:p>
                  </a:txBody>
                  <a:tcPr>
                    <a:solidFill>
                      <a:srgbClr val="F2F1EC"/>
                    </a:solidFill>
                  </a:tcPr>
                </a:tc>
                <a:tc>
                  <a:txBody>
                    <a:bodyPr/>
                    <a:lstStyle/>
                    <a:p>
                      <a:r>
                        <a:rPr sz="1300" b="1">
                          <a:solidFill>
                            <a:srgbClr val="0B0B0B"/>
                          </a:solidFill>
                          <a:latin typeface="Calibri"/>
                        </a:rPr>
                        <a:t>référence</a:t>
                      </a:r>
                    </a:p>
                  </a:txBody>
                  <a:tcPr>
                    <a:solidFill>
                      <a:srgbClr val="F2F1EC"/>
                    </a:solidFill>
                  </a:tcPr>
                </a:tc>
              </a:tr>
              <a:tr h="396000">
                <a:tc>
                  <a:txBody>
                    <a:bodyPr/>
                    <a:lstStyle/>
                    <a:p>
                      <a:r>
                        <a:rPr sz="1300" b="0">
                          <a:solidFill>
                            <a:srgbClr val="6B6963"/>
                          </a:solidFill>
                          <a:latin typeface="Calibri"/>
                        </a:rPr>
                        <a:t>DART</a:t>
                      </a:r>
                    </a:p>
                  </a:txBody>
                  <a:tcPr>
                    <a:solidFill>
                      <a:srgbClr val="FCFCFB"/>
                    </a:solidFill>
                  </a:tcPr>
                </a:tc>
                <a:tc>
                  <a:txBody>
                    <a:bodyPr/>
                    <a:lstStyle/>
                    <a:p>
                      <a:r>
                        <a:rPr sz="1300" b="0">
                          <a:solidFill>
                            <a:srgbClr val="6B6963"/>
                          </a:solidFill>
                          <a:latin typeface="Calibri"/>
                        </a:rPr>
                        <a:t>0.0174</a:t>
                      </a:r>
                    </a:p>
                  </a:txBody>
                  <a:tcPr>
                    <a:solidFill>
                      <a:srgbClr val="FCFCFB"/>
                    </a:solidFill>
                  </a:tcPr>
                </a:tc>
                <a:tc>
                  <a:txBody>
                    <a:bodyPr/>
                    <a:lstStyle/>
                    <a:p>
                      <a:r>
                        <a:rPr sz="1300" b="0">
                          <a:solidFill>
                            <a:srgbClr val="6B6963"/>
                          </a:solidFill>
                          <a:latin typeface="Calibri"/>
                        </a:rPr>
                        <a:t>×72.0</a:t>
                      </a:r>
                    </a:p>
                  </a:txBody>
                  <a:tcPr>
                    <a:solidFill>
                      <a:srgbClr val="FCFCFB"/>
                    </a:solidFill>
                  </a:tcPr>
                </a:tc>
                <a:tc>
                  <a:txBody>
                    <a:bodyPr/>
                    <a:lstStyle/>
                    <a:p>
                      <a:r>
                        <a:rPr sz="1300" b="0">
                          <a:solidFill>
                            <a:srgbClr val="6B6963"/>
                          </a:solidFill>
                          <a:latin typeface="Calibri"/>
                        </a:rPr>
                        <a:t>-1.8 %</a:t>
                      </a:r>
                    </a:p>
                  </a:txBody>
                  <a:tcPr>
                    <a:solidFill>
                      <a:srgbClr val="FCFCFB"/>
                    </a:solidFill>
                  </a:tcPr>
                </a:tc>
              </a:tr>
              <a:tr h="396000">
                <a:tc>
                  <a:txBody>
                    <a:bodyPr/>
                    <a:lstStyle/>
                    <a:p>
                      <a:r>
                        <a:rPr sz="1300" b="0">
                          <a:solidFill>
                            <a:srgbClr val="6B6963"/>
                          </a:solidFill>
                          <a:latin typeface="Calibri"/>
                        </a:rPr>
                        <a:t>MLP</a:t>
                      </a:r>
                    </a:p>
                  </a:txBody>
                  <a:tcPr>
                    <a:solidFill>
                      <a:srgbClr val="FCFCFB"/>
                    </a:solidFill>
                  </a:tcPr>
                </a:tc>
                <a:tc>
                  <a:txBody>
                    <a:bodyPr/>
                    <a:lstStyle/>
                    <a:p>
                      <a:r>
                        <a:rPr sz="1300" b="0">
                          <a:solidFill>
                            <a:srgbClr val="6B6963"/>
                          </a:solidFill>
                          <a:latin typeface="Calibri"/>
                        </a:rPr>
                        <a:t>0.0173</a:t>
                      </a:r>
                    </a:p>
                  </a:txBody>
                  <a:tcPr>
                    <a:solidFill>
                      <a:srgbClr val="FCFCFB"/>
                    </a:solidFill>
                  </a:tcPr>
                </a:tc>
                <a:tc>
                  <a:txBody>
                    <a:bodyPr/>
                    <a:lstStyle/>
                    <a:p>
                      <a:r>
                        <a:rPr sz="1300" b="0">
                          <a:solidFill>
                            <a:srgbClr val="6B6963"/>
                          </a:solidFill>
                          <a:latin typeface="Calibri"/>
                        </a:rPr>
                        <a:t>×71.9</a:t>
                      </a:r>
                    </a:p>
                  </a:txBody>
                  <a:tcPr>
                    <a:solidFill>
                      <a:srgbClr val="FCFCFB"/>
                    </a:solidFill>
                  </a:tcPr>
                </a:tc>
                <a:tc>
                  <a:txBody>
                    <a:bodyPr/>
                    <a:lstStyle/>
                    <a:p>
                      <a:r>
                        <a:rPr sz="1300" b="0">
                          <a:solidFill>
                            <a:srgbClr val="6B6963"/>
                          </a:solidFill>
                          <a:latin typeface="Calibri"/>
                        </a:rPr>
                        <a:t>-1.9 %</a:t>
                      </a:r>
                    </a:p>
                  </a:txBody>
                  <a:tcPr>
                    <a:solidFill>
                      <a:srgbClr val="FCFCFB"/>
                    </a:solidFill>
                  </a:tcPr>
                </a:tc>
              </a:tr>
              <a:tr h="396000">
                <a:tc>
                  <a:txBody>
                    <a:bodyPr/>
                    <a:lstStyle/>
                    <a:p>
                      <a:r>
                        <a:rPr sz="1300" b="0">
                          <a:solidFill>
                            <a:srgbClr val="6B6963"/>
                          </a:solidFill>
                          <a:latin typeface="Calibri"/>
                        </a:rPr>
                        <a:t>XGBoost C</a:t>
                      </a:r>
                    </a:p>
                  </a:txBody>
                  <a:tcPr>
                    <a:solidFill>
                      <a:srgbClr val="FCFCFB"/>
                    </a:solidFill>
                  </a:tcPr>
                </a:tc>
                <a:tc>
                  <a:txBody>
                    <a:bodyPr/>
                    <a:lstStyle/>
                    <a:p>
                      <a:r>
                        <a:rPr sz="1300" b="0">
                          <a:solidFill>
                            <a:srgbClr val="6B6963"/>
                          </a:solidFill>
                          <a:latin typeface="Calibri"/>
                        </a:rPr>
                        <a:t>0.0112</a:t>
                      </a:r>
                    </a:p>
                  </a:txBody>
                  <a:tcPr>
                    <a:solidFill>
                      <a:srgbClr val="FCFCFB"/>
                    </a:solidFill>
                  </a:tcPr>
                </a:tc>
                <a:tc>
                  <a:txBody>
                    <a:bodyPr/>
                    <a:lstStyle/>
                    <a:p>
                      <a:r>
                        <a:rPr sz="1300" b="0">
                          <a:solidFill>
                            <a:srgbClr val="6B6963"/>
                          </a:solidFill>
                          <a:latin typeface="Calibri"/>
                        </a:rPr>
                        <a:t>×46.4</a:t>
                      </a:r>
                    </a:p>
                  </a:txBody>
                  <a:tcPr>
                    <a:solidFill>
                      <a:srgbClr val="FCFCFB"/>
                    </a:solidFill>
                  </a:tcPr>
                </a:tc>
                <a:tc>
                  <a:txBody>
                    <a:bodyPr/>
                    <a:lstStyle/>
                    <a:p>
                      <a:r>
                        <a:rPr sz="1300" b="0">
                          <a:solidFill>
                            <a:srgbClr val="6B6963"/>
                          </a:solidFill>
                          <a:latin typeface="Calibri"/>
                        </a:rPr>
                        <a:t>-36.8 %</a:t>
                      </a:r>
                    </a:p>
                  </a:txBody>
                  <a:tcPr>
                    <a:solidFill>
                      <a:srgbClr val="FCFCFB"/>
                    </a:solidFill>
                  </a:tcPr>
                </a:tc>
              </a:tr>
              <a:tr h="396000">
                <a:tc>
                  <a:txBody>
                    <a:bodyPr/>
                    <a:lstStyle/>
                    <a:p>
                      <a:r>
                        <a:rPr sz="1300" b="0">
                          <a:solidFill>
                            <a:srgbClr val="6B6963"/>
                          </a:solidFill>
                          <a:latin typeface="Calibri"/>
                        </a:rPr>
                        <a:t>LSTM</a:t>
                      </a:r>
                    </a:p>
                  </a:txBody>
                  <a:tcPr>
                    <a:solidFill>
                      <a:srgbClr val="FCFCFB"/>
                    </a:solidFill>
                  </a:tcPr>
                </a:tc>
                <a:tc>
                  <a:txBody>
                    <a:bodyPr/>
                    <a:lstStyle/>
                    <a:p>
                      <a:r>
                        <a:rPr sz="1300" b="0">
                          <a:solidFill>
                            <a:srgbClr val="6B6963"/>
                          </a:solidFill>
                          <a:latin typeface="Calibri"/>
                        </a:rPr>
                        <a:t>0.0085</a:t>
                      </a:r>
                    </a:p>
                  </a:txBody>
                  <a:tcPr>
                    <a:solidFill>
                      <a:srgbClr val="FCFCFB"/>
                    </a:solidFill>
                  </a:tcPr>
                </a:tc>
                <a:tc>
                  <a:txBody>
                    <a:bodyPr/>
                    <a:lstStyle/>
                    <a:p>
                      <a:r>
                        <a:rPr sz="1300" b="0">
                          <a:solidFill>
                            <a:srgbClr val="6B6963"/>
                          </a:solidFill>
                          <a:latin typeface="Calibri"/>
                        </a:rPr>
                        <a:t>×35.4</a:t>
                      </a:r>
                    </a:p>
                  </a:txBody>
                  <a:tcPr>
                    <a:solidFill>
                      <a:srgbClr val="FCFCFB"/>
                    </a:solidFill>
                  </a:tcPr>
                </a:tc>
                <a:tc>
                  <a:txBody>
                    <a:bodyPr/>
                    <a:lstStyle/>
                    <a:p>
                      <a:r>
                        <a:rPr sz="1300" b="0">
                          <a:solidFill>
                            <a:srgbClr val="6B6963"/>
                          </a:solidFill>
                          <a:latin typeface="Calibri"/>
                        </a:rPr>
                        <a:t>-51.7 %</a:t>
                      </a:r>
                    </a:p>
                  </a:txBody>
                  <a:tcPr>
                    <a:solidFill>
                      <a:srgbClr val="FCFCFB"/>
                    </a:solidFill>
                  </a:tcPr>
                </a:tc>
              </a:tr>
            </a:tbl>
          </a:graphicData>
        </a:graphic>
      </p:graphicFrame>
      <p:sp>
        <p:nvSpPr>
          <p:cNvPr id="6" name="TextBox 5"/>
          <p:cNvSpPr txBox="1"/>
          <p:nvPr/>
        </p:nvSpPr>
        <p:spPr>
          <a:xfrm>
            <a:off x="684000" y="4572000"/>
            <a:ext cx="10800000" cy="503999"/>
          </a:xfrm>
          <a:prstGeom prst="rect">
            <a:avLst/>
          </a:prstGeom>
          <a:noFill/>
        </p:spPr>
        <p:txBody>
          <a:bodyPr wrap="square">
            <a:spAutoFit/>
          </a:bodyPr>
          <a:lstStyle/>
          <a:p>
            <a:pPr>
              <a:lnSpc>
                <a:spcPct val="125000"/>
              </a:lnSpc>
            </a:pPr>
            <a:r>
              <a:rPr sz="1400" b="0">
                <a:solidFill>
                  <a:srgbClr val="6B6963"/>
                </a:solidFill>
                <a:latin typeface="Calibri"/>
              </a:rPr>
              <a:t>L'ensemble v3 + MLP monte à 0.0180 (×74.9), au prix de deux modèles à faire tourner en production.</a:t>
            </a:r>
          </a:p>
        </p:txBody>
      </p:sp>
      <p:sp>
        <p:nvSpPr>
          <p:cNvPr id="7" name="Rectangle 6"/>
          <p:cNvSpPr/>
          <p:nvPr/>
        </p:nvSpPr>
        <p:spPr>
          <a:xfrm>
            <a:off x="684000" y="5112000"/>
            <a:ext cx="39600" cy="792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000" y="5148000"/>
            <a:ext cx="10548000" cy="792000"/>
          </a:xfrm>
          <a:prstGeom prst="rect">
            <a:avLst/>
          </a:prstGeom>
          <a:noFill/>
        </p:spPr>
        <p:txBody>
          <a:bodyPr wrap="square">
            <a:spAutoFit/>
          </a:bodyPr>
          <a:lstStyle/>
          <a:p>
            <a:pPr>
              <a:lnSpc>
                <a:spcPct val="130000"/>
              </a:lnSpc>
            </a:pPr>
            <a:r>
              <a:rPr sz="1600" b="0">
                <a:solidFill>
                  <a:srgbClr val="0B0B0B"/>
                </a:solidFill>
                <a:latin typeface="Calibri"/>
              </a:rPr>
              <a:t>Aucun de ces écarts n'a été retenu sans intervalle de confiance. C'est l'objet de la diapositive suivante.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Ces écarts survivent-ils au bruit ?</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Bootstrap apparié, 200 répliques, rééchantillonnage des 34 734 communes.</a:t>
            </a:r>
          </a:p>
        </p:txBody>
      </p:sp>
      <p:pic>
        <p:nvPicPr>
          <p:cNvPr id="5" name="Picture 4" descr="modeles.png"/>
          <p:cNvPicPr>
            <a:picLocks noChangeAspect="1"/>
          </p:cNvPicPr>
          <p:nvPr/>
        </p:nvPicPr>
        <p:blipFill>
          <a:blip r:embed="rId2"/>
          <a:stretch>
            <a:fillRect/>
          </a:stretch>
        </p:blipFill>
        <p:spPr>
          <a:xfrm>
            <a:off x="1646958" y="1944000"/>
            <a:ext cx="8874082" cy="2951999"/>
          </a:xfrm>
          <a:prstGeom prst="rect">
            <a:avLst/>
          </a:prstGeom>
        </p:spPr>
      </p:pic>
      <p:sp>
        <p:nvSpPr>
          <p:cNvPr id="6" name="Rectangle 5"/>
          <p:cNvSpPr/>
          <p:nvPr/>
        </p:nvSpPr>
        <p:spPr>
          <a:xfrm>
            <a:off x="684000" y="5112000"/>
            <a:ext cx="39600" cy="1368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5148000"/>
            <a:ext cx="10548000" cy="1368000"/>
          </a:xfrm>
          <a:prstGeom prst="rect">
            <a:avLst/>
          </a:prstGeom>
          <a:noFill/>
        </p:spPr>
        <p:txBody>
          <a:bodyPr wrap="square">
            <a:spAutoFit/>
          </a:bodyPr>
          <a:lstStyle/>
          <a:p>
            <a:pPr>
              <a:lnSpc>
                <a:spcPct val="130000"/>
              </a:lnSpc>
            </a:pPr>
            <a:r>
              <a:rPr sz="1500" b="0">
                <a:solidFill>
                  <a:srgbClr val="0B0B0B"/>
                </a:solidFill>
                <a:latin typeface="Calibri"/>
              </a:rPr>
              <a:t>Le résultat le plus instructif de cette partie est négatif.</a:t>
            </a:r>
          </a:p>
          <a:p>
            <a:pPr>
              <a:lnSpc>
                <a:spcPct val="130000"/>
              </a:lnSpc>
            </a:pPr>
            <a:r>
              <a:rPr sz="1500" b="0">
                <a:solidFill>
                  <a:srgbClr val="0B0B0B"/>
                </a:solidFill>
                <a:latin typeface="Calibri"/>
              </a:rPr>
              <a:t>DART et le MLP paraissaient 1.8 % et 1.9 % moins bons. Leurs intervalles traversent zéro : les trois modèles sont indiscernables. Annoncer que XGBoost bat le MLP aurait été une conclusion tirée du bruit.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H3 · la séquence météo apporte-t-elle un signal en propre ?</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 réflexe standard face à une série temporelle. On l'a construit, optimisé, puis mesuré.</a:t>
            </a:r>
          </a:p>
        </p:txBody>
      </p:sp>
      <p:graphicFrame>
        <p:nvGraphicFramePr>
          <p:cNvPr id="5" name="Table 4"/>
          <p:cNvGraphicFramePr>
            <a:graphicFrameLocks noGrp="1"/>
          </p:cNvGraphicFramePr>
          <p:nvPr/>
        </p:nvGraphicFramePr>
        <p:xfrm>
          <a:off x="684000" y="1944000"/>
          <a:ext cx="4680000" cy="2736000"/>
        </p:xfrm>
        <a:graphic>
          <a:graphicData uri="http://schemas.openxmlformats.org/drawingml/2006/table">
            <a:tbl>
              <a:tblPr firstRow="1" bandRow="1">
                <a:tableStyleId>{5C22544A-7EE6-4342-B048-85BDC9FD1C3A}</a:tableStyleId>
              </a:tblPr>
              <a:tblGrid>
                <a:gridCol w="2700000"/>
                <a:gridCol w="1980000"/>
              </a:tblGrid>
              <a:tr h="342000">
                <a:tc>
                  <a:txBody>
                    <a:bodyPr/>
                    <a:lstStyle/>
                    <a:p>
                      <a:r>
                        <a:rPr sz="1200" b="1">
                          <a:solidFill>
                            <a:srgbClr val="FCFCFB"/>
                          </a:solidFill>
                          <a:latin typeface="Calibri"/>
                        </a:rPr>
                        <a:t>Hyperparamètre</a:t>
                      </a:r>
                    </a:p>
                  </a:txBody>
                  <a:tcPr>
                    <a:solidFill>
                      <a:srgbClr val="0B0B0B"/>
                    </a:solidFill>
                  </a:tcPr>
                </a:tc>
                <a:tc>
                  <a:txBody>
                    <a:bodyPr/>
                    <a:lstStyle/>
                    <a:p>
                      <a:r>
                        <a:rPr sz="1200" b="1">
                          <a:solidFill>
                            <a:srgbClr val="FCFCFB"/>
                          </a:solidFill>
                          <a:latin typeface="Calibri"/>
                        </a:rPr>
                        <a:t>Valeur retenue</a:t>
                      </a:r>
                    </a:p>
                  </a:txBody>
                  <a:tcPr>
                    <a:solidFill>
                      <a:srgbClr val="0B0B0B"/>
                    </a:solidFill>
                  </a:tcPr>
                </a:tc>
              </a:tr>
              <a:tr h="342000">
                <a:tc>
                  <a:txBody>
                    <a:bodyPr/>
                    <a:lstStyle/>
                    <a:p>
                      <a:r>
                        <a:rPr sz="1200" b="0">
                          <a:solidFill>
                            <a:srgbClr val="6B6963"/>
                          </a:solidFill>
                          <a:latin typeface="Calibri"/>
                        </a:rPr>
                        <a:t>cache</a:t>
                      </a:r>
                    </a:p>
                  </a:txBody>
                  <a:tcPr>
                    <a:solidFill>
                      <a:srgbClr val="FCFCFB"/>
                    </a:solidFill>
                  </a:tcPr>
                </a:tc>
                <a:tc>
                  <a:txBody>
                    <a:bodyPr/>
                    <a:lstStyle/>
                    <a:p>
                      <a:r>
                        <a:rPr sz="1200" b="0">
                          <a:solidFill>
                            <a:srgbClr val="6B6963"/>
                          </a:solidFill>
                          <a:latin typeface="Calibri"/>
                        </a:rPr>
                        <a:t>32</a:t>
                      </a:r>
                    </a:p>
                  </a:txBody>
                  <a:tcPr>
                    <a:solidFill>
                      <a:srgbClr val="FCFCFB"/>
                    </a:solidFill>
                  </a:tcPr>
                </a:tc>
              </a:tr>
              <a:tr h="342000">
                <a:tc>
                  <a:txBody>
                    <a:bodyPr/>
                    <a:lstStyle/>
                    <a:p>
                      <a:r>
                        <a:rPr sz="1200" b="0">
                          <a:solidFill>
                            <a:srgbClr val="6B6963"/>
                          </a:solidFill>
                          <a:latin typeface="Calibri"/>
                        </a:rPr>
                        <a:t>couches</a:t>
                      </a:r>
                    </a:p>
                  </a:txBody>
                  <a:tcPr>
                    <a:solidFill>
                      <a:srgbClr val="FCFCFB"/>
                    </a:solidFill>
                  </a:tcPr>
                </a:tc>
                <a:tc>
                  <a:txBody>
                    <a:bodyPr/>
                    <a:lstStyle/>
                    <a:p>
                      <a:r>
                        <a:rPr sz="1200" b="0">
                          <a:solidFill>
                            <a:srgbClr val="6B6963"/>
                          </a:solidFill>
                          <a:latin typeface="Calibri"/>
                        </a:rPr>
                        <a:t>2</a:t>
                      </a:r>
                    </a:p>
                  </a:txBody>
                  <a:tcPr>
                    <a:solidFill>
                      <a:srgbClr val="FCFCFB"/>
                    </a:solidFill>
                  </a:tcPr>
                </a:tc>
              </a:tr>
              <a:tr h="342000">
                <a:tc>
                  <a:txBody>
                    <a:bodyPr/>
                    <a:lstStyle/>
                    <a:p>
                      <a:r>
                        <a:rPr sz="1200" b="0">
                          <a:solidFill>
                            <a:srgbClr val="6B6963"/>
                          </a:solidFill>
                          <a:latin typeface="Calibri"/>
                        </a:rPr>
                        <a:t>dropout</a:t>
                      </a:r>
                    </a:p>
                  </a:txBody>
                  <a:tcPr>
                    <a:solidFill>
                      <a:srgbClr val="FCFCFB"/>
                    </a:solidFill>
                  </a:tcPr>
                </a:tc>
                <a:tc>
                  <a:txBody>
                    <a:bodyPr/>
                    <a:lstStyle/>
                    <a:p>
                      <a:r>
                        <a:rPr sz="1200" b="0">
                          <a:solidFill>
                            <a:srgbClr val="6B6963"/>
                          </a:solidFill>
                          <a:latin typeface="Calibri"/>
                        </a:rPr>
                        <a:t>0.17875</a:t>
                      </a:r>
                    </a:p>
                  </a:txBody>
                  <a:tcPr>
                    <a:solidFill>
                      <a:srgbClr val="FCFCFB"/>
                    </a:solidFill>
                  </a:tcPr>
                </a:tc>
              </a:tr>
              <a:tr h="342000">
                <a:tc>
                  <a:txBody>
                    <a:bodyPr/>
                    <a:lstStyle/>
                    <a:p>
                      <a:r>
                        <a:rPr sz="1200" b="0">
                          <a:solidFill>
                            <a:srgbClr val="6B6963"/>
                          </a:solidFill>
                          <a:latin typeface="Calibri"/>
                        </a:rPr>
                        <a:t>tete</a:t>
                      </a:r>
                    </a:p>
                  </a:txBody>
                  <a:tcPr>
                    <a:solidFill>
                      <a:srgbClr val="FCFCFB"/>
                    </a:solidFill>
                  </a:tcPr>
                </a:tc>
                <a:tc>
                  <a:txBody>
                    <a:bodyPr/>
                    <a:lstStyle/>
                    <a:p>
                      <a:r>
                        <a:rPr sz="1200" b="0">
                          <a:solidFill>
                            <a:srgbClr val="6B6963"/>
                          </a:solidFill>
                          <a:latin typeface="Calibri"/>
                        </a:rPr>
                        <a:t>256</a:t>
                      </a:r>
                    </a:p>
                  </a:txBody>
                  <a:tcPr>
                    <a:solidFill>
                      <a:srgbClr val="FCFCFB"/>
                    </a:solidFill>
                  </a:tcPr>
                </a:tc>
              </a:tr>
              <a:tr h="342000">
                <a:tc>
                  <a:txBody>
                    <a:bodyPr/>
                    <a:lstStyle/>
                    <a:p>
                      <a:r>
                        <a:rPr sz="1200" b="0">
                          <a:solidFill>
                            <a:srgbClr val="6B6963"/>
                          </a:solidFill>
                          <a:latin typeface="Calibri"/>
                        </a:rPr>
                        <a:t>lr</a:t>
                      </a:r>
                    </a:p>
                  </a:txBody>
                  <a:tcPr>
                    <a:solidFill>
                      <a:srgbClr val="FCFCFB"/>
                    </a:solidFill>
                  </a:tcPr>
                </a:tc>
                <a:tc>
                  <a:txBody>
                    <a:bodyPr/>
                    <a:lstStyle/>
                    <a:p>
                      <a:r>
                        <a:rPr sz="1200" b="0">
                          <a:solidFill>
                            <a:srgbClr val="6B6963"/>
                          </a:solidFill>
                          <a:latin typeface="Calibri"/>
                        </a:rPr>
                        <a:t>0.00078249</a:t>
                      </a:r>
                    </a:p>
                  </a:txBody>
                  <a:tcPr>
                    <a:solidFill>
                      <a:srgbClr val="FCFCFB"/>
                    </a:solidFill>
                  </a:tcPr>
                </a:tc>
              </a:tr>
              <a:tr h="342000">
                <a:tc>
                  <a:txBody>
                    <a:bodyPr/>
                    <a:lstStyle/>
                    <a:p>
                      <a:r>
                        <a:rPr sz="1200" b="0">
                          <a:solidFill>
                            <a:srgbClr val="6B6963"/>
                          </a:solidFill>
                          <a:latin typeface="Calibri"/>
                        </a:rPr>
                        <a:t>poids_l2</a:t>
                      </a:r>
                    </a:p>
                  </a:txBody>
                  <a:tcPr>
                    <a:solidFill>
                      <a:srgbClr val="FCFCFB"/>
                    </a:solidFill>
                  </a:tcPr>
                </a:tc>
                <a:tc>
                  <a:txBody>
                    <a:bodyPr/>
                    <a:lstStyle/>
                    <a:p>
                      <a:r>
                        <a:rPr sz="1200" b="0">
                          <a:solidFill>
                            <a:srgbClr val="6B6963"/>
                          </a:solidFill>
                          <a:latin typeface="Calibri"/>
                        </a:rPr>
                        <a:t>1.1515e-07</a:t>
                      </a:r>
                    </a:p>
                  </a:txBody>
                  <a:tcPr>
                    <a:solidFill>
                      <a:srgbClr val="FCFCFB"/>
                    </a:solidFill>
                  </a:tcPr>
                </a:tc>
              </a:tr>
              <a:tr h="342000">
                <a:tc>
                  <a:txBody>
                    <a:bodyPr/>
                    <a:lstStyle/>
                    <a:p>
                      <a:r>
                        <a:rPr sz="1200" b="0">
                          <a:solidFill>
                            <a:srgbClr val="6B6963"/>
                          </a:solidFill>
                          <a:latin typeface="Calibri"/>
                        </a:rPr>
                        <a:t>taille_lot</a:t>
                      </a:r>
                    </a:p>
                  </a:txBody>
                  <a:tcPr>
                    <a:solidFill>
                      <a:srgbClr val="FCFCFB"/>
                    </a:solidFill>
                  </a:tcPr>
                </a:tc>
                <a:tc>
                  <a:txBody>
                    <a:bodyPr/>
                    <a:lstStyle/>
                    <a:p>
                      <a:r>
                        <a:rPr sz="1200" b="0">
                          <a:solidFill>
                            <a:srgbClr val="6B6963"/>
                          </a:solidFill>
                          <a:latin typeface="Calibri"/>
                        </a:rPr>
                        <a:t>2048</a:t>
                      </a:r>
                    </a:p>
                  </a:txBody>
                  <a:tcPr>
                    <a:solidFill>
                      <a:srgbClr val="FCFCFB"/>
                    </a:solidFill>
                  </a:tcPr>
                </a:tc>
              </a:tr>
            </a:tbl>
          </a:graphicData>
        </a:graphic>
      </p:graphicFrame>
      <p:sp>
        <p:nvSpPr>
          <p:cNvPr id="6" name="TextBox 5"/>
          <p:cNvSpPr txBox="1"/>
          <p:nvPr/>
        </p:nvSpPr>
        <p:spPr>
          <a:xfrm>
            <a:off x="684000" y="4932000"/>
            <a:ext cx="5400000" cy="864000"/>
          </a:xfrm>
          <a:prstGeom prst="rect">
            <a:avLst/>
          </a:prstGeom>
          <a:noFill/>
        </p:spPr>
        <p:txBody>
          <a:bodyPr wrap="square">
            <a:spAutoFit/>
          </a:bodyPr>
          <a:lstStyle/>
          <a:p>
            <a:pPr>
              <a:lnSpc>
                <a:spcPct val="125000"/>
              </a:lnSpc>
            </a:pPr>
            <a:r>
              <a:rPr sz="1500" b="0">
                <a:solidFill>
                  <a:srgbClr val="6B6963"/>
                </a:solidFill>
                <a:latin typeface="Calibri"/>
              </a:rPr>
              <a:t>25 essais Optuna, arrêt précoce à l'époque 21.</a:t>
            </a:r>
          </a:p>
          <a:p>
            <a:pPr>
              <a:lnSpc>
                <a:spcPct val="125000"/>
              </a:lnSpc>
            </a:pPr>
            <a:r>
              <a:rPr sz="1500" b="0">
                <a:solidFill>
                  <a:srgbClr val="6B6963"/>
                </a:solidFill>
                <a:latin typeface="Calibri"/>
              </a:rPr>
              <a:t>L'objection « il n'a pas été réglé » ne tient pas.</a:t>
            </a:r>
          </a:p>
        </p:txBody>
      </p:sp>
      <p:sp>
        <p:nvSpPr>
          <p:cNvPr id="7" name="TextBox 6"/>
          <p:cNvSpPr txBox="1"/>
          <p:nvPr/>
        </p:nvSpPr>
        <p:spPr>
          <a:xfrm>
            <a:off x="6660000" y="2232000"/>
            <a:ext cx="4860000" cy="1224000"/>
          </a:xfrm>
          <a:prstGeom prst="rect">
            <a:avLst/>
          </a:prstGeom>
          <a:noFill/>
        </p:spPr>
        <p:txBody>
          <a:bodyPr wrap="square">
            <a:spAutoFit/>
          </a:bodyPr>
          <a:lstStyle/>
          <a:p>
            <a:pPr>
              <a:lnSpc>
                <a:spcPct val="100000"/>
              </a:lnSpc>
            </a:pPr>
            <a:r>
              <a:rPr sz="6200" b="1">
                <a:solidFill>
                  <a:srgbClr val="E34948"/>
                </a:solidFill>
                <a:latin typeface="Calibri"/>
              </a:rPr>
              <a:t>-23.6 %</a:t>
            </a:r>
          </a:p>
        </p:txBody>
      </p:sp>
      <p:sp>
        <p:nvSpPr>
          <p:cNvPr id="8" name="TextBox 7"/>
          <p:cNvSpPr txBox="1"/>
          <p:nvPr/>
        </p:nvSpPr>
        <p:spPr>
          <a:xfrm>
            <a:off x="6660000" y="3564000"/>
            <a:ext cx="4860000" cy="864000"/>
          </a:xfrm>
          <a:prstGeom prst="rect">
            <a:avLst/>
          </a:prstGeom>
          <a:noFill/>
        </p:spPr>
        <p:txBody>
          <a:bodyPr wrap="square">
            <a:spAutoFit/>
          </a:bodyPr>
          <a:lstStyle/>
          <a:p>
            <a:pPr>
              <a:lnSpc>
                <a:spcPct val="125000"/>
              </a:lnSpc>
            </a:pPr>
            <a:r>
              <a:rPr sz="1600" b="0">
                <a:solidFill>
                  <a:srgbClr val="6B6963"/>
                </a:solidFill>
                <a:latin typeface="Calibri"/>
              </a:rPr>
              <a:t>contre le modèle C, à information égale</a:t>
            </a:r>
          </a:p>
          <a:p>
            <a:pPr>
              <a:lnSpc>
                <a:spcPct val="125000"/>
              </a:lnSpc>
            </a:pPr>
            <a:r>
              <a:rPr sz="1600" b="0">
                <a:solidFill>
                  <a:srgbClr val="6B6963"/>
                </a:solidFill>
                <a:latin typeface="Calibri"/>
              </a:rPr>
              <a:t>intervalle [-33.5 ; -17.3], loin de zéro</a:t>
            </a:r>
          </a:p>
        </p:txBody>
      </p:sp>
      <p:sp>
        <p:nvSpPr>
          <p:cNvPr id="9" name="Rectangle 8"/>
          <p:cNvSpPr/>
          <p:nvPr/>
        </p:nvSpPr>
        <p:spPr>
          <a:xfrm>
            <a:off x="6660000" y="4644000"/>
            <a:ext cx="39600" cy="17280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4680000"/>
            <a:ext cx="4608000" cy="1728000"/>
          </a:xfrm>
          <a:prstGeom prst="rect">
            <a:avLst/>
          </a:prstGeom>
          <a:noFill/>
        </p:spPr>
        <p:txBody>
          <a:bodyPr wrap="square">
            <a:spAutoFit/>
          </a:bodyPr>
          <a:lstStyle/>
          <a:p>
            <a:pPr>
              <a:lnSpc>
                <a:spcPct val="130000"/>
              </a:lnSpc>
            </a:pPr>
            <a:r>
              <a:rPr sz="1400" b="0">
                <a:solidFill>
                  <a:srgbClr val="0B0B0B"/>
                </a:solidFill>
                <a:latin typeface="Calibri"/>
              </a:rPr>
              <a:t>La comparaison loyale n'est pas celle qu'on croit</a:t>
            </a:r>
          </a:p>
          <a:p>
            <a:pPr>
              <a:lnSpc>
                <a:spcPct val="130000"/>
              </a:lnSpc>
            </a:pPr>
            <a:r>
              <a:rPr sz="1400" b="0">
                <a:solidFill>
                  <a:srgbClr val="0B0B0B"/>
                </a:solidFill>
                <a:latin typeface="Calibri"/>
              </a:rPr>
              <a:t>XGBoost v3 voit l'historique des feux, soit 29 % de ses importances. Le LSTM n'en voit rien. Les opposer mesurerait le prix de l'information retirée, pas la valeur de la séquence. La seule référence à jeu d'information égal est le modèle 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Pourquoi il perd : l'explication est physique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Un LSTM sert quand l'ordre de la séquence porte une information qu'aucun résumé ne capture. Ici, ce résumé existe déjà.</a:t>
            </a:r>
          </a:p>
        </p:txBody>
      </p:sp>
      <p:sp>
        <p:nvSpPr>
          <p:cNvPr id="5" name="Rectangle 4"/>
          <p:cNvSpPr/>
          <p:nvPr/>
        </p:nvSpPr>
        <p:spPr>
          <a:xfrm>
            <a:off x="684000" y="1944000"/>
            <a:ext cx="39600" cy="15120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2000" y="1980000"/>
            <a:ext cx="10548000" cy="1512000"/>
          </a:xfrm>
          <a:prstGeom prst="rect">
            <a:avLst/>
          </a:prstGeom>
          <a:noFill/>
        </p:spPr>
        <p:txBody>
          <a:bodyPr wrap="square">
            <a:spAutoFit/>
          </a:bodyPr>
          <a:lstStyle/>
          <a:p>
            <a:pPr>
              <a:lnSpc>
                <a:spcPct val="130000"/>
              </a:lnSpc>
            </a:pPr>
            <a:r>
              <a:rPr sz="1500" b="0">
                <a:solidFill>
                  <a:srgbClr val="0B0B0B"/>
                </a:solidFill>
                <a:latin typeface="Calibri"/>
              </a:rPr>
              <a:t>Les indices DC, DMC et BUI du système canadien sont des états récursifs. Le Drought Code est une moyenne exponentielle de la météo passée, de constante de temps 52 jours ; le Duff Moisture Code, 15 jours.</a:t>
            </a:r>
          </a:p>
          <a:p>
            <a:pPr>
              <a:lnSpc>
                <a:spcPct val="130000"/>
              </a:lnSpc>
            </a:pPr>
            <a:r>
              <a:rPr sz="1500" b="0">
                <a:solidFill>
                  <a:srgbClr val="0B0B0B"/>
                </a:solidFill>
                <a:latin typeface="Calibri"/>
              </a:rPr>
              <a:t>C'est la forme d'une cellule récurrente, à ceci près que ses coefficients ont été calibrés par cinquante ans de science du feu plutôt qu'estimés sur 9 176 exemples positifs.</a:t>
            </a:r>
          </a:p>
        </p:txBody>
      </p:sp>
      <p:sp>
        <p:nvSpPr>
          <p:cNvPr id="7" name="TextBox 6"/>
          <p:cNvSpPr txBox="1"/>
          <p:nvPr/>
        </p:nvSpPr>
        <p:spPr>
          <a:xfrm>
            <a:off x="684000" y="3564000"/>
            <a:ext cx="10800000" cy="468000"/>
          </a:xfrm>
          <a:prstGeom prst="rect">
            <a:avLst/>
          </a:prstGeom>
          <a:noFill/>
        </p:spPr>
        <p:txBody>
          <a:bodyPr wrap="square">
            <a:spAutoFit/>
          </a:bodyPr>
          <a:lstStyle/>
          <a:p>
            <a:pPr>
              <a:lnSpc>
                <a:spcPct val="125000"/>
              </a:lnSpc>
            </a:pPr>
            <a:r>
              <a:rPr sz="1900" b="1">
                <a:solidFill>
                  <a:srgbClr val="0B0B0B"/>
                </a:solidFill>
                <a:latin typeface="Calibri"/>
              </a:rPr>
              <a:t>Le CEMS livre déjà l'état caché que le LSTM devrait réapprendre.</a:t>
            </a:r>
          </a:p>
        </p:txBody>
      </p:sp>
      <p:sp>
        <p:nvSpPr>
          <p:cNvPr id="8" name="TextBox 7"/>
          <p:cNvSpPr txBox="1"/>
          <p:nvPr/>
        </p:nvSpPr>
        <p:spPr>
          <a:xfrm>
            <a:off x="684000" y="4140000"/>
            <a:ext cx="10800000" cy="396000"/>
          </a:xfrm>
          <a:prstGeom prst="rect">
            <a:avLst/>
          </a:prstGeom>
          <a:noFill/>
        </p:spPr>
        <p:txBody>
          <a:bodyPr wrap="square">
            <a:spAutoFit/>
          </a:bodyPr>
          <a:lstStyle/>
          <a:p>
            <a:pPr>
              <a:lnSpc>
                <a:spcPct val="125000"/>
              </a:lnSpc>
            </a:pPr>
            <a:r>
              <a:rPr sz="1400" b="1">
                <a:solidFill>
                  <a:srgbClr val="0B0B0B"/>
                </a:solidFill>
                <a:latin typeface="Calibri"/>
              </a:rPr>
              <a:t>Trois observations indépendantes convergent</a:t>
            </a:r>
          </a:p>
        </p:txBody>
      </p:sp>
      <p:sp>
        <p:nvSpPr>
          <p:cNvPr id="9" name="TextBox 8"/>
          <p:cNvSpPr txBox="1"/>
          <p:nvPr/>
        </p:nvSpPr>
        <p:spPr>
          <a:xfrm>
            <a:off x="684000" y="4536000"/>
            <a:ext cx="10800000" cy="533433"/>
          </a:xfrm>
          <a:prstGeom prst="rect">
            <a:avLst/>
          </a:prstGeom>
          <a:noFill/>
        </p:spPr>
        <p:txBody>
          <a:bodyPr wrap="square">
            <a:spAutoFit/>
          </a:bodyPr>
          <a:lstStyle/>
          <a:p>
            <a:pPr>
              <a:lnSpc>
                <a:spcPct val="125000"/>
              </a:lnSpc>
            </a:pPr>
            <a:r>
              <a:rPr sz="1400" b="0">
                <a:solidFill>
                  <a:srgbClr val="6B6963"/>
                </a:solidFill>
                <a:latin typeface="Calibri"/>
              </a:rPr>
              <a:t>· la PACF des résidus tombe de 0.70 au premier retard à 0.08 au troisième : la mémoire utile de la série est de deux à trois jours ;</a:t>
            </a:r>
          </a:p>
        </p:txBody>
      </p:sp>
      <p:sp>
        <p:nvSpPr>
          <p:cNvPr id="10" name="TextBox 9"/>
          <p:cNvSpPr txBox="1"/>
          <p:nvPr/>
        </p:nvSpPr>
        <p:spPr>
          <a:xfrm>
            <a:off x="684000" y="5091033"/>
            <a:ext cx="10800000" cy="396000"/>
          </a:xfrm>
          <a:prstGeom prst="rect">
            <a:avLst/>
          </a:prstGeom>
          <a:noFill/>
        </p:spPr>
        <p:txBody>
          <a:bodyPr wrap="square">
            <a:spAutoFit/>
          </a:bodyPr>
          <a:lstStyle/>
          <a:p>
            <a:pPr>
              <a:lnSpc>
                <a:spcPct val="125000"/>
              </a:lnSpc>
            </a:pPr>
            <a:r>
              <a:rPr sz="1400" b="0">
                <a:solidFill>
                  <a:srgbClr val="6B6963"/>
                </a:solidFill>
                <a:latin typeface="Calibri"/>
              </a:rPr>
              <a:t>· l'ARIMA sans exogène est inutilisable, avec r = -0.118, une corrélation négative ;</a:t>
            </a:r>
          </a:p>
        </p:txBody>
      </p:sp>
      <p:sp>
        <p:nvSpPr>
          <p:cNvPr id="11" name="TextBox 10"/>
          <p:cNvSpPr txBox="1"/>
          <p:nvPr/>
        </p:nvSpPr>
        <p:spPr>
          <a:xfrm>
            <a:off x="684000" y="5487033"/>
            <a:ext cx="10800000" cy="533433"/>
          </a:xfrm>
          <a:prstGeom prst="rect">
            <a:avLst/>
          </a:prstGeom>
          <a:noFill/>
        </p:spPr>
        <p:txBody>
          <a:bodyPr wrap="square">
            <a:spAutoFit/>
          </a:bodyPr>
          <a:lstStyle/>
          <a:p>
            <a:pPr>
              <a:lnSpc>
                <a:spcPct val="125000"/>
              </a:lnSpc>
            </a:pPr>
            <a:r>
              <a:rPr sz="1400" b="0">
                <a:solidFill>
                  <a:srgbClr val="6B6963"/>
                </a:solidFill>
                <a:latin typeface="Calibri"/>
              </a:rPr>
              <a:t>· les trois premières variables du modèle C sont part_maquis, danger_effis et erc : le signal dit surtout où se trouve le combustible.</a:t>
            </a:r>
          </a:p>
        </p:txBody>
      </p:sp>
      <p:sp>
        <p:nvSpPr>
          <p:cNvPr id="12" name="Rectangle 11"/>
          <p:cNvSpPr/>
          <p:nvPr/>
        </p:nvSpPr>
        <p:spPr>
          <a:xfrm>
            <a:off x="684000" y="6150067"/>
            <a:ext cx="39600" cy="792000"/>
          </a:xfrm>
          <a:prstGeom prst="rect">
            <a:avLst/>
          </a:prstGeom>
          <a:solidFill>
            <a:srgbClr val="C3C2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2000" y="6186067"/>
            <a:ext cx="10548000" cy="792000"/>
          </a:xfrm>
          <a:prstGeom prst="rect">
            <a:avLst/>
          </a:prstGeom>
          <a:noFill/>
        </p:spPr>
        <p:txBody>
          <a:bodyPr wrap="square">
            <a:spAutoFit/>
          </a:bodyPr>
          <a:lstStyle/>
          <a:p>
            <a:pPr>
              <a:lnSpc>
                <a:spcPct val="130000"/>
              </a:lnSpc>
            </a:pPr>
            <a:r>
              <a:rPr sz="1350" b="0">
                <a:solidFill>
                  <a:srgbClr val="0B0B0B"/>
                </a:solidFill>
                <a:latin typeface="Calibri"/>
              </a:rPr>
              <a:t>Nuance : les retards 4 à 8 restent significatifs. Avec 7 305 jours le seuil descend à ±0.023, et presque tout le devient. Le retard 8, à 0.034, rend compte de 0.11 % de la variance. Significatif ne veut pas dire utile.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Ce que le passé de la série prédit à lui seul</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Un détour par les méthodes classiques, qui sert de contre-épreuve au LSTM.</a:t>
            </a:r>
          </a:p>
        </p:txBody>
      </p:sp>
      <p:graphicFrame>
        <p:nvGraphicFramePr>
          <p:cNvPr id="5" name="Table 4"/>
          <p:cNvGraphicFramePr>
            <a:graphicFrameLocks noGrp="1"/>
          </p:cNvGraphicFramePr>
          <p:nvPr/>
        </p:nvGraphicFramePr>
        <p:xfrm>
          <a:off x="684000" y="1944000"/>
          <a:ext cx="5220000" cy="1800000"/>
        </p:xfrm>
        <a:graphic>
          <a:graphicData uri="http://schemas.openxmlformats.org/drawingml/2006/table">
            <a:tbl>
              <a:tblPr firstRow="1" bandRow="1">
                <a:tableStyleId>{5C22544A-7EE6-4342-B048-85BDC9FD1C3A}</a:tableStyleId>
              </a:tblPr>
              <a:tblGrid>
                <a:gridCol w="2160000"/>
                <a:gridCol w="1080000"/>
                <a:gridCol w="1080000"/>
                <a:gridCol w="900000"/>
              </a:tblGrid>
              <a:tr h="360000">
                <a:tc>
                  <a:txBody>
                    <a:bodyPr/>
                    <a:lstStyle/>
                    <a:p>
                      <a:r>
                        <a:rPr sz="1200" b="1">
                          <a:solidFill>
                            <a:srgbClr val="FCFCFB"/>
                          </a:solidFill>
                          <a:latin typeface="Calibri"/>
                        </a:rPr>
                        <a:t>Série testée</a:t>
                      </a:r>
                    </a:p>
                  </a:txBody>
                  <a:tcPr>
                    <a:solidFill>
                      <a:srgbClr val="0B0B0B"/>
                    </a:solidFill>
                  </a:tcPr>
                </a:tc>
                <a:tc>
                  <a:txBody>
                    <a:bodyPr/>
                    <a:lstStyle/>
                    <a:p>
                      <a:r>
                        <a:rPr sz="1200" b="1">
                          <a:solidFill>
                            <a:srgbClr val="FCFCFB"/>
                          </a:solidFill>
                          <a:latin typeface="Calibri"/>
                        </a:rPr>
                        <a:t>stat ADF</a:t>
                      </a:r>
                    </a:p>
                  </a:txBody>
                  <a:tcPr>
                    <a:solidFill>
                      <a:srgbClr val="0B0B0B"/>
                    </a:solidFill>
                  </a:tcPr>
                </a:tc>
                <a:tc>
                  <a:txBody>
                    <a:bodyPr/>
                    <a:lstStyle/>
                    <a:p>
                      <a:r>
                        <a:rPr sz="1200" b="1">
                          <a:solidFill>
                            <a:srgbClr val="FCFCFB"/>
                          </a:solidFill>
                          <a:latin typeface="Calibri"/>
                        </a:rPr>
                        <a:t>p</a:t>
                      </a:r>
                    </a:p>
                  </a:txBody>
                  <a:tcPr>
                    <a:solidFill>
                      <a:srgbClr val="0B0B0B"/>
                    </a:solidFill>
                  </a:tcPr>
                </a:tc>
                <a:tc>
                  <a:txBody>
                    <a:bodyPr/>
                    <a:lstStyle/>
                    <a:p>
                      <a:r>
                        <a:rPr sz="1200" b="1">
                          <a:solidFill>
                            <a:srgbClr val="FCFCFB"/>
                          </a:solidFill>
                          <a:latin typeface="Calibri"/>
                        </a:rPr>
                        <a:t>Conclusion</a:t>
                      </a:r>
                    </a:p>
                  </a:txBody>
                  <a:tcPr>
                    <a:solidFill>
                      <a:srgbClr val="0B0B0B"/>
                    </a:solidFill>
                  </a:tcPr>
                </a:tc>
              </a:tr>
              <a:tr h="360000">
                <a:tc>
                  <a:txBody>
                    <a:bodyPr/>
                    <a:lstStyle/>
                    <a:p>
                      <a:r>
                        <a:rPr sz="1200" b="0">
                          <a:solidFill>
                            <a:srgbClr val="6B6963"/>
                          </a:solidFill>
                          <a:latin typeface="Calibri"/>
                        </a:rPr>
                        <a:t>feux par jour</a:t>
                      </a:r>
                    </a:p>
                  </a:txBody>
                  <a:tcPr>
                    <a:solidFill>
                      <a:srgbClr val="FCFCFB"/>
                    </a:solidFill>
                  </a:tcPr>
                </a:tc>
                <a:tc>
                  <a:txBody>
                    <a:bodyPr/>
                    <a:lstStyle/>
                    <a:p>
                      <a:r>
                        <a:rPr sz="1200" b="0">
                          <a:solidFill>
                            <a:srgbClr val="6B6963"/>
                          </a:solidFill>
                          <a:latin typeface="Calibri"/>
                        </a:rPr>
                        <a:t>-10.12</a:t>
                      </a:r>
                    </a:p>
                  </a:txBody>
                  <a:tcPr>
                    <a:solidFill>
                      <a:srgbClr val="FCFCFB"/>
                    </a:solidFill>
                  </a:tcPr>
                </a:tc>
                <a:tc>
                  <a:txBody>
                    <a:bodyPr/>
                    <a:lstStyle/>
                    <a:p>
                      <a:r>
                        <a:rPr sz="1200" b="0">
                          <a:solidFill>
                            <a:srgbClr val="6B6963"/>
                          </a:solidFill>
                          <a:latin typeface="Calibri"/>
                        </a:rPr>
                        <a:t>9.7e-18</a:t>
                      </a:r>
                    </a:p>
                  </a:txBody>
                  <a:tcPr>
                    <a:solidFill>
                      <a:srgbClr val="FCFCFB"/>
                    </a:solidFill>
                  </a:tcPr>
                </a:tc>
                <a:tc>
                  <a:txBody>
                    <a:bodyPr/>
                    <a:lstStyle/>
                    <a:p>
                      <a:r>
                        <a:rPr sz="1200" b="0">
                          <a:solidFill>
                            <a:srgbClr val="6B6963"/>
                          </a:solidFill>
                          <a:latin typeface="Calibri"/>
                        </a:rPr>
                        <a:t>stationnaire</a:t>
                      </a:r>
                    </a:p>
                  </a:txBody>
                  <a:tcPr>
                    <a:solidFill>
                      <a:srgbClr val="FCFCFB"/>
                    </a:solidFill>
                  </a:tcPr>
                </a:tc>
              </a:tr>
              <a:tr h="360000">
                <a:tc>
                  <a:txBody>
                    <a:bodyPr/>
                    <a:lstStyle/>
                    <a:p>
                      <a:r>
                        <a:rPr sz="1200" b="0">
                          <a:solidFill>
                            <a:srgbClr val="6B6963"/>
                          </a:solidFill>
                          <a:latin typeface="Calibri"/>
                        </a:rPr>
                        <a:t>FWI national</a:t>
                      </a:r>
                    </a:p>
                  </a:txBody>
                  <a:tcPr>
                    <a:solidFill>
                      <a:srgbClr val="FCFCFB"/>
                    </a:solidFill>
                  </a:tcPr>
                </a:tc>
                <a:tc>
                  <a:txBody>
                    <a:bodyPr/>
                    <a:lstStyle/>
                    <a:p>
                      <a:r>
                        <a:rPr sz="1200" b="0">
                          <a:solidFill>
                            <a:srgbClr val="6B6963"/>
                          </a:solidFill>
                          <a:latin typeface="Calibri"/>
                        </a:rPr>
                        <a:t>-7.30</a:t>
                      </a:r>
                    </a:p>
                  </a:txBody>
                  <a:tcPr>
                    <a:solidFill>
                      <a:srgbClr val="FCFCFB"/>
                    </a:solidFill>
                  </a:tcPr>
                </a:tc>
                <a:tc>
                  <a:txBody>
                    <a:bodyPr/>
                    <a:lstStyle/>
                    <a:p>
                      <a:r>
                        <a:rPr sz="1200" b="0">
                          <a:solidFill>
                            <a:srgbClr val="6B6963"/>
                          </a:solidFill>
                          <a:latin typeface="Calibri"/>
                        </a:rPr>
                        <a:t>1.3e-10</a:t>
                      </a:r>
                    </a:p>
                  </a:txBody>
                  <a:tcPr>
                    <a:solidFill>
                      <a:srgbClr val="FCFCFB"/>
                    </a:solidFill>
                  </a:tcPr>
                </a:tc>
                <a:tc>
                  <a:txBody>
                    <a:bodyPr/>
                    <a:lstStyle/>
                    <a:p>
                      <a:r>
                        <a:rPr sz="1200" b="0">
                          <a:solidFill>
                            <a:srgbClr val="6B6963"/>
                          </a:solidFill>
                          <a:latin typeface="Calibri"/>
                        </a:rPr>
                        <a:t>stationnaire</a:t>
                      </a:r>
                    </a:p>
                  </a:txBody>
                  <a:tcPr>
                    <a:solidFill>
                      <a:srgbClr val="FCFCFB"/>
                    </a:solidFill>
                  </a:tcPr>
                </a:tc>
              </a:tr>
              <a:tr h="360000">
                <a:tc>
                  <a:txBody>
                    <a:bodyPr/>
                    <a:lstStyle/>
                    <a:p>
                      <a:r>
                        <a:rPr sz="1200" b="0">
                          <a:solidFill>
                            <a:srgbClr val="6B6963"/>
                          </a:solidFill>
                          <a:latin typeface="Calibri"/>
                        </a:rPr>
                        <a:t>feux, différenciée 1 jour</a:t>
                      </a:r>
                    </a:p>
                  </a:txBody>
                  <a:tcPr>
                    <a:solidFill>
                      <a:srgbClr val="FCFCFB"/>
                    </a:solidFill>
                  </a:tcPr>
                </a:tc>
                <a:tc>
                  <a:txBody>
                    <a:bodyPr/>
                    <a:lstStyle/>
                    <a:p>
                      <a:r>
                        <a:rPr sz="1200" b="0">
                          <a:solidFill>
                            <a:srgbClr val="6B6963"/>
                          </a:solidFill>
                          <a:latin typeface="Calibri"/>
                        </a:rPr>
                        <a:t>-24.56</a:t>
                      </a:r>
                    </a:p>
                  </a:txBody>
                  <a:tcPr>
                    <a:solidFill>
                      <a:srgbClr val="FCFCFB"/>
                    </a:solidFill>
                  </a:tcPr>
                </a:tc>
                <a:tc>
                  <a:txBody>
                    <a:bodyPr/>
                    <a:lstStyle/>
                    <a:p>
                      <a:r>
                        <a:rPr sz="1200" b="0">
                          <a:solidFill>
                            <a:srgbClr val="6B6963"/>
                          </a:solidFill>
                          <a:latin typeface="Calibri"/>
                        </a:rPr>
                        <a:t>0.0e+00</a:t>
                      </a:r>
                    </a:p>
                  </a:txBody>
                  <a:tcPr>
                    <a:solidFill>
                      <a:srgbClr val="FCFCFB"/>
                    </a:solidFill>
                  </a:tcPr>
                </a:tc>
                <a:tc>
                  <a:txBody>
                    <a:bodyPr/>
                    <a:lstStyle/>
                    <a:p>
                      <a:r>
                        <a:rPr sz="1200" b="0">
                          <a:solidFill>
                            <a:srgbClr val="6B6963"/>
                          </a:solidFill>
                          <a:latin typeface="Calibri"/>
                        </a:rPr>
                        <a:t>stationnaire</a:t>
                      </a:r>
                    </a:p>
                  </a:txBody>
                  <a:tcPr>
                    <a:solidFill>
                      <a:srgbClr val="FCFCFB"/>
                    </a:solidFill>
                  </a:tcPr>
                </a:tc>
              </a:tr>
              <a:tr h="360000">
                <a:tc>
                  <a:txBody>
                    <a:bodyPr/>
                    <a:lstStyle/>
                    <a:p>
                      <a:r>
                        <a:rPr sz="1200" b="0">
                          <a:solidFill>
                            <a:srgbClr val="6B6963"/>
                          </a:solidFill>
                          <a:latin typeface="Calibri"/>
                        </a:rPr>
                        <a:t>feux par AN (20 points)</a:t>
                      </a:r>
                    </a:p>
                  </a:txBody>
                  <a:tcPr>
                    <a:solidFill>
                      <a:srgbClr val="FCFCFB"/>
                    </a:solidFill>
                  </a:tcPr>
                </a:tc>
                <a:tc>
                  <a:txBody>
                    <a:bodyPr/>
                    <a:lstStyle/>
                    <a:p>
                      <a:r>
                        <a:rPr sz="1200" b="0">
                          <a:solidFill>
                            <a:srgbClr val="6B6963"/>
                          </a:solidFill>
                          <a:latin typeface="Calibri"/>
                        </a:rPr>
                        <a:t>-3.85</a:t>
                      </a:r>
                    </a:p>
                  </a:txBody>
                  <a:tcPr>
                    <a:solidFill>
                      <a:srgbClr val="FCFCFB"/>
                    </a:solidFill>
                  </a:tcPr>
                </a:tc>
                <a:tc>
                  <a:txBody>
                    <a:bodyPr/>
                    <a:lstStyle/>
                    <a:p>
                      <a:r>
                        <a:rPr sz="1200" b="0">
                          <a:solidFill>
                            <a:srgbClr val="6B6963"/>
                          </a:solidFill>
                          <a:latin typeface="Calibri"/>
                        </a:rPr>
                        <a:t>2.4e-03</a:t>
                      </a:r>
                    </a:p>
                  </a:txBody>
                  <a:tcPr>
                    <a:solidFill>
                      <a:srgbClr val="FCFCFB"/>
                    </a:solidFill>
                  </a:tcPr>
                </a:tc>
                <a:tc>
                  <a:txBody>
                    <a:bodyPr/>
                    <a:lstStyle/>
                    <a:p>
                      <a:r>
                        <a:rPr sz="1200" b="0">
                          <a:solidFill>
                            <a:srgbClr val="6B6963"/>
                          </a:solidFill>
                          <a:latin typeface="Calibri"/>
                        </a:rPr>
                        <a:t>stationnaire</a:t>
                      </a:r>
                    </a:p>
                  </a:txBody>
                  <a:tcPr>
                    <a:solidFill>
                      <a:srgbClr val="FCFCFB"/>
                    </a:solidFill>
                  </a:tcPr>
                </a:tc>
              </a:tr>
            </a:tbl>
          </a:graphicData>
        </a:graphic>
      </p:graphicFrame>
      <p:sp>
        <p:nvSpPr>
          <p:cNvPr id="6" name="TextBox 5"/>
          <p:cNvSpPr txBox="1"/>
          <p:nvPr/>
        </p:nvSpPr>
        <p:spPr>
          <a:xfrm>
            <a:off x="684000" y="3888000"/>
            <a:ext cx="5220000" cy="864000"/>
          </a:xfrm>
          <a:prstGeom prst="rect">
            <a:avLst/>
          </a:prstGeom>
          <a:noFill/>
        </p:spPr>
        <p:txBody>
          <a:bodyPr wrap="square">
            <a:spAutoFit/>
          </a:bodyPr>
          <a:lstStyle/>
          <a:p>
            <a:pPr>
              <a:lnSpc>
                <a:spcPct val="125000"/>
              </a:lnSpc>
            </a:pPr>
            <a:r>
              <a:rPr sz="1300" b="0">
                <a:solidFill>
                  <a:srgbClr val="6B6963"/>
                </a:solidFill>
                <a:latin typeface="Calibri"/>
              </a:rPr>
              <a:t>H₀ est « la série a une racine unitaire », donc non stationnaire. Rejeter H₀ signifie stationnaire, ce qui est l'inverse de l'intuition.</a:t>
            </a:r>
          </a:p>
        </p:txBody>
      </p:sp>
      <p:graphicFrame>
        <p:nvGraphicFramePr>
          <p:cNvPr id="7" name="Table 6"/>
          <p:cNvGraphicFramePr>
            <a:graphicFrameLocks noGrp="1"/>
          </p:cNvGraphicFramePr>
          <p:nvPr/>
        </p:nvGraphicFramePr>
        <p:xfrm>
          <a:off x="6300000" y="1944000"/>
          <a:ext cx="5219999" cy="1440000"/>
        </p:xfrm>
        <a:graphic>
          <a:graphicData uri="http://schemas.openxmlformats.org/drawingml/2006/table">
            <a:tbl>
              <a:tblPr firstRow="1" bandRow="1">
                <a:tableStyleId>{5C22544A-7EE6-4342-B048-85BDC9FD1C3A}</a:tableStyleId>
              </a:tblPr>
              <a:tblGrid>
                <a:gridCol w="3240000"/>
                <a:gridCol w="1007999"/>
                <a:gridCol w="972000"/>
              </a:tblGrid>
              <a:tr h="360000">
                <a:tc>
                  <a:txBody>
                    <a:bodyPr/>
                    <a:lstStyle/>
                    <a:p>
                      <a:r>
                        <a:rPr sz="1200" b="1">
                          <a:solidFill>
                            <a:srgbClr val="FCFCFB"/>
                          </a:solidFill>
                          <a:latin typeface="Calibri"/>
                        </a:rPr>
                        <a:t>Modèle</a:t>
                      </a:r>
                    </a:p>
                  </a:txBody>
                  <a:tcPr>
                    <a:solidFill>
                      <a:srgbClr val="0B0B0B"/>
                    </a:solidFill>
                  </a:tcPr>
                </a:tc>
                <a:tc>
                  <a:txBody>
                    <a:bodyPr/>
                    <a:lstStyle/>
                    <a:p>
                      <a:r>
                        <a:rPr sz="1200" b="1">
                          <a:solidFill>
                            <a:srgbClr val="FCFCFB"/>
                          </a:solidFill>
                          <a:latin typeface="Calibri"/>
                        </a:rPr>
                        <a:t>MAE</a:t>
                      </a:r>
                    </a:p>
                  </a:txBody>
                  <a:tcPr>
                    <a:solidFill>
                      <a:srgbClr val="0B0B0B"/>
                    </a:solidFill>
                  </a:tcPr>
                </a:tc>
                <a:tc>
                  <a:txBody>
                    <a:bodyPr/>
                    <a:lstStyle/>
                    <a:p>
                      <a:r>
                        <a:rPr sz="1200" b="1">
                          <a:solidFill>
                            <a:srgbClr val="FCFCFB"/>
                          </a:solidFill>
                          <a:latin typeface="Calibri"/>
                        </a:rPr>
                        <a:t>r</a:t>
                      </a:r>
                    </a:p>
                  </a:txBody>
                  <a:tcPr>
                    <a:solidFill>
                      <a:srgbClr val="0B0B0B"/>
                    </a:solidFill>
                  </a:tcPr>
                </a:tc>
              </a:tr>
              <a:tr h="360000">
                <a:tc>
                  <a:txBody>
                    <a:bodyPr/>
                    <a:lstStyle/>
                    <a:p>
                      <a:r>
                        <a:rPr sz="1200" b="0">
                          <a:solidFill>
                            <a:srgbClr val="6B6963"/>
                          </a:solidFill>
                          <a:latin typeface="Calibri"/>
                        </a:rPr>
                        <a:t>SARIMAX(2,0,1) + Fourier + FWI</a:t>
                      </a:r>
                    </a:p>
                  </a:txBody>
                  <a:tcPr>
                    <a:solidFill>
                      <a:srgbClr val="FCFCFB"/>
                    </a:solidFill>
                  </a:tcPr>
                </a:tc>
                <a:tc>
                  <a:txBody>
                    <a:bodyPr/>
                    <a:lstStyle/>
                    <a:p>
                      <a:r>
                        <a:rPr sz="1200" b="0">
                          <a:solidFill>
                            <a:srgbClr val="6B6963"/>
                          </a:solidFill>
                          <a:latin typeface="Calibri"/>
                        </a:rPr>
                        <a:t>4.03</a:t>
                      </a:r>
                    </a:p>
                  </a:txBody>
                  <a:tcPr>
                    <a:solidFill>
                      <a:srgbClr val="FCFCFB"/>
                    </a:solidFill>
                  </a:tcPr>
                </a:tc>
                <a:tc>
                  <a:txBody>
                    <a:bodyPr/>
                    <a:lstStyle/>
                    <a:p>
                      <a:r>
                        <a:rPr sz="1200" b="0">
                          <a:solidFill>
                            <a:srgbClr val="6B6963"/>
                          </a:solidFill>
                          <a:latin typeface="Calibri"/>
                        </a:rPr>
                        <a:t>0.850</a:t>
                      </a:r>
                    </a:p>
                  </a:txBody>
                  <a:tcPr>
                    <a:solidFill>
                      <a:srgbClr val="FCFCFB"/>
                    </a:solidFill>
                  </a:tcPr>
                </a:tc>
              </a:tr>
              <a:tr h="360000">
                <a:tc>
                  <a:txBody>
                    <a:bodyPr/>
                    <a:lstStyle/>
                    <a:p>
                      <a:r>
                        <a:rPr sz="1200" b="0">
                          <a:solidFill>
                            <a:srgbClr val="6B6963"/>
                          </a:solidFill>
                          <a:latin typeface="Calibri"/>
                        </a:rPr>
                        <a:t>SARIMAX(2,0,1) + Fourier seul</a:t>
                      </a:r>
                    </a:p>
                  </a:txBody>
                  <a:tcPr>
                    <a:solidFill>
                      <a:srgbClr val="FCFCFB"/>
                    </a:solidFill>
                  </a:tcPr>
                </a:tc>
                <a:tc>
                  <a:txBody>
                    <a:bodyPr/>
                    <a:lstStyle/>
                    <a:p>
                      <a:r>
                        <a:rPr sz="1200" b="0">
                          <a:solidFill>
                            <a:srgbClr val="6B6963"/>
                          </a:solidFill>
                          <a:latin typeface="Calibri"/>
                        </a:rPr>
                        <a:t>6.42</a:t>
                      </a:r>
                    </a:p>
                  </a:txBody>
                  <a:tcPr>
                    <a:solidFill>
                      <a:srgbClr val="FCFCFB"/>
                    </a:solidFill>
                  </a:tcPr>
                </a:tc>
                <a:tc>
                  <a:txBody>
                    <a:bodyPr/>
                    <a:lstStyle/>
                    <a:p>
                      <a:r>
                        <a:rPr sz="1200" b="0">
                          <a:solidFill>
                            <a:srgbClr val="6B6963"/>
                          </a:solidFill>
                          <a:latin typeface="Calibri"/>
                        </a:rPr>
                        <a:t>0.603</a:t>
                      </a:r>
                    </a:p>
                  </a:txBody>
                  <a:tcPr>
                    <a:solidFill>
                      <a:srgbClr val="FCFCFB"/>
                    </a:solidFill>
                  </a:tcPr>
                </a:tc>
              </a:tr>
              <a:tr h="360000">
                <a:tc>
                  <a:txBody>
                    <a:bodyPr/>
                    <a:lstStyle/>
                    <a:p>
                      <a:r>
                        <a:rPr sz="1200" b="1">
                          <a:solidFill>
                            <a:srgbClr val="0B0B0B"/>
                          </a:solidFill>
                          <a:latin typeface="Calibri"/>
                        </a:rPr>
                        <a:t>ARIMA(2,0,1) sans exogène</a:t>
                      </a:r>
                    </a:p>
                  </a:txBody>
                  <a:tcPr>
                    <a:solidFill>
                      <a:srgbClr val="F2F1EC"/>
                    </a:solidFill>
                  </a:tcPr>
                </a:tc>
                <a:tc>
                  <a:txBody>
                    <a:bodyPr/>
                    <a:lstStyle/>
                    <a:p>
                      <a:r>
                        <a:rPr sz="1200" b="1">
                          <a:solidFill>
                            <a:srgbClr val="0B0B0B"/>
                          </a:solidFill>
                          <a:latin typeface="Calibri"/>
                        </a:rPr>
                        <a:t>8.34</a:t>
                      </a:r>
                    </a:p>
                  </a:txBody>
                  <a:tcPr>
                    <a:solidFill>
                      <a:srgbClr val="F2F1EC"/>
                    </a:solidFill>
                  </a:tcPr>
                </a:tc>
                <a:tc>
                  <a:txBody>
                    <a:bodyPr/>
                    <a:lstStyle/>
                    <a:p>
                      <a:r>
                        <a:rPr sz="1200" b="1">
                          <a:solidFill>
                            <a:srgbClr val="0B0B0B"/>
                          </a:solidFill>
                          <a:latin typeface="Calibri"/>
                        </a:rPr>
                        <a:t>-0.118</a:t>
                      </a:r>
                    </a:p>
                  </a:txBody>
                  <a:tcPr>
                    <a:solidFill>
                      <a:srgbClr val="F2F1EC"/>
                    </a:solidFill>
                  </a:tcPr>
                </a:tc>
              </a:tr>
            </a:tbl>
          </a:graphicData>
        </a:graphic>
      </p:graphicFrame>
      <p:sp>
        <p:nvSpPr>
          <p:cNvPr id="8" name="TextBox 7"/>
          <p:cNvSpPr txBox="1"/>
          <p:nvPr/>
        </p:nvSpPr>
        <p:spPr>
          <a:xfrm>
            <a:off x="6300000" y="3528000"/>
            <a:ext cx="5220000" cy="720000"/>
          </a:xfrm>
          <a:prstGeom prst="rect">
            <a:avLst/>
          </a:prstGeom>
          <a:noFill/>
        </p:spPr>
        <p:txBody>
          <a:bodyPr wrap="square">
            <a:spAutoFit/>
          </a:bodyPr>
          <a:lstStyle/>
          <a:p>
            <a:pPr>
              <a:lnSpc>
                <a:spcPct val="125000"/>
              </a:lnSpc>
            </a:pPr>
            <a:r>
              <a:rPr sz="1300" b="0">
                <a:solidFill>
                  <a:srgbClr val="6B6963"/>
                </a:solidFill>
                <a:latin typeface="Calibri"/>
              </a:rPr>
              <a:t>Ajusté sur 2006-2019, évalué sur 2020-2022. Le test 2023-2025 n'est pas touché, même pour une cible différente.</a:t>
            </a:r>
          </a:p>
        </p:txBody>
      </p:sp>
      <p:sp>
        <p:nvSpPr>
          <p:cNvPr id="9" name="Rectangle 8"/>
          <p:cNvSpPr/>
          <p:nvPr/>
        </p:nvSpPr>
        <p:spPr>
          <a:xfrm>
            <a:off x="684000" y="4896000"/>
            <a:ext cx="39600" cy="15840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2000" y="4932000"/>
            <a:ext cx="10548000" cy="1584000"/>
          </a:xfrm>
          <a:prstGeom prst="rect">
            <a:avLst/>
          </a:prstGeom>
          <a:noFill/>
        </p:spPr>
        <p:txBody>
          <a:bodyPr wrap="square">
            <a:spAutoFit/>
          </a:bodyPr>
          <a:lstStyle/>
          <a:p>
            <a:pPr>
              <a:lnSpc>
                <a:spcPct val="130000"/>
              </a:lnSpc>
            </a:pPr>
            <a:r>
              <a:rPr sz="1500" b="0">
                <a:solidFill>
                  <a:srgbClr val="0B0B0B"/>
                </a:solidFill>
                <a:latin typeface="Calibri"/>
              </a:rPr>
              <a:t>La dernière ligne est celle qui compte. Un ARIMA sans variable exogène donne une corrélation négative : à 1 096 pas d'horizon, un modèle autorégressif dont la mémoire utile vaut trois jours a oublié son point de départ et converge vers la moyenne.</a:t>
            </a:r>
          </a:p>
          <a:p>
            <a:pPr>
              <a:lnSpc>
                <a:spcPct val="130000"/>
              </a:lnSpc>
            </a:pPr>
            <a:r>
              <a:rPr sz="1500" b="0">
                <a:solidFill>
                  <a:srgbClr val="0B0B0B"/>
                </a:solidFill>
                <a:latin typeface="Calibri"/>
              </a:rPr>
              <a:t>Ajouter le FWI fait tomber l'erreur de 37 %. La prévisibilité du feu est dans la météo, pas dans son propre passé.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 meilleur modèle n'est pas celui qu'on déploie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C'est la décision la plus contre-intuitive du projet.</a:t>
            </a:r>
          </a:p>
        </p:txBody>
      </p:sp>
      <p:graphicFrame>
        <p:nvGraphicFramePr>
          <p:cNvPr id="5" name="Table 4"/>
          <p:cNvGraphicFramePr>
            <a:graphicFrameLocks noGrp="1"/>
          </p:cNvGraphicFramePr>
          <p:nvPr/>
        </p:nvGraphicFramePr>
        <p:xfrm>
          <a:off x="684000" y="1944000"/>
          <a:ext cx="6840000" cy="1152000"/>
        </p:xfrm>
        <a:graphic>
          <a:graphicData uri="http://schemas.openxmlformats.org/drawingml/2006/table">
            <a:tbl>
              <a:tblPr firstRow="1" bandRow="1">
                <a:tableStyleId>{5C22544A-7EE6-4342-B048-85BDC9FD1C3A}</a:tableStyleId>
              </a:tblPr>
              <a:tblGrid>
                <a:gridCol w="3960000"/>
                <a:gridCol w="1440000"/>
                <a:gridCol w="1440000"/>
              </a:tblGrid>
              <a:tr h="384000">
                <a:tc>
                  <a:txBody>
                    <a:bodyPr/>
                    <a:lstStyle/>
                    <a:p>
                      <a:r>
                        <a:rPr sz="1300" b="1">
                          <a:solidFill>
                            <a:srgbClr val="FCFCFB"/>
                          </a:solidFill>
                          <a:latin typeface="Calibri"/>
                        </a:rPr>
                        <a:t>Sur le test 2023-2025</a:t>
                      </a:r>
                    </a:p>
                  </a:txBody>
                  <a:tcPr>
                    <a:solidFill>
                      <a:srgbClr val="0B0B0B"/>
                    </a:solidFill>
                  </a:tcPr>
                </a:tc>
                <a:tc>
                  <a:txBody>
                    <a:bodyPr/>
                    <a:lstStyle/>
                    <a:p>
                      <a:r>
                        <a:rPr sz="1300" b="1">
                          <a:solidFill>
                            <a:srgbClr val="FCFCFB"/>
                          </a:solidFill>
                          <a:latin typeface="Calibri"/>
                        </a:rPr>
                        <a:t>PR-AUC</a:t>
                      </a:r>
                    </a:p>
                  </a:txBody>
                  <a:tcPr>
                    <a:solidFill>
                      <a:srgbClr val="0B0B0B"/>
                    </a:solidFill>
                  </a:tcPr>
                </a:tc>
                <a:tc>
                  <a:txBody>
                    <a:bodyPr/>
                    <a:lstStyle/>
                    <a:p>
                      <a:r>
                        <a:rPr sz="1300" b="1">
                          <a:solidFill>
                            <a:srgbClr val="FCFCFB"/>
                          </a:solidFill>
                          <a:latin typeface="Calibri"/>
                        </a:rPr>
                        <a:t>lift</a:t>
                      </a:r>
                    </a:p>
                  </a:txBody>
                  <a:tcPr>
                    <a:solidFill>
                      <a:srgbClr val="0B0B0B"/>
                    </a:solidFill>
                  </a:tcPr>
                </a:tc>
              </a:tr>
              <a:tr h="384000">
                <a:tc>
                  <a:txBody>
                    <a:bodyPr/>
                    <a:lstStyle/>
                    <a:p>
                      <a:r>
                        <a:rPr sz="1300" b="0">
                          <a:solidFill>
                            <a:srgbClr val="6B6963"/>
                          </a:solidFill>
                          <a:latin typeface="Calibri"/>
                        </a:rPr>
                        <a:t>XGBoost v3 · 52 features</a:t>
                      </a:r>
                    </a:p>
                  </a:txBody>
                  <a:tcPr>
                    <a:solidFill>
                      <a:srgbClr val="FCFCFB"/>
                    </a:solidFill>
                  </a:tcPr>
                </a:tc>
                <a:tc>
                  <a:txBody>
                    <a:bodyPr/>
                    <a:lstStyle/>
                    <a:p>
                      <a:r>
                        <a:rPr sz="1300" b="0">
                          <a:solidFill>
                            <a:srgbClr val="6B6963"/>
                          </a:solidFill>
                          <a:latin typeface="Calibri"/>
                        </a:rPr>
                        <a:t>0.0156</a:t>
                      </a:r>
                    </a:p>
                  </a:txBody>
                  <a:tcPr>
                    <a:solidFill>
                      <a:srgbClr val="FCFCFB"/>
                    </a:solidFill>
                  </a:tcPr>
                </a:tc>
                <a:tc>
                  <a:txBody>
                    <a:bodyPr/>
                    <a:lstStyle/>
                    <a:p>
                      <a:r>
                        <a:rPr sz="1300" b="0">
                          <a:solidFill>
                            <a:srgbClr val="6B6963"/>
                          </a:solidFill>
                          <a:latin typeface="Calibri"/>
                        </a:rPr>
                        <a:t>×93.8</a:t>
                      </a:r>
                    </a:p>
                  </a:txBody>
                  <a:tcPr>
                    <a:solidFill>
                      <a:srgbClr val="FCFCFB"/>
                    </a:solidFill>
                  </a:tcPr>
                </a:tc>
              </a:tr>
              <a:tr h="384000">
                <a:tc>
                  <a:txBody>
                    <a:bodyPr/>
                    <a:lstStyle/>
                    <a:p>
                      <a:r>
                        <a:rPr sz="1300" b="1">
                          <a:solidFill>
                            <a:srgbClr val="0B0B0B"/>
                          </a:solidFill>
                          <a:latin typeface="Calibri"/>
                        </a:rPr>
                        <a:t>XGBoost C · physique pure, 41 features</a:t>
                      </a:r>
                    </a:p>
                  </a:txBody>
                  <a:tcPr>
                    <a:solidFill>
                      <a:srgbClr val="F2F1EC"/>
                    </a:solidFill>
                  </a:tcPr>
                </a:tc>
                <a:tc>
                  <a:txBody>
                    <a:bodyPr/>
                    <a:lstStyle/>
                    <a:p>
                      <a:r>
                        <a:rPr sz="1300" b="1">
                          <a:solidFill>
                            <a:srgbClr val="0B0B0B"/>
                          </a:solidFill>
                          <a:latin typeface="Calibri"/>
                        </a:rPr>
                        <a:t>0.0106</a:t>
                      </a:r>
                    </a:p>
                  </a:txBody>
                  <a:tcPr>
                    <a:solidFill>
                      <a:srgbClr val="F2F1EC"/>
                    </a:solidFill>
                  </a:tcPr>
                </a:tc>
                <a:tc>
                  <a:txBody>
                    <a:bodyPr/>
                    <a:lstStyle/>
                    <a:p>
                      <a:r>
                        <a:rPr sz="1300" b="1">
                          <a:solidFill>
                            <a:srgbClr val="0B0B0B"/>
                          </a:solidFill>
                          <a:latin typeface="Calibri"/>
                        </a:rPr>
                        <a:t>×63.7</a:t>
                      </a:r>
                    </a:p>
                  </a:txBody>
                  <a:tcPr>
                    <a:solidFill>
                      <a:srgbClr val="F2F1EC"/>
                    </a:solidFill>
                  </a:tcPr>
                </a:tc>
              </a:tr>
            </a:tbl>
          </a:graphicData>
        </a:graphic>
      </p:graphicFrame>
      <p:sp>
        <p:nvSpPr>
          <p:cNvPr id="6" name="TextBox 5"/>
          <p:cNvSpPr txBox="1"/>
          <p:nvPr/>
        </p:nvSpPr>
        <p:spPr>
          <a:xfrm>
            <a:off x="684000" y="3276000"/>
            <a:ext cx="10800000" cy="378000"/>
          </a:xfrm>
          <a:prstGeom prst="rect">
            <a:avLst/>
          </a:prstGeom>
          <a:noFill/>
        </p:spPr>
        <p:txBody>
          <a:bodyPr wrap="square">
            <a:spAutoFit/>
          </a:bodyPr>
          <a:lstStyle/>
          <a:p>
            <a:pPr>
              <a:lnSpc>
                <a:spcPct val="125000"/>
              </a:lnSpc>
            </a:pPr>
            <a:r>
              <a:rPr sz="1350" b="1">
                <a:solidFill>
                  <a:srgbClr val="0B0B0B"/>
                </a:solidFill>
                <a:latin typeface="Calibri"/>
              </a:rPr>
              <a:t>1. La donnée n'existe pas en temps réel</a:t>
            </a:r>
          </a:p>
        </p:txBody>
      </p:sp>
      <p:sp>
        <p:nvSpPr>
          <p:cNvPr id="7" name="TextBox 6"/>
          <p:cNvSpPr txBox="1"/>
          <p:nvPr/>
        </p:nvSpPr>
        <p:spPr>
          <a:xfrm>
            <a:off x="684000" y="3654000"/>
            <a:ext cx="10800000" cy="771573"/>
          </a:xfrm>
          <a:prstGeom prst="rect">
            <a:avLst/>
          </a:prstGeom>
          <a:noFill/>
        </p:spPr>
        <p:txBody>
          <a:bodyPr wrap="square">
            <a:spAutoFit/>
          </a:bodyPr>
          <a:lstStyle/>
          <a:p>
            <a:pPr>
              <a:lnSpc>
                <a:spcPct val="125000"/>
              </a:lnSpc>
            </a:pPr>
            <a:r>
              <a:rPr sz="1350" b="0">
                <a:solidFill>
                  <a:srgbClr val="6B6963"/>
                </a:solidFill>
                <a:latin typeface="Calibri"/>
              </a:rPr>
              <a:t>· v3 tire 29 % de son importance de l'historique des feux, et la BDIFF ne publie pas l'année en cours : les feux de 2026 sortiront au printemps 2027. Aujourd'hui, feux_commune_7j vaudrait le décompte d'une semaine de décembre 2025. Pas imprécis : faux.</a:t>
            </a:r>
          </a:p>
        </p:txBody>
      </p:sp>
      <p:sp>
        <p:nvSpPr>
          <p:cNvPr id="8" name="TextBox 7"/>
          <p:cNvSpPr txBox="1"/>
          <p:nvPr/>
        </p:nvSpPr>
        <p:spPr>
          <a:xfrm>
            <a:off x="684000" y="4447173"/>
            <a:ext cx="10800000" cy="378000"/>
          </a:xfrm>
          <a:prstGeom prst="rect">
            <a:avLst/>
          </a:prstGeom>
          <a:noFill/>
        </p:spPr>
        <p:txBody>
          <a:bodyPr wrap="square">
            <a:spAutoFit/>
          </a:bodyPr>
          <a:lstStyle/>
          <a:p>
            <a:pPr>
              <a:lnSpc>
                <a:spcPct val="125000"/>
              </a:lnSpc>
            </a:pPr>
            <a:r>
              <a:rPr sz="1350" b="1">
                <a:solidFill>
                  <a:srgbClr val="0B0B0B"/>
                </a:solidFill>
                <a:latin typeface="Calibri"/>
              </a:rPr>
              <a:t>2. En territoire inconnu, elle vaut zéro</a:t>
            </a:r>
          </a:p>
        </p:txBody>
      </p:sp>
      <p:sp>
        <p:nvSpPr>
          <p:cNvPr id="9" name="TextBox 8"/>
          <p:cNvSpPr txBox="1"/>
          <p:nvPr/>
        </p:nvSpPr>
        <p:spPr>
          <a:xfrm>
            <a:off x="684000" y="4825173"/>
            <a:ext cx="10800000" cy="514382"/>
          </a:xfrm>
          <a:prstGeom prst="rect">
            <a:avLst/>
          </a:prstGeom>
          <a:noFill/>
        </p:spPr>
        <p:txBody>
          <a:bodyPr wrap="square">
            <a:spAutoFit/>
          </a:bodyPr>
          <a:lstStyle/>
          <a:p>
            <a:pPr>
              <a:lnSpc>
                <a:spcPct val="125000"/>
              </a:lnSpc>
            </a:pPr>
            <a:r>
              <a:rPr sz="1350" b="0">
                <a:solidFill>
                  <a:srgbClr val="6B6963"/>
                </a:solidFill>
                <a:latin typeface="Calibri"/>
              </a:rPr>
              <a:t>· et le modèle lit ce zéro comme « ça n'a jamais brûlé, donc ça ne brûlera pas », précisément là où un risque nouveau apparaît.</a:t>
            </a:r>
          </a:p>
        </p:txBody>
      </p:sp>
      <p:sp>
        <p:nvSpPr>
          <p:cNvPr id="10" name="TextBox 9"/>
          <p:cNvSpPr txBox="1"/>
          <p:nvPr/>
        </p:nvSpPr>
        <p:spPr>
          <a:xfrm>
            <a:off x="684000" y="5361156"/>
            <a:ext cx="10800000" cy="378000"/>
          </a:xfrm>
          <a:prstGeom prst="rect">
            <a:avLst/>
          </a:prstGeom>
          <a:noFill/>
        </p:spPr>
        <p:txBody>
          <a:bodyPr wrap="square">
            <a:spAutoFit/>
          </a:bodyPr>
          <a:lstStyle/>
          <a:p>
            <a:pPr>
              <a:lnSpc>
                <a:spcPct val="125000"/>
              </a:lnSpc>
            </a:pPr>
            <a:r>
              <a:rPr sz="1350" b="1">
                <a:solidFill>
                  <a:srgbClr val="0B0B0B"/>
                </a:solidFill>
                <a:latin typeface="Calibri"/>
              </a:rPr>
              <a:t>3. Pour 2050, elle est impossible par construction</a:t>
            </a:r>
          </a:p>
        </p:txBody>
      </p:sp>
      <p:sp>
        <p:nvSpPr>
          <p:cNvPr id="11" name="TextBox 10"/>
          <p:cNvSpPr txBox="1"/>
          <p:nvPr/>
        </p:nvSpPr>
        <p:spPr>
          <a:xfrm>
            <a:off x="684000" y="5739156"/>
            <a:ext cx="10800000" cy="378000"/>
          </a:xfrm>
          <a:prstGeom prst="rect">
            <a:avLst/>
          </a:prstGeom>
          <a:noFill/>
        </p:spPr>
        <p:txBody>
          <a:bodyPr wrap="square">
            <a:spAutoFit/>
          </a:bodyPr>
          <a:lstStyle/>
          <a:p>
            <a:pPr>
              <a:lnSpc>
                <a:spcPct val="125000"/>
              </a:lnSpc>
            </a:pPr>
            <a:r>
              <a:rPr sz="1350" b="0">
                <a:solidFill>
                  <a:srgbClr val="6B6963"/>
                </a:solidFill>
                <a:latin typeface="Calibri"/>
              </a:rPr>
              <a:t>· on ne connaîtra jamais les feux de 2049.</a:t>
            </a:r>
          </a:p>
        </p:txBody>
      </p:sp>
      <p:sp>
        <p:nvSpPr>
          <p:cNvPr id="12" name="Rectangle 11"/>
          <p:cNvSpPr/>
          <p:nvPr/>
        </p:nvSpPr>
        <p:spPr>
          <a:xfrm>
            <a:off x="684000" y="6225156"/>
            <a:ext cx="39600" cy="648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2000" y="6261156"/>
            <a:ext cx="10548000" cy="648000"/>
          </a:xfrm>
          <a:prstGeom prst="rect">
            <a:avLst/>
          </a:prstGeom>
          <a:noFill/>
        </p:spPr>
        <p:txBody>
          <a:bodyPr wrap="square">
            <a:spAutoFit/>
          </a:bodyPr>
          <a:lstStyle/>
          <a:p>
            <a:pPr>
              <a:lnSpc>
                <a:spcPct val="130000"/>
              </a:lnSpc>
            </a:pPr>
            <a:r>
              <a:rPr sz="1400" b="0">
                <a:solidFill>
                  <a:srgbClr val="0B0B0B"/>
                </a:solidFill>
                <a:latin typeface="Calibri"/>
              </a:rPr>
              <a:t>Le choix se fait sur la disponibilité de la donnée, pas sur la performance. Ce défaut n'apparaît dans aucune métrique d'entraînement : en validation comme en test, l'historique est toujours là.</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H2 · retirer une région entière, puis tester dessus</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Simulation d'un territoire jamais vu, ou d'un climat qui déplace le risque.</a:t>
            </a:r>
          </a:p>
        </p:txBody>
      </p:sp>
      <p:pic>
        <p:nvPicPr>
          <p:cNvPr id="5" name="Picture 4" descr="spatial.png"/>
          <p:cNvPicPr>
            <a:picLocks noChangeAspect="1"/>
          </p:cNvPicPr>
          <p:nvPr/>
        </p:nvPicPr>
        <p:blipFill>
          <a:blip r:embed="rId2"/>
          <a:stretch>
            <a:fillRect/>
          </a:stretch>
        </p:blipFill>
        <p:spPr>
          <a:xfrm>
            <a:off x="2065151" y="1944000"/>
            <a:ext cx="8037696" cy="3168000"/>
          </a:xfrm>
          <a:prstGeom prst="rect">
            <a:avLst/>
          </a:prstGeom>
        </p:spPr>
      </p:pic>
      <p:sp>
        <p:nvSpPr>
          <p:cNvPr id="6" name="Rectangle 5"/>
          <p:cNvSpPr/>
          <p:nvPr/>
        </p:nvSpPr>
        <p:spPr>
          <a:xfrm>
            <a:off x="684000" y="5328000"/>
            <a:ext cx="39600" cy="12240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5364000"/>
            <a:ext cx="10548000" cy="1224000"/>
          </a:xfrm>
          <a:prstGeom prst="rect">
            <a:avLst/>
          </a:prstGeom>
          <a:noFill/>
        </p:spPr>
        <p:txBody>
          <a:bodyPr wrap="square">
            <a:spAutoFit/>
          </a:bodyPr>
          <a:lstStyle/>
          <a:p>
            <a:pPr>
              <a:lnSpc>
                <a:spcPct val="130000"/>
              </a:lnSpc>
            </a:pPr>
            <a:r>
              <a:rPr sz="1500" b="0">
                <a:solidFill>
                  <a:srgbClr val="0B0B0B"/>
                </a:solidFill>
                <a:latin typeface="Calibri"/>
              </a:rPr>
              <a:t>Le modèle physique gagne dans les 9 régions, sans exception : +8,2 % en moyenne pondérée, et jusqu'à +137 % dans le Grand Est.</a:t>
            </a:r>
          </a:p>
          <a:p>
            <a:pPr>
              <a:lnSpc>
                <a:spcPct val="130000"/>
              </a:lnSpc>
            </a:pPr>
            <a:r>
              <a:rPr sz="1500" b="0">
                <a:solidFill>
                  <a:srgbClr val="0B0B0B"/>
                </a:solidFill>
                <a:latin typeface="Calibri"/>
              </a:rPr>
              <a:t>Là où l'historique est le plus pauvre, s'y fier devient un handicap. C'est l'argument décisif pour 2050, puisque le climat déplacera le risque vers des communes sans passé.</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 calibration, et pourquoi l'application affiche un rang</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 score brut est 145 fois trop grand, conséquence directe du sous-échantillonnage.</a:t>
            </a:r>
          </a:p>
        </p:txBody>
      </p:sp>
      <p:graphicFrame>
        <p:nvGraphicFramePr>
          <p:cNvPr id="5" name="Table 4"/>
          <p:cNvGraphicFramePr>
            <a:graphicFrameLocks noGrp="1"/>
          </p:cNvGraphicFramePr>
          <p:nvPr/>
        </p:nvGraphicFramePr>
        <p:xfrm>
          <a:off x="684000" y="1944000"/>
          <a:ext cx="9000000" cy="1584000"/>
        </p:xfrm>
        <a:graphic>
          <a:graphicData uri="http://schemas.openxmlformats.org/drawingml/2006/table">
            <a:tbl>
              <a:tblPr firstRow="1" bandRow="1">
                <a:tableStyleId>{5C22544A-7EE6-4342-B048-85BDC9FD1C3A}</a:tableStyleId>
              </a:tblPr>
              <a:tblGrid>
                <a:gridCol w="1800000"/>
                <a:gridCol w="1800000"/>
                <a:gridCol w="1800000"/>
                <a:gridCol w="1800000"/>
                <a:gridCol w="1800000"/>
              </a:tblGrid>
              <a:tr h="396000">
                <a:tc>
                  <a:txBody>
                    <a:bodyPr/>
                    <a:lstStyle/>
                    <a:p>
                      <a:r>
                        <a:rPr sz="1300" b="1">
                          <a:solidFill>
                            <a:srgbClr val="FCFCFB"/>
                          </a:solidFill>
                          <a:latin typeface="Calibri"/>
                        </a:rPr>
                        <a:t>Méthode</a:t>
                      </a:r>
                    </a:p>
                  </a:txBody>
                  <a:tcPr>
                    <a:solidFill>
                      <a:srgbClr val="0B0B0B"/>
                    </a:solidFill>
                  </a:tcPr>
                </a:tc>
                <a:tc>
                  <a:txBody>
                    <a:bodyPr/>
                    <a:lstStyle/>
                    <a:p>
                      <a:r>
                        <a:rPr sz="1300" b="1">
                          <a:solidFill>
                            <a:srgbClr val="FCFCFB"/>
                          </a:solidFill>
                          <a:latin typeface="Calibri"/>
                        </a:rPr>
                        <a:t>PR-AUC</a:t>
                      </a:r>
                    </a:p>
                  </a:txBody>
                  <a:tcPr>
                    <a:solidFill>
                      <a:srgbClr val="0B0B0B"/>
                    </a:solidFill>
                  </a:tcPr>
                </a:tc>
                <a:tc>
                  <a:txBody>
                    <a:bodyPr/>
                    <a:lstStyle/>
                    <a:p>
                      <a:r>
                        <a:rPr sz="1300" b="1">
                          <a:solidFill>
                            <a:srgbClr val="FCFCFB"/>
                          </a:solidFill>
                          <a:latin typeface="Calibri"/>
                        </a:rPr>
                        <a:t>p moyen</a:t>
                      </a:r>
                    </a:p>
                  </a:txBody>
                  <a:tcPr>
                    <a:solidFill>
                      <a:srgbClr val="0B0B0B"/>
                    </a:solidFill>
                  </a:tcPr>
                </a:tc>
                <a:tc>
                  <a:txBody>
                    <a:bodyPr/>
                    <a:lstStyle/>
                    <a:p>
                      <a:r>
                        <a:rPr sz="1300" b="1">
                          <a:solidFill>
                            <a:srgbClr val="FCFCFB"/>
                          </a:solidFill>
                          <a:latin typeface="Calibri"/>
                        </a:rPr>
                        <a:t>biais</a:t>
                      </a:r>
                    </a:p>
                  </a:txBody>
                  <a:tcPr>
                    <a:solidFill>
                      <a:srgbClr val="0B0B0B"/>
                    </a:solidFill>
                  </a:tcPr>
                </a:tc>
                <a:tc>
                  <a:txBody>
                    <a:bodyPr/>
                    <a:lstStyle/>
                    <a:p>
                      <a:r>
                        <a:rPr sz="1300" b="1">
                          <a:solidFill>
                            <a:srgbClr val="FCFCFB"/>
                          </a:solidFill>
                          <a:latin typeface="Calibri"/>
                        </a:rPr>
                        <a:t>valeurs distinctes</a:t>
                      </a:r>
                    </a:p>
                  </a:txBody>
                  <a:tcPr>
                    <a:solidFill>
                      <a:srgbClr val="0B0B0B"/>
                    </a:solidFill>
                  </a:tcPr>
                </a:tc>
              </a:tr>
              <a:tr h="396000">
                <a:tc>
                  <a:txBody>
                    <a:bodyPr/>
                    <a:lstStyle/>
                    <a:p>
                      <a:r>
                        <a:rPr sz="1300" b="0">
                          <a:solidFill>
                            <a:srgbClr val="6B6963"/>
                          </a:solidFill>
                          <a:latin typeface="Calibri"/>
                        </a:rPr>
                        <a:t>brut</a:t>
                      </a:r>
                    </a:p>
                  </a:txBody>
                  <a:tcPr>
                    <a:solidFill>
                      <a:srgbClr val="FCFCFB"/>
                    </a:solidFill>
                  </a:tcPr>
                </a:tc>
                <a:tc>
                  <a:txBody>
                    <a:bodyPr/>
                    <a:lstStyle/>
                    <a:p>
                      <a:r>
                        <a:rPr sz="1300" b="0">
                          <a:solidFill>
                            <a:srgbClr val="6B6963"/>
                          </a:solidFill>
                          <a:latin typeface="Calibri"/>
                        </a:rPr>
                        <a:t>0.0164</a:t>
                      </a:r>
                    </a:p>
                  </a:txBody>
                  <a:tcPr>
                    <a:solidFill>
                      <a:srgbClr val="FCFCFB"/>
                    </a:solidFill>
                  </a:tcPr>
                </a:tc>
                <a:tc>
                  <a:txBody>
                    <a:bodyPr/>
                    <a:lstStyle/>
                    <a:p>
                      <a:r>
                        <a:rPr sz="1300" b="0">
                          <a:solidFill>
                            <a:srgbClr val="6B6963"/>
                          </a:solidFill>
                          <a:latin typeface="Calibri"/>
                        </a:rPr>
                        <a:t>4.83e-02</a:t>
                      </a:r>
                    </a:p>
                  </a:txBody>
                  <a:tcPr>
                    <a:solidFill>
                      <a:srgbClr val="FCFCFB"/>
                    </a:solidFill>
                  </a:tcPr>
                </a:tc>
                <a:tc>
                  <a:txBody>
                    <a:bodyPr/>
                    <a:lstStyle/>
                    <a:p>
                      <a:r>
                        <a:rPr sz="1300" b="0">
                          <a:solidFill>
                            <a:srgbClr val="6B6963"/>
                          </a:solidFill>
                          <a:latin typeface="Calibri"/>
                        </a:rPr>
                        <a:t>×144.71</a:t>
                      </a:r>
                    </a:p>
                  </a:txBody>
                  <a:tcPr>
                    <a:solidFill>
                      <a:srgbClr val="FCFCFB"/>
                    </a:solidFill>
                  </a:tcPr>
                </a:tc>
                <a:tc>
                  <a:txBody>
                    <a:bodyPr/>
                    <a:lstStyle/>
                    <a:p>
                      <a:r>
                        <a:rPr sz="1300" b="0">
                          <a:solidFill>
                            <a:srgbClr val="6B6963"/>
                          </a:solidFill>
                          <a:latin typeface="Calibri"/>
                        </a:rPr>
                        <a:t>8 977 696</a:t>
                      </a:r>
                    </a:p>
                  </a:txBody>
                  <a:tcPr>
                    <a:solidFill>
                      <a:srgbClr val="FCFCFB"/>
                    </a:solidFill>
                  </a:tcPr>
                </a:tc>
              </a:tr>
              <a:tr h="396000">
                <a:tc>
                  <a:txBody>
                    <a:bodyPr/>
                    <a:lstStyle/>
                    <a:p>
                      <a:r>
                        <a:rPr sz="1300" b="1">
                          <a:solidFill>
                            <a:srgbClr val="0B0B0B"/>
                          </a:solidFill>
                          <a:latin typeface="Calibri"/>
                        </a:rPr>
                        <a:t>platt</a:t>
                      </a:r>
                    </a:p>
                  </a:txBody>
                  <a:tcPr>
                    <a:solidFill>
                      <a:srgbClr val="F2F1EC"/>
                    </a:solidFill>
                  </a:tcPr>
                </a:tc>
                <a:tc>
                  <a:txBody>
                    <a:bodyPr/>
                    <a:lstStyle/>
                    <a:p>
                      <a:r>
                        <a:rPr sz="1300" b="1">
                          <a:solidFill>
                            <a:srgbClr val="0B0B0B"/>
                          </a:solidFill>
                          <a:latin typeface="Calibri"/>
                        </a:rPr>
                        <a:t>0.0164</a:t>
                      </a:r>
                    </a:p>
                  </a:txBody>
                  <a:tcPr>
                    <a:solidFill>
                      <a:srgbClr val="F2F1EC"/>
                    </a:solidFill>
                  </a:tcPr>
                </a:tc>
                <a:tc>
                  <a:txBody>
                    <a:bodyPr/>
                    <a:lstStyle/>
                    <a:p>
                      <a:r>
                        <a:rPr sz="1300" b="1">
                          <a:solidFill>
                            <a:srgbClr val="0B0B0B"/>
                          </a:solidFill>
                          <a:latin typeface="Calibri"/>
                        </a:rPr>
                        <a:t>3.76e-04</a:t>
                      </a:r>
                    </a:p>
                  </a:txBody>
                  <a:tcPr>
                    <a:solidFill>
                      <a:srgbClr val="F2F1EC"/>
                    </a:solidFill>
                  </a:tcPr>
                </a:tc>
                <a:tc>
                  <a:txBody>
                    <a:bodyPr/>
                    <a:lstStyle/>
                    <a:p>
                      <a:r>
                        <a:rPr sz="1300" b="1">
                          <a:solidFill>
                            <a:srgbClr val="0B0B0B"/>
                          </a:solidFill>
                          <a:latin typeface="Calibri"/>
                        </a:rPr>
                        <a:t>×1.13</a:t>
                      </a:r>
                    </a:p>
                  </a:txBody>
                  <a:tcPr>
                    <a:solidFill>
                      <a:srgbClr val="F2F1EC"/>
                    </a:solidFill>
                  </a:tcPr>
                </a:tc>
                <a:tc>
                  <a:txBody>
                    <a:bodyPr/>
                    <a:lstStyle/>
                    <a:p>
                      <a:r>
                        <a:rPr sz="1300" b="1">
                          <a:solidFill>
                            <a:srgbClr val="0B0B0B"/>
                          </a:solidFill>
                          <a:latin typeface="Calibri"/>
                        </a:rPr>
                        <a:t>8 977 696</a:t>
                      </a:r>
                    </a:p>
                  </a:txBody>
                  <a:tcPr>
                    <a:solidFill>
                      <a:srgbClr val="F2F1EC"/>
                    </a:solidFill>
                  </a:tcPr>
                </a:tc>
              </a:tr>
              <a:tr h="396000">
                <a:tc>
                  <a:txBody>
                    <a:bodyPr/>
                    <a:lstStyle/>
                    <a:p>
                      <a:r>
                        <a:rPr sz="1300" b="0">
                          <a:solidFill>
                            <a:srgbClr val="6B6963"/>
                          </a:solidFill>
                          <a:latin typeface="Calibri"/>
                        </a:rPr>
                        <a:t>isotonic</a:t>
                      </a:r>
                    </a:p>
                  </a:txBody>
                  <a:tcPr>
                    <a:solidFill>
                      <a:srgbClr val="FCFCFB"/>
                    </a:solidFill>
                  </a:tcPr>
                </a:tc>
                <a:tc>
                  <a:txBody>
                    <a:bodyPr/>
                    <a:lstStyle/>
                    <a:p>
                      <a:r>
                        <a:rPr sz="1300" b="0">
                          <a:solidFill>
                            <a:srgbClr val="6B6963"/>
                          </a:solidFill>
                          <a:latin typeface="Calibri"/>
                        </a:rPr>
                        <a:t>0.0151</a:t>
                      </a:r>
                    </a:p>
                  </a:txBody>
                  <a:tcPr>
                    <a:solidFill>
                      <a:srgbClr val="FCFCFB"/>
                    </a:solidFill>
                  </a:tcPr>
                </a:tc>
                <a:tc>
                  <a:txBody>
                    <a:bodyPr/>
                    <a:lstStyle/>
                    <a:p>
                      <a:r>
                        <a:rPr sz="1300" b="0">
                          <a:solidFill>
                            <a:srgbClr val="6B6963"/>
                          </a:solidFill>
                          <a:latin typeface="Calibri"/>
                        </a:rPr>
                        <a:t>2.50e-04</a:t>
                      </a:r>
                    </a:p>
                  </a:txBody>
                  <a:tcPr>
                    <a:solidFill>
                      <a:srgbClr val="FCFCFB"/>
                    </a:solidFill>
                  </a:tcPr>
                </a:tc>
                <a:tc>
                  <a:txBody>
                    <a:bodyPr/>
                    <a:lstStyle/>
                    <a:p>
                      <a:r>
                        <a:rPr sz="1300" b="0">
                          <a:solidFill>
                            <a:srgbClr val="6B6963"/>
                          </a:solidFill>
                          <a:latin typeface="Calibri"/>
                        </a:rPr>
                        <a:t>×0.75</a:t>
                      </a:r>
                    </a:p>
                  </a:txBody>
                  <a:tcPr>
                    <a:solidFill>
                      <a:srgbClr val="FCFCFB"/>
                    </a:solidFill>
                  </a:tcPr>
                </a:tc>
                <a:tc>
                  <a:txBody>
                    <a:bodyPr/>
                    <a:lstStyle/>
                    <a:p>
                      <a:r>
                        <a:rPr sz="1300" b="0">
                          <a:solidFill>
                            <a:srgbClr val="6B6963"/>
                          </a:solidFill>
                          <a:latin typeface="Calibri"/>
                        </a:rPr>
                        <a:t>136</a:t>
                      </a:r>
                    </a:p>
                  </a:txBody>
                  <a:tcPr>
                    <a:solidFill>
                      <a:srgbClr val="FCFCFB"/>
                    </a:solidFill>
                  </a:tcPr>
                </a:tc>
              </a:tr>
            </a:tbl>
          </a:graphicData>
        </a:graphic>
      </p:graphicFrame>
      <p:sp>
        <p:nvSpPr>
          <p:cNvPr id="6" name="TextBox 5"/>
          <p:cNvSpPr txBox="1"/>
          <p:nvPr/>
        </p:nvSpPr>
        <p:spPr>
          <a:xfrm>
            <a:off x="684000" y="3816000"/>
            <a:ext cx="10800000" cy="468000"/>
          </a:xfrm>
          <a:prstGeom prst="rect">
            <a:avLst/>
          </a:prstGeom>
          <a:noFill/>
        </p:spPr>
        <p:txBody>
          <a:bodyPr wrap="square">
            <a:spAutoFit/>
          </a:bodyPr>
          <a:lstStyle/>
          <a:p>
            <a:pPr>
              <a:lnSpc>
                <a:spcPct val="125000"/>
              </a:lnSpc>
            </a:pPr>
            <a:r>
              <a:rPr sz="1500" b="1">
                <a:solidFill>
                  <a:srgbClr val="0B0B0B"/>
                </a:solidFill>
                <a:latin typeface="Calibri"/>
              </a:rPr>
              <a:t>Platt corrige sans rien coûter</a:t>
            </a:r>
          </a:p>
        </p:txBody>
      </p:sp>
      <p:sp>
        <p:nvSpPr>
          <p:cNvPr id="7" name="TextBox 6"/>
          <p:cNvSpPr txBox="1"/>
          <p:nvPr/>
        </p:nvSpPr>
        <p:spPr>
          <a:xfrm>
            <a:off x="684000" y="4284000"/>
            <a:ext cx="10800000" cy="468000"/>
          </a:xfrm>
          <a:prstGeom prst="rect">
            <a:avLst/>
          </a:prstGeom>
          <a:noFill/>
        </p:spPr>
        <p:txBody>
          <a:bodyPr wrap="square">
            <a:spAutoFit/>
          </a:bodyPr>
          <a:lstStyle/>
          <a:p>
            <a:pPr>
              <a:lnSpc>
                <a:spcPct val="125000"/>
              </a:lnSpc>
            </a:pPr>
            <a:r>
              <a:rPr sz="1500" b="0">
                <a:solidFill>
                  <a:srgbClr val="6B6963"/>
                </a:solidFill>
                <a:latin typeface="Calibri"/>
              </a:rPr>
              <a:t>· le classement reste intact, seule l'échelle bouge.</a:t>
            </a:r>
          </a:p>
        </p:txBody>
      </p:sp>
      <p:sp>
        <p:nvSpPr>
          <p:cNvPr id="8" name="TextBox 7"/>
          <p:cNvSpPr txBox="1"/>
          <p:nvPr/>
        </p:nvSpPr>
        <p:spPr>
          <a:xfrm>
            <a:off x="684000" y="4752000"/>
            <a:ext cx="10800000" cy="468000"/>
          </a:xfrm>
          <a:prstGeom prst="rect">
            <a:avLst/>
          </a:prstGeom>
          <a:noFill/>
        </p:spPr>
        <p:txBody>
          <a:bodyPr wrap="square">
            <a:spAutoFit/>
          </a:bodyPr>
          <a:lstStyle/>
          <a:p>
            <a:pPr>
              <a:lnSpc>
                <a:spcPct val="125000"/>
              </a:lnSpc>
            </a:pPr>
            <a:r>
              <a:rPr sz="1500" b="1">
                <a:solidFill>
                  <a:srgbClr val="0B0B0B"/>
                </a:solidFill>
                <a:latin typeface="Calibri"/>
              </a:rPr>
              <a:t>L'isotonique calibre aussi bien, mais écrase le score</a:t>
            </a:r>
          </a:p>
        </p:txBody>
      </p:sp>
      <p:sp>
        <p:nvSpPr>
          <p:cNvPr id="9" name="TextBox 8"/>
          <p:cNvSpPr txBox="1"/>
          <p:nvPr/>
        </p:nvSpPr>
        <p:spPr>
          <a:xfrm>
            <a:off x="684000" y="5220000"/>
            <a:ext cx="10800000" cy="468000"/>
          </a:xfrm>
          <a:prstGeom prst="rect">
            <a:avLst/>
          </a:prstGeom>
          <a:noFill/>
        </p:spPr>
        <p:txBody>
          <a:bodyPr wrap="square">
            <a:spAutoFit/>
          </a:bodyPr>
          <a:lstStyle/>
          <a:p>
            <a:pPr>
              <a:lnSpc>
                <a:spcPct val="125000"/>
              </a:lnSpc>
            </a:pPr>
            <a:r>
              <a:rPr sz="1500" b="0">
                <a:solidFill>
                  <a:srgbClr val="6B6963"/>
                </a:solidFill>
                <a:latin typeface="Calibri"/>
              </a:rPr>
              <a:t>· 136 valeurs distinctes au lieu de 9 millions : on perd du pouvoir de discrimination sans rien gagner.</a:t>
            </a:r>
          </a:p>
        </p:txBody>
      </p:sp>
      <p:sp>
        <p:nvSpPr>
          <p:cNvPr id="10" name="TextBox 9"/>
          <p:cNvSpPr txBox="1"/>
          <p:nvPr/>
        </p:nvSpPr>
        <p:spPr>
          <a:xfrm>
            <a:off x="684000" y="5688000"/>
            <a:ext cx="10800000" cy="468000"/>
          </a:xfrm>
          <a:prstGeom prst="rect">
            <a:avLst/>
          </a:prstGeom>
          <a:noFill/>
        </p:spPr>
        <p:txBody>
          <a:bodyPr wrap="square">
            <a:spAutoFit/>
          </a:bodyPr>
          <a:lstStyle/>
          <a:p>
            <a:pPr>
              <a:lnSpc>
                <a:spcPct val="125000"/>
              </a:lnSpc>
            </a:pPr>
            <a:r>
              <a:rPr sz="1500" b="1">
                <a:solidFill>
                  <a:srgbClr val="0B0B0B"/>
                </a:solidFill>
                <a:latin typeface="Calibri"/>
              </a:rPr>
              <a:t>L'application affiche donc un rang, pas une probabilité</a:t>
            </a:r>
          </a:p>
        </p:txBody>
      </p:sp>
      <p:sp>
        <p:nvSpPr>
          <p:cNvPr id="11" name="TextBox 10"/>
          <p:cNvSpPr txBox="1"/>
          <p:nvPr/>
        </p:nvSpPr>
        <p:spPr>
          <a:xfrm>
            <a:off x="684000" y="6156000"/>
            <a:ext cx="10800000" cy="571536"/>
          </a:xfrm>
          <a:prstGeom prst="rect">
            <a:avLst/>
          </a:prstGeom>
          <a:noFill/>
        </p:spPr>
        <p:txBody>
          <a:bodyPr wrap="square">
            <a:spAutoFit/>
          </a:bodyPr>
          <a:lstStyle/>
          <a:p>
            <a:pPr>
              <a:lnSpc>
                <a:spcPct val="125000"/>
              </a:lnSpc>
            </a:pPr>
            <a:r>
              <a:rPr sz="1500" b="0">
                <a:solidFill>
                  <a:srgbClr val="6B6963"/>
                </a:solidFill>
                <a:latin typeface="Calibri"/>
              </a:rPr>
              <a:t>· le calibrateur disponible a été ajusté sur un autre modèle et une autre période, il serait faux d'un facteur voisin de 2. Un rang, lui, reste juste.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L'évaluation finale, ouverte une seule fois</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Après gel complet du modèle, des variables et de la calibration.</a:t>
            </a:r>
          </a:p>
        </p:txBody>
      </p:sp>
      <p:graphicFrame>
        <p:nvGraphicFramePr>
          <p:cNvPr id="5" name="Table 4"/>
          <p:cNvGraphicFramePr>
            <a:graphicFrameLocks noGrp="1"/>
          </p:cNvGraphicFramePr>
          <p:nvPr/>
        </p:nvGraphicFramePr>
        <p:xfrm>
          <a:off x="684000" y="1944000"/>
          <a:ext cx="8640000" cy="1584000"/>
        </p:xfrm>
        <a:graphic>
          <a:graphicData uri="http://schemas.openxmlformats.org/drawingml/2006/table">
            <a:tbl>
              <a:tblPr firstRow="1" bandRow="1">
                <a:tableStyleId>{5C22544A-7EE6-4342-B048-85BDC9FD1C3A}</a:tableStyleId>
              </a:tblPr>
              <a:tblGrid>
                <a:gridCol w="1260000"/>
                <a:gridCol w="2160000"/>
                <a:gridCol w="1440000"/>
                <a:gridCol w="1620000"/>
                <a:gridCol w="1260000"/>
                <a:gridCol w="900000"/>
              </a:tblGrid>
              <a:tr h="396000">
                <a:tc>
                  <a:txBody>
                    <a:bodyPr/>
                    <a:lstStyle/>
                    <a:p>
                      <a:r>
                        <a:rPr sz="1300" b="1">
                          <a:solidFill>
                            <a:srgbClr val="FCFCFB"/>
                          </a:solidFill>
                          <a:latin typeface="Calibri"/>
                        </a:rPr>
                        <a:t>Année</a:t>
                      </a:r>
                    </a:p>
                  </a:txBody>
                  <a:tcPr>
                    <a:solidFill>
                      <a:srgbClr val="0B0B0B"/>
                    </a:solidFill>
                  </a:tcPr>
                </a:tc>
                <a:tc>
                  <a:txBody>
                    <a:bodyPr/>
                    <a:lstStyle/>
                    <a:p>
                      <a:r>
                        <a:rPr sz="1300" b="1">
                          <a:solidFill>
                            <a:srgbClr val="FCFCFB"/>
                          </a:solidFill>
                          <a:latin typeface="Calibri"/>
                        </a:rPr>
                        <a:t>Lignes</a:t>
                      </a:r>
                    </a:p>
                  </a:txBody>
                  <a:tcPr>
                    <a:solidFill>
                      <a:srgbClr val="0B0B0B"/>
                    </a:solidFill>
                  </a:tcPr>
                </a:tc>
                <a:tc>
                  <a:txBody>
                    <a:bodyPr/>
                    <a:lstStyle/>
                    <a:p>
                      <a:r>
                        <a:rPr sz="1300" b="1">
                          <a:solidFill>
                            <a:srgbClr val="FCFCFB"/>
                          </a:solidFill>
                          <a:latin typeface="Calibri"/>
                        </a:rPr>
                        <a:t>Feux</a:t>
                      </a:r>
                    </a:p>
                  </a:txBody>
                  <a:tcPr>
                    <a:solidFill>
                      <a:srgbClr val="0B0B0B"/>
                    </a:solidFill>
                  </a:tcPr>
                </a:tc>
                <a:tc>
                  <a:txBody>
                    <a:bodyPr/>
                    <a:lstStyle/>
                    <a:p>
                      <a:r>
                        <a:rPr sz="1300" b="1">
                          <a:solidFill>
                            <a:srgbClr val="FCFCFB"/>
                          </a:solidFill>
                          <a:latin typeface="Calibri"/>
                        </a:rPr>
                        <a:t>Taux</a:t>
                      </a:r>
                    </a:p>
                  </a:txBody>
                  <a:tcPr>
                    <a:solidFill>
                      <a:srgbClr val="0B0B0B"/>
                    </a:solidFill>
                  </a:tcPr>
                </a:tc>
                <a:tc>
                  <a:txBody>
                    <a:bodyPr/>
                    <a:lstStyle/>
                    <a:p>
                      <a:r>
                        <a:rPr sz="1300" b="1">
                          <a:solidFill>
                            <a:srgbClr val="FCFCFB"/>
                          </a:solidFill>
                          <a:latin typeface="Calibri"/>
                        </a:rPr>
                        <a:t>PR-AUC</a:t>
                      </a:r>
                    </a:p>
                  </a:txBody>
                  <a:tcPr>
                    <a:solidFill>
                      <a:srgbClr val="0B0B0B"/>
                    </a:solidFill>
                  </a:tcPr>
                </a:tc>
                <a:tc>
                  <a:txBody>
                    <a:bodyPr/>
                    <a:lstStyle/>
                    <a:p>
                      <a:r>
                        <a:rPr sz="1300" b="1">
                          <a:solidFill>
                            <a:srgbClr val="FCFCFB"/>
                          </a:solidFill>
                          <a:latin typeface="Calibri"/>
                        </a:rPr>
                        <a:t>lift</a:t>
                      </a:r>
                    </a:p>
                  </a:txBody>
                  <a:tcPr>
                    <a:solidFill>
                      <a:srgbClr val="0B0B0B"/>
                    </a:solidFill>
                  </a:tcPr>
                </a:tc>
              </a:tr>
              <a:tr h="396000">
                <a:tc>
                  <a:txBody>
                    <a:bodyPr/>
                    <a:lstStyle/>
                    <a:p>
                      <a:r>
                        <a:rPr sz="1300" b="0">
                          <a:solidFill>
                            <a:srgbClr val="6B6963"/>
                          </a:solidFill>
                          <a:latin typeface="Calibri"/>
                        </a:rPr>
                        <a:t>2023</a:t>
                      </a:r>
                    </a:p>
                  </a:txBody>
                  <a:tcPr>
                    <a:solidFill>
                      <a:srgbClr val="FCFCFB"/>
                    </a:solidFill>
                  </a:tcPr>
                </a:tc>
                <a:tc>
                  <a:txBody>
                    <a:bodyPr/>
                    <a:lstStyle/>
                    <a:p>
                      <a:r>
                        <a:rPr sz="1300" b="0">
                          <a:solidFill>
                            <a:srgbClr val="6B6963"/>
                          </a:solidFill>
                          <a:latin typeface="Calibri"/>
                        </a:rPr>
                        <a:t>12 677 910</a:t>
                      </a:r>
                    </a:p>
                  </a:txBody>
                  <a:tcPr>
                    <a:solidFill>
                      <a:srgbClr val="FCFCFB"/>
                    </a:solidFill>
                  </a:tcPr>
                </a:tc>
                <a:tc>
                  <a:txBody>
                    <a:bodyPr/>
                    <a:lstStyle/>
                    <a:p>
                      <a:r>
                        <a:rPr sz="1300" b="0">
                          <a:solidFill>
                            <a:srgbClr val="6B6963"/>
                          </a:solidFill>
                          <a:latin typeface="Calibri"/>
                        </a:rPr>
                        <a:t>2 591</a:t>
                      </a:r>
                    </a:p>
                  </a:txBody>
                  <a:tcPr>
                    <a:solidFill>
                      <a:srgbClr val="FCFCFB"/>
                    </a:solidFill>
                  </a:tcPr>
                </a:tc>
                <a:tc>
                  <a:txBody>
                    <a:bodyPr/>
                    <a:lstStyle/>
                    <a:p>
                      <a:r>
                        <a:rPr sz="1300" b="0">
                          <a:solidFill>
                            <a:srgbClr val="6B6963"/>
                          </a:solidFill>
                          <a:latin typeface="Calibri"/>
                        </a:rPr>
                        <a:t>0.0204%</a:t>
                      </a:r>
                    </a:p>
                  </a:txBody>
                  <a:tcPr>
                    <a:solidFill>
                      <a:srgbClr val="FCFCFB"/>
                    </a:solidFill>
                  </a:tcPr>
                </a:tc>
                <a:tc>
                  <a:txBody>
                    <a:bodyPr/>
                    <a:lstStyle/>
                    <a:p>
                      <a:r>
                        <a:rPr sz="1300" b="0">
                          <a:solidFill>
                            <a:srgbClr val="6B6963"/>
                          </a:solidFill>
                          <a:latin typeface="Calibri"/>
                        </a:rPr>
                        <a:t>0.0154</a:t>
                      </a:r>
                    </a:p>
                  </a:txBody>
                  <a:tcPr>
                    <a:solidFill>
                      <a:srgbClr val="FCFCFB"/>
                    </a:solidFill>
                  </a:tcPr>
                </a:tc>
                <a:tc>
                  <a:txBody>
                    <a:bodyPr/>
                    <a:lstStyle/>
                    <a:p>
                      <a:r>
                        <a:rPr sz="1300" b="0">
                          <a:solidFill>
                            <a:srgbClr val="6B6963"/>
                          </a:solidFill>
                          <a:latin typeface="Calibri"/>
                        </a:rPr>
                        <a:t>×76</a:t>
                      </a:r>
                    </a:p>
                  </a:txBody>
                  <a:tcPr>
                    <a:solidFill>
                      <a:srgbClr val="FCFCFB"/>
                    </a:solidFill>
                  </a:tcPr>
                </a:tc>
              </a:tr>
              <a:tr h="396000">
                <a:tc>
                  <a:txBody>
                    <a:bodyPr/>
                    <a:lstStyle/>
                    <a:p>
                      <a:r>
                        <a:rPr sz="1300" b="0">
                          <a:solidFill>
                            <a:srgbClr val="6B6963"/>
                          </a:solidFill>
                          <a:latin typeface="Calibri"/>
                        </a:rPr>
                        <a:t>2024</a:t>
                      </a:r>
                    </a:p>
                  </a:txBody>
                  <a:tcPr>
                    <a:solidFill>
                      <a:srgbClr val="FCFCFB"/>
                    </a:solidFill>
                  </a:tcPr>
                </a:tc>
                <a:tc>
                  <a:txBody>
                    <a:bodyPr/>
                    <a:lstStyle/>
                    <a:p>
                      <a:r>
                        <a:rPr sz="1300" b="0">
                          <a:solidFill>
                            <a:srgbClr val="6B6963"/>
                          </a:solidFill>
                          <a:latin typeface="Calibri"/>
                        </a:rPr>
                        <a:t>12 712 644</a:t>
                      </a:r>
                    </a:p>
                  </a:txBody>
                  <a:tcPr>
                    <a:solidFill>
                      <a:srgbClr val="FCFCFB"/>
                    </a:solidFill>
                  </a:tcPr>
                </a:tc>
                <a:tc>
                  <a:txBody>
                    <a:bodyPr/>
                    <a:lstStyle/>
                    <a:p>
                      <a:r>
                        <a:rPr sz="1300" b="0">
                          <a:solidFill>
                            <a:srgbClr val="6B6963"/>
                          </a:solidFill>
                          <a:latin typeface="Calibri"/>
                        </a:rPr>
                        <a:t>1 297</a:t>
                      </a:r>
                    </a:p>
                  </a:txBody>
                  <a:tcPr>
                    <a:solidFill>
                      <a:srgbClr val="FCFCFB"/>
                    </a:solidFill>
                  </a:tcPr>
                </a:tc>
                <a:tc>
                  <a:txBody>
                    <a:bodyPr/>
                    <a:lstStyle/>
                    <a:p>
                      <a:r>
                        <a:rPr sz="1300" b="0">
                          <a:solidFill>
                            <a:srgbClr val="6B6963"/>
                          </a:solidFill>
                          <a:latin typeface="Calibri"/>
                        </a:rPr>
                        <a:t>0.0102%</a:t>
                      </a:r>
                    </a:p>
                  </a:txBody>
                  <a:tcPr>
                    <a:solidFill>
                      <a:srgbClr val="FCFCFB"/>
                    </a:solidFill>
                  </a:tcPr>
                </a:tc>
                <a:tc>
                  <a:txBody>
                    <a:bodyPr/>
                    <a:lstStyle/>
                    <a:p>
                      <a:r>
                        <a:rPr sz="1300" b="0">
                          <a:solidFill>
                            <a:srgbClr val="6B6963"/>
                          </a:solidFill>
                          <a:latin typeface="Calibri"/>
                        </a:rPr>
                        <a:t>0.0155</a:t>
                      </a:r>
                    </a:p>
                  </a:txBody>
                  <a:tcPr>
                    <a:solidFill>
                      <a:srgbClr val="FCFCFB"/>
                    </a:solidFill>
                  </a:tcPr>
                </a:tc>
                <a:tc>
                  <a:txBody>
                    <a:bodyPr/>
                    <a:lstStyle/>
                    <a:p>
                      <a:r>
                        <a:rPr sz="1300" b="0">
                          <a:solidFill>
                            <a:srgbClr val="6B6963"/>
                          </a:solidFill>
                          <a:latin typeface="Calibri"/>
                        </a:rPr>
                        <a:t>×151</a:t>
                      </a:r>
                    </a:p>
                  </a:txBody>
                  <a:tcPr>
                    <a:solidFill>
                      <a:srgbClr val="FCFCFB"/>
                    </a:solidFill>
                  </a:tcPr>
                </a:tc>
              </a:tr>
              <a:tr h="396000">
                <a:tc>
                  <a:txBody>
                    <a:bodyPr/>
                    <a:lstStyle/>
                    <a:p>
                      <a:r>
                        <a:rPr sz="1300" b="0">
                          <a:solidFill>
                            <a:srgbClr val="6B6963"/>
                          </a:solidFill>
                          <a:latin typeface="Calibri"/>
                        </a:rPr>
                        <a:t>2025</a:t>
                      </a:r>
                    </a:p>
                  </a:txBody>
                  <a:tcPr>
                    <a:solidFill>
                      <a:srgbClr val="FCFCFB"/>
                    </a:solidFill>
                  </a:tcPr>
                </a:tc>
                <a:tc>
                  <a:txBody>
                    <a:bodyPr/>
                    <a:lstStyle/>
                    <a:p>
                      <a:r>
                        <a:rPr sz="1300" b="0">
                          <a:solidFill>
                            <a:srgbClr val="6B6963"/>
                          </a:solidFill>
                          <a:latin typeface="Calibri"/>
                        </a:rPr>
                        <a:t>12 677 910</a:t>
                      </a:r>
                    </a:p>
                  </a:txBody>
                  <a:tcPr>
                    <a:solidFill>
                      <a:srgbClr val="FCFCFB"/>
                    </a:solidFill>
                  </a:tcPr>
                </a:tc>
                <a:tc>
                  <a:txBody>
                    <a:bodyPr/>
                    <a:lstStyle/>
                    <a:p>
                      <a:r>
                        <a:rPr sz="1300" b="0">
                          <a:solidFill>
                            <a:srgbClr val="6B6963"/>
                          </a:solidFill>
                          <a:latin typeface="Calibri"/>
                        </a:rPr>
                        <a:t>2 434</a:t>
                      </a:r>
                    </a:p>
                  </a:txBody>
                  <a:tcPr>
                    <a:solidFill>
                      <a:srgbClr val="FCFCFB"/>
                    </a:solidFill>
                  </a:tcPr>
                </a:tc>
                <a:tc>
                  <a:txBody>
                    <a:bodyPr/>
                    <a:lstStyle/>
                    <a:p>
                      <a:r>
                        <a:rPr sz="1300" b="0">
                          <a:solidFill>
                            <a:srgbClr val="6B6963"/>
                          </a:solidFill>
                          <a:latin typeface="Calibri"/>
                        </a:rPr>
                        <a:t>0.0192%</a:t>
                      </a:r>
                    </a:p>
                  </a:txBody>
                  <a:tcPr>
                    <a:solidFill>
                      <a:srgbClr val="FCFCFB"/>
                    </a:solidFill>
                  </a:tcPr>
                </a:tc>
                <a:tc>
                  <a:txBody>
                    <a:bodyPr/>
                    <a:lstStyle/>
                    <a:p>
                      <a:r>
                        <a:rPr sz="1300" b="0">
                          <a:solidFill>
                            <a:srgbClr val="6B6963"/>
                          </a:solidFill>
                          <a:latin typeface="Calibri"/>
                        </a:rPr>
                        <a:t>0.0167</a:t>
                      </a:r>
                    </a:p>
                  </a:txBody>
                  <a:tcPr>
                    <a:solidFill>
                      <a:srgbClr val="FCFCFB"/>
                    </a:solidFill>
                  </a:tcPr>
                </a:tc>
                <a:tc>
                  <a:txBody>
                    <a:bodyPr/>
                    <a:lstStyle/>
                    <a:p>
                      <a:r>
                        <a:rPr sz="1300" b="0">
                          <a:solidFill>
                            <a:srgbClr val="6B6963"/>
                          </a:solidFill>
                          <a:latin typeface="Calibri"/>
                        </a:rPr>
                        <a:t>×87</a:t>
                      </a:r>
                    </a:p>
                  </a:txBody>
                  <a:tcPr>
                    <a:solidFill>
                      <a:srgbClr val="FCFCFB"/>
                    </a:solidFill>
                  </a:tcPr>
                </a:tc>
              </a:tr>
            </a:tbl>
          </a:graphicData>
        </a:graphic>
      </p:graphicFrame>
      <p:sp>
        <p:nvSpPr>
          <p:cNvPr id="6" name="Rectangle 5"/>
          <p:cNvSpPr/>
          <p:nvPr/>
        </p:nvSpPr>
        <p:spPr>
          <a:xfrm>
            <a:off x="684000" y="3816000"/>
            <a:ext cx="39600" cy="1655999"/>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3852000"/>
            <a:ext cx="10548000" cy="1655999"/>
          </a:xfrm>
          <a:prstGeom prst="rect">
            <a:avLst/>
          </a:prstGeom>
          <a:noFill/>
        </p:spPr>
        <p:txBody>
          <a:bodyPr wrap="square">
            <a:spAutoFit/>
          </a:bodyPr>
          <a:lstStyle/>
          <a:p>
            <a:pPr>
              <a:lnSpc>
                <a:spcPct val="130000"/>
              </a:lnSpc>
            </a:pPr>
            <a:r>
              <a:rPr sz="1500" b="0">
                <a:solidFill>
                  <a:srgbClr val="0B0B0B"/>
                </a:solidFill>
                <a:latin typeface="Calibri"/>
              </a:rPr>
              <a:t>Le lift varie du simple au double, et cette variation suit la rareté.</a:t>
            </a:r>
          </a:p>
          <a:p>
            <a:pPr>
              <a:lnSpc>
                <a:spcPct val="130000"/>
              </a:lnSpc>
            </a:pPr>
            <a:r>
              <a:rPr sz="1500" b="0">
                <a:solidFill>
                  <a:srgbClr val="0B0B0B"/>
                </a:solidFill>
                <a:latin typeface="Calibri"/>
              </a:rPr>
              <a:t>2024 est l'année la plus calme (1297 feux) et donne le meilleur lift (×151) ; 2023, la plus active, le plus faible (×76).</a:t>
            </a:r>
          </a:p>
          <a:p>
            <a:pPr>
              <a:lnSpc>
                <a:spcPct val="130000"/>
              </a:lnSpc>
            </a:pPr>
            <a:r>
              <a:rPr sz="1500" b="0">
                <a:solidFill>
                  <a:srgbClr val="0B0B0B"/>
                </a:solidFill>
                <a:latin typeface="Calibri"/>
              </a:rPr>
              <a:t>Une année calme concentre les feux dans les endroits les plus prévisibles. Quand tout brûle, y compris là où ce n'est pas attendu, le modèle est pris en défaut.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Ce que le modèle change concrètement</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Un lift ne se traduit pas directement en décision. La question utile est : si on peut surveiller 1 % du territoire, combien de feux couvre-t-on ?</a:t>
            </a:r>
          </a:p>
        </p:txBody>
      </p:sp>
      <p:graphicFrame>
        <p:nvGraphicFramePr>
          <p:cNvPr id="5" name="Table 4"/>
          <p:cNvGraphicFramePr>
            <a:graphicFrameLocks noGrp="1"/>
          </p:cNvGraphicFramePr>
          <p:nvPr/>
        </p:nvGraphicFramePr>
        <p:xfrm>
          <a:off x="684000" y="1944000"/>
          <a:ext cx="9360000" cy="2015999"/>
        </p:xfrm>
        <a:graphic>
          <a:graphicData uri="http://schemas.openxmlformats.org/drawingml/2006/table">
            <a:tbl>
              <a:tblPr firstRow="1" bandRow="1">
                <a:tableStyleId>{5C22544A-7EE6-4342-B048-85BDC9FD1C3A}</a:tableStyleId>
              </a:tblPr>
              <a:tblGrid>
                <a:gridCol w="2520000"/>
                <a:gridCol w="2700000"/>
                <a:gridCol w="1980000"/>
                <a:gridCol w="2160000"/>
              </a:tblGrid>
              <a:tr h="335999">
                <a:tc>
                  <a:txBody>
                    <a:bodyPr/>
                    <a:lstStyle/>
                    <a:p>
                      <a:r>
                        <a:rPr sz="1300" b="1">
                          <a:solidFill>
                            <a:srgbClr val="FCFCFB"/>
                          </a:solidFill>
                          <a:latin typeface="Calibri"/>
                        </a:rPr>
                        <a:t>Budget de surveillance</a:t>
                      </a:r>
                    </a:p>
                  </a:txBody>
                  <a:tcPr>
                    <a:solidFill>
                      <a:srgbClr val="0B0B0B"/>
                    </a:solidFill>
                  </a:tcPr>
                </a:tc>
                <a:tc>
                  <a:txBody>
                    <a:bodyPr/>
                    <a:lstStyle/>
                    <a:p>
                      <a:r>
                        <a:rPr sz="1300" b="1">
                          <a:solidFill>
                            <a:srgbClr val="FCFCFB"/>
                          </a:solidFill>
                          <a:latin typeface="Calibri"/>
                        </a:rPr>
                        <a:t>Communes-jours suivis</a:t>
                      </a:r>
                    </a:p>
                  </a:txBody>
                  <a:tcPr>
                    <a:solidFill>
                      <a:srgbClr val="0B0B0B"/>
                    </a:solidFill>
                  </a:tcPr>
                </a:tc>
                <a:tc>
                  <a:txBody>
                    <a:bodyPr/>
                    <a:lstStyle/>
                    <a:p>
                      <a:r>
                        <a:rPr sz="1300" b="1">
                          <a:solidFill>
                            <a:srgbClr val="FCFCFB"/>
                          </a:solidFill>
                          <a:latin typeface="Calibri"/>
                        </a:rPr>
                        <a:t>Feux couverts</a:t>
                      </a:r>
                    </a:p>
                  </a:txBody>
                  <a:tcPr>
                    <a:solidFill>
                      <a:srgbClr val="0B0B0B"/>
                    </a:solidFill>
                  </a:tcPr>
                </a:tc>
                <a:tc>
                  <a:txBody>
                    <a:bodyPr/>
                    <a:lstStyle/>
                    <a:p>
                      <a:r>
                        <a:rPr sz="1300" b="1">
                          <a:solidFill>
                            <a:srgbClr val="FCFCFB"/>
                          </a:solidFill>
                          <a:latin typeface="Calibri"/>
                        </a:rPr>
                        <a:t>Part des feux</a:t>
                      </a:r>
                    </a:p>
                  </a:txBody>
                  <a:tcPr>
                    <a:solidFill>
                      <a:srgbClr val="0B0B0B"/>
                    </a:solidFill>
                  </a:tcPr>
                </a:tc>
              </a:tr>
              <a:tr h="335999">
                <a:tc>
                  <a:txBody>
                    <a:bodyPr/>
                    <a:lstStyle/>
                    <a:p>
                      <a:r>
                        <a:rPr sz="1300" b="0">
                          <a:solidFill>
                            <a:srgbClr val="6B6963"/>
                          </a:solidFill>
                          <a:latin typeface="Calibri"/>
                        </a:rPr>
                        <a:t>0,1%</a:t>
                      </a:r>
                    </a:p>
                  </a:txBody>
                  <a:tcPr>
                    <a:solidFill>
                      <a:srgbClr val="FCFCFB"/>
                    </a:solidFill>
                  </a:tcPr>
                </a:tc>
                <a:tc>
                  <a:txBody>
                    <a:bodyPr/>
                    <a:lstStyle/>
                    <a:p>
                      <a:r>
                        <a:rPr sz="1300" b="0">
                          <a:solidFill>
                            <a:srgbClr val="6B6963"/>
                          </a:solidFill>
                          <a:latin typeface="Calibri"/>
                        </a:rPr>
                        <a:t>38 068</a:t>
                      </a:r>
                    </a:p>
                  </a:txBody>
                  <a:tcPr>
                    <a:solidFill>
                      <a:srgbClr val="FCFCFB"/>
                    </a:solidFill>
                  </a:tcPr>
                </a:tc>
                <a:tc>
                  <a:txBody>
                    <a:bodyPr/>
                    <a:lstStyle/>
                    <a:p>
                      <a:r>
                        <a:rPr sz="1300" b="0">
                          <a:solidFill>
                            <a:srgbClr val="6B6963"/>
                          </a:solidFill>
                          <a:latin typeface="Calibri"/>
                        </a:rPr>
                        <a:t>924</a:t>
                      </a:r>
                    </a:p>
                  </a:txBody>
                  <a:tcPr>
                    <a:solidFill>
                      <a:srgbClr val="FCFCFB"/>
                    </a:solidFill>
                  </a:tcPr>
                </a:tc>
                <a:tc>
                  <a:txBody>
                    <a:bodyPr/>
                    <a:lstStyle/>
                    <a:p>
                      <a:r>
                        <a:rPr sz="1300" b="0">
                          <a:solidFill>
                            <a:srgbClr val="6B6963"/>
                          </a:solidFill>
                          <a:latin typeface="Calibri"/>
                        </a:rPr>
                        <a:t>14,6%</a:t>
                      </a:r>
                    </a:p>
                  </a:txBody>
                  <a:tcPr>
                    <a:solidFill>
                      <a:srgbClr val="FCFCFB"/>
                    </a:solidFill>
                  </a:tcPr>
                </a:tc>
              </a:tr>
              <a:tr h="335999">
                <a:tc>
                  <a:txBody>
                    <a:bodyPr/>
                    <a:lstStyle/>
                    <a:p>
                      <a:r>
                        <a:rPr sz="1300" b="0">
                          <a:solidFill>
                            <a:srgbClr val="6B6963"/>
                          </a:solidFill>
                          <a:latin typeface="Calibri"/>
                        </a:rPr>
                        <a:t>0,5%</a:t>
                      </a:r>
                    </a:p>
                  </a:txBody>
                  <a:tcPr>
                    <a:solidFill>
                      <a:srgbClr val="FCFCFB"/>
                    </a:solidFill>
                  </a:tcPr>
                </a:tc>
                <a:tc>
                  <a:txBody>
                    <a:bodyPr/>
                    <a:lstStyle/>
                    <a:p>
                      <a:r>
                        <a:rPr sz="1300" b="0">
                          <a:solidFill>
                            <a:srgbClr val="6B6963"/>
                          </a:solidFill>
                          <a:latin typeface="Calibri"/>
                        </a:rPr>
                        <a:t>190 342</a:t>
                      </a:r>
                    </a:p>
                  </a:txBody>
                  <a:tcPr>
                    <a:solidFill>
                      <a:srgbClr val="FCFCFB"/>
                    </a:solidFill>
                  </a:tcPr>
                </a:tc>
                <a:tc>
                  <a:txBody>
                    <a:bodyPr/>
                    <a:lstStyle/>
                    <a:p>
                      <a:r>
                        <a:rPr sz="1300" b="0">
                          <a:solidFill>
                            <a:srgbClr val="6B6963"/>
                          </a:solidFill>
                          <a:latin typeface="Calibri"/>
                        </a:rPr>
                        <a:t>1 973</a:t>
                      </a:r>
                    </a:p>
                  </a:txBody>
                  <a:tcPr>
                    <a:solidFill>
                      <a:srgbClr val="FCFCFB"/>
                    </a:solidFill>
                  </a:tcPr>
                </a:tc>
                <a:tc>
                  <a:txBody>
                    <a:bodyPr/>
                    <a:lstStyle/>
                    <a:p>
                      <a:r>
                        <a:rPr sz="1300" b="0">
                          <a:solidFill>
                            <a:srgbClr val="6B6963"/>
                          </a:solidFill>
                          <a:latin typeface="Calibri"/>
                        </a:rPr>
                        <a:t>31,2%</a:t>
                      </a:r>
                    </a:p>
                  </a:txBody>
                  <a:tcPr>
                    <a:solidFill>
                      <a:srgbClr val="FCFCFB"/>
                    </a:solidFill>
                  </a:tcPr>
                </a:tc>
              </a:tr>
              <a:tr h="335999">
                <a:tc>
                  <a:txBody>
                    <a:bodyPr/>
                    <a:lstStyle/>
                    <a:p>
                      <a:r>
                        <a:rPr sz="1300" b="1">
                          <a:solidFill>
                            <a:srgbClr val="0B0B0B"/>
                          </a:solidFill>
                          <a:latin typeface="Calibri"/>
                        </a:rPr>
                        <a:t>1,0%</a:t>
                      </a:r>
                    </a:p>
                  </a:txBody>
                  <a:tcPr>
                    <a:solidFill>
                      <a:srgbClr val="F2F1EC"/>
                    </a:solidFill>
                  </a:tcPr>
                </a:tc>
                <a:tc>
                  <a:txBody>
                    <a:bodyPr/>
                    <a:lstStyle/>
                    <a:p>
                      <a:r>
                        <a:rPr sz="1300" b="1">
                          <a:solidFill>
                            <a:srgbClr val="0B0B0B"/>
                          </a:solidFill>
                          <a:latin typeface="Calibri"/>
                        </a:rPr>
                        <a:t>380 684</a:t>
                      </a:r>
                    </a:p>
                  </a:txBody>
                  <a:tcPr>
                    <a:solidFill>
                      <a:srgbClr val="F2F1EC"/>
                    </a:solidFill>
                  </a:tcPr>
                </a:tc>
                <a:tc>
                  <a:txBody>
                    <a:bodyPr/>
                    <a:lstStyle/>
                    <a:p>
                      <a:r>
                        <a:rPr sz="1300" b="1">
                          <a:solidFill>
                            <a:srgbClr val="0B0B0B"/>
                          </a:solidFill>
                          <a:latin typeface="Calibri"/>
                        </a:rPr>
                        <a:t>2 650</a:t>
                      </a:r>
                    </a:p>
                  </a:txBody>
                  <a:tcPr>
                    <a:solidFill>
                      <a:srgbClr val="F2F1EC"/>
                    </a:solidFill>
                  </a:tcPr>
                </a:tc>
                <a:tc>
                  <a:txBody>
                    <a:bodyPr/>
                    <a:lstStyle/>
                    <a:p>
                      <a:r>
                        <a:rPr sz="1300" b="1">
                          <a:solidFill>
                            <a:srgbClr val="0B0B0B"/>
                          </a:solidFill>
                          <a:latin typeface="Calibri"/>
                        </a:rPr>
                        <a:t>41,9%</a:t>
                      </a:r>
                    </a:p>
                  </a:txBody>
                  <a:tcPr>
                    <a:solidFill>
                      <a:srgbClr val="F2F1EC"/>
                    </a:solidFill>
                  </a:tcPr>
                </a:tc>
              </a:tr>
              <a:tr h="335999">
                <a:tc>
                  <a:txBody>
                    <a:bodyPr/>
                    <a:lstStyle/>
                    <a:p>
                      <a:r>
                        <a:rPr sz="1300" b="0">
                          <a:solidFill>
                            <a:srgbClr val="6B6963"/>
                          </a:solidFill>
                          <a:latin typeface="Calibri"/>
                        </a:rPr>
                        <a:t>5,0%</a:t>
                      </a:r>
                    </a:p>
                  </a:txBody>
                  <a:tcPr>
                    <a:solidFill>
                      <a:srgbClr val="FCFCFB"/>
                    </a:solidFill>
                  </a:tcPr>
                </a:tc>
                <a:tc>
                  <a:txBody>
                    <a:bodyPr/>
                    <a:lstStyle/>
                    <a:p>
                      <a:r>
                        <a:rPr sz="1300" b="0">
                          <a:solidFill>
                            <a:srgbClr val="6B6963"/>
                          </a:solidFill>
                          <a:latin typeface="Calibri"/>
                        </a:rPr>
                        <a:t>1 903 423</a:t>
                      </a:r>
                    </a:p>
                  </a:txBody>
                  <a:tcPr>
                    <a:solidFill>
                      <a:srgbClr val="FCFCFB"/>
                    </a:solidFill>
                  </a:tcPr>
                </a:tc>
                <a:tc>
                  <a:txBody>
                    <a:bodyPr/>
                    <a:lstStyle/>
                    <a:p>
                      <a:r>
                        <a:rPr sz="1300" b="0">
                          <a:solidFill>
                            <a:srgbClr val="6B6963"/>
                          </a:solidFill>
                          <a:latin typeface="Calibri"/>
                        </a:rPr>
                        <a:t>4 672</a:t>
                      </a:r>
                    </a:p>
                  </a:txBody>
                  <a:tcPr>
                    <a:solidFill>
                      <a:srgbClr val="FCFCFB"/>
                    </a:solidFill>
                  </a:tcPr>
                </a:tc>
                <a:tc>
                  <a:txBody>
                    <a:bodyPr/>
                    <a:lstStyle/>
                    <a:p>
                      <a:r>
                        <a:rPr sz="1300" b="0">
                          <a:solidFill>
                            <a:srgbClr val="6B6963"/>
                          </a:solidFill>
                          <a:latin typeface="Calibri"/>
                        </a:rPr>
                        <a:t>73,9%</a:t>
                      </a:r>
                    </a:p>
                  </a:txBody>
                  <a:tcPr>
                    <a:solidFill>
                      <a:srgbClr val="FCFCFB"/>
                    </a:solidFill>
                  </a:tcPr>
                </a:tc>
              </a:tr>
              <a:tr h="336004">
                <a:tc>
                  <a:txBody>
                    <a:bodyPr/>
                    <a:lstStyle/>
                    <a:p>
                      <a:r>
                        <a:rPr sz="1300" b="0">
                          <a:solidFill>
                            <a:srgbClr val="6B6963"/>
                          </a:solidFill>
                          <a:latin typeface="Calibri"/>
                        </a:rPr>
                        <a:t>10,0%</a:t>
                      </a:r>
                    </a:p>
                  </a:txBody>
                  <a:tcPr>
                    <a:solidFill>
                      <a:srgbClr val="FCFCFB"/>
                    </a:solidFill>
                  </a:tcPr>
                </a:tc>
                <a:tc>
                  <a:txBody>
                    <a:bodyPr/>
                    <a:lstStyle/>
                    <a:p>
                      <a:r>
                        <a:rPr sz="1300" b="0">
                          <a:solidFill>
                            <a:srgbClr val="6B6963"/>
                          </a:solidFill>
                          <a:latin typeface="Calibri"/>
                        </a:rPr>
                        <a:t>3 806 846</a:t>
                      </a:r>
                    </a:p>
                  </a:txBody>
                  <a:tcPr>
                    <a:solidFill>
                      <a:srgbClr val="FCFCFB"/>
                    </a:solidFill>
                  </a:tcPr>
                </a:tc>
                <a:tc>
                  <a:txBody>
                    <a:bodyPr/>
                    <a:lstStyle/>
                    <a:p>
                      <a:r>
                        <a:rPr sz="1300" b="0">
                          <a:solidFill>
                            <a:srgbClr val="6B6963"/>
                          </a:solidFill>
                          <a:latin typeface="Calibri"/>
                        </a:rPr>
                        <a:t>5 372</a:t>
                      </a:r>
                    </a:p>
                  </a:txBody>
                  <a:tcPr>
                    <a:solidFill>
                      <a:srgbClr val="FCFCFB"/>
                    </a:solidFill>
                  </a:tcPr>
                </a:tc>
                <a:tc>
                  <a:txBody>
                    <a:bodyPr/>
                    <a:lstStyle/>
                    <a:p>
                      <a:r>
                        <a:rPr sz="1300" b="0">
                          <a:solidFill>
                            <a:srgbClr val="6B6963"/>
                          </a:solidFill>
                          <a:latin typeface="Calibri"/>
                        </a:rPr>
                        <a:t>85,0%</a:t>
                      </a:r>
                    </a:p>
                  </a:txBody>
                  <a:tcPr>
                    <a:solidFill>
                      <a:srgbClr val="FCFCFB"/>
                    </a:solidFill>
                  </a:tcPr>
                </a:tc>
              </a:tr>
            </a:tbl>
          </a:graphicData>
        </a:graphic>
      </p:graphicFrame>
      <p:sp>
        <p:nvSpPr>
          <p:cNvPr id="6" name="Rectangle 5"/>
          <p:cNvSpPr/>
          <p:nvPr/>
        </p:nvSpPr>
        <p:spPr>
          <a:xfrm>
            <a:off x="684000" y="4248000"/>
            <a:ext cx="39600" cy="1655999"/>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4284000"/>
            <a:ext cx="10548000" cy="1655999"/>
          </a:xfrm>
          <a:prstGeom prst="rect">
            <a:avLst/>
          </a:prstGeom>
          <a:noFill/>
        </p:spPr>
        <p:txBody>
          <a:bodyPr wrap="square">
            <a:spAutoFit/>
          </a:bodyPr>
          <a:lstStyle/>
          <a:p>
            <a:pPr>
              <a:lnSpc>
                <a:spcPct val="130000"/>
              </a:lnSpc>
            </a:pPr>
            <a:r>
              <a:rPr sz="1500" b="0">
                <a:solidFill>
                  <a:srgbClr val="0B0B0B"/>
                </a:solidFill>
                <a:latin typeface="Calibri"/>
              </a:rPr>
              <a:t>En surveillant 1 % des communes-jours, on couvre 42 % des départs. Le rapport entre les deux est ce que le modèle apporte réellement.</a:t>
            </a:r>
          </a:p>
          <a:p>
            <a:pPr>
              <a:lnSpc>
                <a:spcPct val="130000"/>
              </a:lnSpc>
            </a:pPr>
            <a:r>
              <a:rPr sz="1500" b="0">
                <a:solidFill>
                  <a:srgbClr val="0B0B0B"/>
                </a:solidFill>
                <a:latin typeface="Calibri"/>
              </a:rPr>
              <a:t>Autre lecture, moins flatteuse et tout aussi vraie : les 37 % de PR-AUC qui séparent v3 du modèle C ne valent que 3 points de rappel à 1 % de budget, et plus rien du tout à 10 %. Une grande partie de l'écart mesuré est opérationnellement invisible.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H4 · le danger monte, les feux non</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Deux fenêtres d'observation, deux conclusions, et il faut dire laquelle croire.</a:t>
            </a:r>
          </a:p>
        </p:txBody>
      </p:sp>
      <p:pic>
        <p:nvPicPr>
          <p:cNvPr id="5" name="Picture 4" descr="tendance.png"/>
          <p:cNvPicPr>
            <a:picLocks noChangeAspect="1"/>
          </p:cNvPicPr>
          <p:nvPr/>
        </p:nvPicPr>
        <p:blipFill>
          <a:blip r:embed="rId2"/>
          <a:stretch>
            <a:fillRect/>
          </a:stretch>
        </p:blipFill>
        <p:spPr>
          <a:xfrm>
            <a:off x="2353329" y="1944000"/>
            <a:ext cx="7461341" cy="2592000"/>
          </a:xfrm>
          <a:prstGeom prst="rect">
            <a:avLst/>
          </a:prstGeom>
        </p:spPr>
      </p:pic>
      <p:graphicFrame>
        <p:nvGraphicFramePr>
          <p:cNvPr id="6" name="Table 5"/>
          <p:cNvGraphicFramePr>
            <a:graphicFrameLocks noGrp="1"/>
          </p:cNvGraphicFramePr>
          <p:nvPr/>
        </p:nvGraphicFramePr>
        <p:xfrm>
          <a:off x="684000" y="4752000"/>
          <a:ext cx="9720000" cy="1800000"/>
        </p:xfrm>
        <a:graphic>
          <a:graphicData uri="http://schemas.openxmlformats.org/drawingml/2006/table">
            <a:tbl>
              <a:tblPr firstRow="1" bandRow="1">
                <a:tableStyleId>{5C22544A-7EE6-4342-B048-85BDC9FD1C3A}</a:tableStyleId>
              </a:tblPr>
              <a:tblGrid>
                <a:gridCol w="2880000"/>
                <a:gridCol w="1800000"/>
                <a:gridCol w="1800000"/>
                <a:gridCol w="1620000"/>
                <a:gridCol w="1620000"/>
              </a:tblGrid>
              <a:tr h="360000">
                <a:tc>
                  <a:txBody>
                    <a:bodyPr/>
                    <a:lstStyle/>
                    <a:p>
                      <a:r>
                        <a:rPr sz="1300" b="1">
                          <a:solidFill>
                            <a:srgbClr val="FCFCFB"/>
                          </a:solidFill>
                          <a:latin typeface="Calibri"/>
                        </a:rPr>
                        <a:t>Série</a:t>
                      </a:r>
                    </a:p>
                  </a:txBody>
                  <a:tcPr>
                    <a:solidFill>
                      <a:srgbClr val="0B0B0B"/>
                    </a:solidFill>
                  </a:tcPr>
                </a:tc>
                <a:tc>
                  <a:txBody>
                    <a:bodyPr/>
                    <a:lstStyle/>
                    <a:p>
                      <a:r>
                        <a:rPr sz="1300" b="1">
                          <a:solidFill>
                            <a:srgbClr val="FCFCFB"/>
                          </a:solidFill>
                          <a:latin typeface="Calibri"/>
                        </a:rPr>
                        <a:t>Période</a:t>
                      </a:r>
                    </a:p>
                  </a:txBody>
                  <a:tcPr>
                    <a:solidFill>
                      <a:srgbClr val="0B0B0B"/>
                    </a:solidFill>
                  </a:tcPr>
                </a:tc>
                <a:tc>
                  <a:txBody>
                    <a:bodyPr/>
                    <a:lstStyle/>
                    <a:p>
                      <a:r>
                        <a:rPr sz="1300" b="1">
                          <a:solidFill>
                            <a:srgbClr val="FCFCFB"/>
                          </a:solidFill>
                          <a:latin typeface="Calibri"/>
                        </a:rPr>
                        <a:t>Variation</a:t>
                      </a:r>
                    </a:p>
                  </a:txBody>
                  <a:tcPr>
                    <a:solidFill>
                      <a:srgbClr val="0B0B0B"/>
                    </a:solidFill>
                  </a:tcPr>
                </a:tc>
                <a:tc>
                  <a:txBody>
                    <a:bodyPr/>
                    <a:lstStyle/>
                    <a:p>
                      <a:r>
                        <a:rPr sz="1300" b="1">
                          <a:solidFill>
                            <a:srgbClr val="FCFCFB"/>
                          </a:solidFill>
                          <a:latin typeface="Calibri"/>
                        </a:rPr>
                        <a:t>p</a:t>
                      </a:r>
                    </a:p>
                  </a:txBody>
                  <a:tcPr>
                    <a:solidFill>
                      <a:srgbClr val="0B0B0B"/>
                    </a:solidFill>
                  </a:tcPr>
                </a:tc>
                <a:tc>
                  <a:txBody>
                    <a:bodyPr/>
                    <a:lstStyle/>
                    <a:p>
                      <a:r>
                        <a:rPr sz="1300" b="1">
                          <a:solidFill>
                            <a:srgbClr val="FCFCFB"/>
                          </a:solidFill>
                          <a:latin typeface="Calibri"/>
                        </a:rPr>
                        <a:t>Verdict</a:t>
                      </a:r>
                    </a:p>
                  </a:txBody>
                  <a:tcPr>
                    <a:solidFill>
                      <a:srgbClr val="0B0B0B"/>
                    </a:solidFill>
                  </a:tcPr>
                </a:tc>
              </a:tr>
              <a:tr h="360000">
                <a:tc>
                  <a:txBody>
                    <a:bodyPr/>
                    <a:lstStyle/>
                    <a:p>
                      <a:r>
                        <a:rPr sz="1300" b="0">
                          <a:solidFill>
                            <a:srgbClr val="6B6963"/>
                          </a:solidFill>
                          <a:latin typeface="Calibri"/>
                        </a:rPr>
                        <a:t>FWI moyen annuel</a:t>
                      </a:r>
                    </a:p>
                  </a:txBody>
                  <a:tcPr>
                    <a:solidFill>
                      <a:srgbClr val="FCFCFB"/>
                    </a:solidFill>
                  </a:tcPr>
                </a:tc>
                <a:tc>
                  <a:txBody>
                    <a:bodyPr/>
                    <a:lstStyle/>
                    <a:p>
                      <a:r>
                        <a:rPr sz="1300" b="0">
                          <a:solidFill>
                            <a:srgbClr val="6B6963"/>
                          </a:solidFill>
                          <a:latin typeface="Calibri"/>
                        </a:rPr>
                        <a:t>1973-2025</a:t>
                      </a:r>
                    </a:p>
                  </a:txBody>
                  <a:tcPr>
                    <a:solidFill>
                      <a:srgbClr val="FCFCFB"/>
                    </a:solidFill>
                  </a:tcPr>
                </a:tc>
                <a:tc>
                  <a:txBody>
                    <a:bodyPr/>
                    <a:lstStyle/>
                    <a:p>
                      <a:r>
                        <a:rPr sz="1300" b="0">
                          <a:solidFill>
                            <a:srgbClr val="6B6963"/>
                          </a:solidFill>
                          <a:latin typeface="Calibri"/>
                        </a:rPr>
                        <a:t>+58 %</a:t>
                      </a:r>
                    </a:p>
                  </a:txBody>
                  <a:tcPr>
                    <a:solidFill>
                      <a:srgbClr val="FCFCFB"/>
                    </a:solidFill>
                  </a:tcPr>
                </a:tc>
                <a:tc>
                  <a:txBody>
                    <a:bodyPr/>
                    <a:lstStyle/>
                    <a:p>
                      <a:r>
                        <a:rPr sz="1300" b="0">
                          <a:solidFill>
                            <a:srgbClr val="6B6963"/>
                          </a:solidFill>
                          <a:latin typeface="Calibri"/>
                        </a:rPr>
                        <a:t>4.2e-05</a:t>
                      </a:r>
                    </a:p>
                  </a:txBody>
                  <a:tcPr>
                    <a:solidFill>
                      <a:srgbClr val="FCFCFB"/>
                    </a:solidFill>
                  </a:tcPr>
                </a:tc>
                <a:tc>
                  <a:txBody>
                    <a:bodyPr/>
                    <a:lstStyle/>
                    <a:p>
                      <a:r>
                        <a:rPr sz="1300" b="0">
                          <a:solidFill>
                            <a:srgbClr val="6B6963"/>
                          </a:solidFill>
                          <a:latin typeface="Calibri"/>
                        </a:rPr>
                        <a:t>significatif</a:t>
                      </a:r>
                    </a:p>
                  </a:txBody>
                  <a:tcPr>
                    <a:solidFill>
                      <a:srgbClr val="FCFCFB"/>
                    </a:solidFill>
                  </a:tcPr>
                </a:tc>
              </a:tr>
              <a:tr h="360000">
                <a:tc>
                  <a:txBody>
                    <a:bodyPr/>
                    <a:lstStyle/>
                    <a:p>
                      <a:r>
                        <a:rPr sz="1300" b="0">
                          <a:solidFill>
                            <a:srgbClr val="6B6963"/>
                          </a:solidFill>
                          <a:latin typeface="Calibri"/>
                        </a:rPr>
                        <a:t>FWI juin-septembre</a:t>
                      </a:r>
                    </a:p>
                  </a:txBody>
                  <a:tcPr>
                    <a:solidFill>
                      <a:srgbClr val="FCFCFB"/>
                    </a:solidFill>
                  </a:tcPr>
                </a:tc>
                <a:tc>
                  <a:txBody>
                    <a:bodyPr/>
                    <a:lstStyle/>
                    <a:p>
                      <a:r>
                        <a:rPr sz="1300" b="0">
                          <a:solidFill>
                            <a:srgbClr val="6B6963"/>
                          </a:solidFill>
                          <a:latin typeface="Calibri"/>
                        </a:rPr>
                        <a:t>1973-2025</a:t>
                      </a:r>
                    </a:p>
                  </a:txBody>
                  <a:tcPr>
                    <a:solidFill>
                      <a:srgbClr val="FCFCFB"/>
                    </a:solidFill>
                  </a:tcPr>
                </a:tc>
                <a:tc>
                  <a:txBody>
                    <a:bodyPr/>
                    <a:lstStyle/>
                    <a:p>
                      <a:r>
                        <a:rPr sz="1300" b="0">
                          <a:solidFill>
                            <a:srgbClr val="6B6963"/>
                          </a:solidFill>
                          <a:latin typeface="Calibri"/>
                        </a:rPr>
                        <a:t>+62 %</a:t>
                      </a:r>
                    </a:p>
                  </a:txBody>
                  <a:tcPr>
                    <a:solidFill>
                      <a:srgbClr val="FCFCFB"/>
                    </a:solidFill>
                  </a:tcPr>
                </a:tc>
                <a:tc>
                  <a:txBody>
                    <a:bodyPr/>
                    <a:lstStyle/>
                    <a:p>
                      <a:r>
                        <a:rPr sz="1300" b="0">
                          <a:solidFill>
                            <a:srgbClr val="6B6963"/>
                          </a:solidFill>
                          <a:latin typeface="Calibri"/>
                        </a:rPr>
                        <a:t>1.5e-04</a:t>
                      </a:r>
                    </a:p>
                  </a:txBody>
                  <a:tcPr>
                    <a:solidFill>
                      <a:srgbClr val="FCFCFB"/>
                    </a:solidFill>
                  </a:tcPr>
                </a:tc>
                <a:tc>
                  <a:txBody>
                    <a:bodyPr/>
                    <a:lstStyle/>
                    <a:p>
                      <a:r>
                        <a:rPr sz="1300" b="0">
                          <a:solidFill>
                            <a:srgbClr val="6B6963"/>
                          </a:solidFill>
                          <a:latin typeface="Calibri"/>
                        </a:rPr>
                        <a:t>significatif</a:t>
                      </a:r>
                    </a:p>
                  </a:txBody>
                  <a:tcPr>
                    <a:solidFill>
                      <a:srgbClr val="FCFCFB"/>
                    </a:solidFill>
                  </a:tcPr>
                </a:tc>
              </a:tr>
              <a:tr h="360000">
                <a:tc>
                  <a:txBody>
                    <a:bodyPr/>
                    <a:lstStyle/>
                    <a:p>
                      <a:r>
                        <a:rPr sz="1300" b="0">
                          <a:solidFill>
                            <a:srgbClr val="6B6963"/>
                          </a:solidFill>
                          <a:latin typeface="Calibri"/>
                        </a:rPr>
                        <a:t>jours de danger élevé</a:t>
                      </a:r>
                    </a:p>
                  </a:txBody>
                  <a:tcPr>
                    <a:solidFill>
                      <a:srgbClr val="FCFCFB"/>
                    </a:solidFill>
                  </a:tcPr>
                </a:tc>
                <a:tc>
                  <a:txBody>
                    <a:bodyPr/>
                    <a:lstStyle/>
                    <a:p>
                      <a:r>
                        <a:rPr sz="1300" b="0">
                          <a:solidFill>
                            <a:srgbClr val="6B6963"/>
                          </a:solidFill>
                          <a:latin typeface="Calibri"/>
                        </a:rPr>
                        <a:t>1973-2025</a:t>
                      </a:r>
                    </a:p>
                  </a:txBody>
                  <a:tcPr>
                    <a:solidFill>
                      <a:srgbClr val="FCFCFB"/>
                    </a:solidFill>
                  </a:tcPr>
                </a:tc>
                <a:tc>
                  <a:txBody>
                    <a:bodyPr/>
                    <a:lstStyle/>
                    <a:p>
                      <a:r>
                        <a:rPr sz="1300" b="0">
                          <a:solidFill>
                            <a:srgbClr val="6B6963"/>
                          </a:solidFill>
                          <a:latin typeface="Calibri"/>
                        </a:rPr>
                        <a:t>+197 %</a:t>
                      </a:r>
                    </a:p>
                  </a:txBody>
                  <a:tcPr>
                    <a:solidFill>
                      <a:srgbClr val="FCFCFB"/>
                    </a:solidFill>
                  </a:tcPr>
                </a:tc>
                <a:tc>
                  <a:txBody>
                    <a:bodyPr/>
                    <a:lstStyle/>
                    <a:p>
                      <a:r>
                        <a:rPr sz="1300" b="0">
                          <a:solidFill>
                            <a:srgbClr val="6B6963"/>
                          </a:solidFill>
                          <a:latin typeface="Calibri"/>
                        </a:rPr>
                        <a:t>5.2e-05</a:t>
                      </a:r>
                    </a:p>
                  </a:txBody>
                  <a:tcPr>
                    <a:solidFill>
                      <a:srgbClr val="FCFCFB"/>
                    </a:solidFill>
                  </a:tcPr>
                </a:tc>
                <a:tc>
                  <a:txBody>
                    <a:bodyPr/>
                    <a:lstStyle/>
                    <a:p>
                      <a:r>
                        <a:rPr sz="1300" b="0">
                          <a:solidFill>
                            <a:srgbClr val="6B6963"/>
                          </a:solidFill>
                          <a:latin typeface="Calibri"/>
                        </a:rPr>
                        <a:t>significatif</a:t>
                      </a:r>
                    </a:p>
                  </a:txBody>
                  <a:tcPr>
                    <a:solidFill>
                      <a:srgbClr val="FCFCFB"/>
                    </a:solidFill>
                  </a:tcPr>
                </a:tc>
              </a:tr>
              <a:tr h="360000">
                <a:tc>
                  <a:txBody>
                    <a:bodyPr/>
                    <a:lstStyle/>
                    <a:p>
                      <a:r>
                        <a:rPr sz="1300" b="1">
                          <a:solidFill>
                            <a:srgbClr val="0B0B0B"/>
                          </a:solidFill>
                          <a:latin typeface="Calibri"/>
                        </a:rPr>
                        <a:t>communes-jours en feu</a:t>
                      </a:r>
                    </a:p>
                  </a:txBody>
                  <a:tcPr>
                    <a:solidFill>
                      <a:srgbClr val="F2F1EC"/>
                    </a:solidFill>
                  </a:tcPr>
                </a:tc>
                <a:tc>
                  <a:txBody>
                    <a:bodyPr/>
                    <a:lstStyle/>
                    <a:p>
                      <a:r>
                        <a:rPr sz="1300" b="1">
                          <a:solidFill>
                            <a:srgbClr val="0B0B0B"/>
                          </a:solidFill>
                          <a:latin typeface="Calibri"/>
                        </a:rPr>
                        <a:t>2006-2025</a:t>
                      </a:r>
                    </a:p>
                  </a:txBody>
                  <a:tcPr>
                    <a:solidFill>
                      <a:srgbClr val="F2F1EC"/>
                    </a:solidFill>
                  </a:tcPr>
                </a:tc>
                <a:tc>
                  <a:txBody>
                    <a:bodyPr/>
                    <a:lstStyle/>
                    <a:p>
                      <a:r>
                        <a:rPr sz="1300" b="1">
                          <a:solidFill>
                            <a:srgbClr val="0B0B0B"/>
                          </a:solidFill>
                          <a:latin typeface="Calibri"/>
                        </a:rPr>
                        <a:t>+3 %</a:t>
                      </a:r>
                    </a:p>
                  </a:txBody>
                  <a:tcPr>
                    <a:solidFill>
                      <a:srgbClr val="F2F1EC"/>
                    </a:solidFill>
                  </a:tcPr>
                </a:tc>
                <a:tc>
                  <a:txBody>
                    <a:bodyPr/>
                    <a:lstStyle/>
                    <a:p>
                      <a:r>
                        <a:rPr sz="1300" b="1">
                          <a:solidFill>
                            <a:srgbClr val="0B0B0B"/>
                          </a:solidFill>
                          <a:latin typeface="Calibri"/>
                        </a:rPr>
                        <a:t>0.89</a:t>
                      </a:r>
                    </a:p>
                  </a:txBody>
                  <a:tcPr>
                    <a:solidFill>
                      <a:srgbClr val="F2F1EC"/>
                    </a:solidFill>
                  </a:tcPr>
                </a:tc>
                <a:tc>
                  <a:txBody>
                    <a:bodyPr/>
                    <a:lstStyle/>
                    <a:p>
                      <a:r>
                        <a:rPr sz="1300" b="1">
                          <a:solidFill>
                            <a:srgbClr val="0B0B0B"/>
                          </a:solidFill>
                          <a:latin typeface="Calibri"/>
                        </a:rPr>
                        <a:t>non significatif</a:t>
                      </a:r>
                    </a:p>
                  </a:txBody>
                  <a:tcPr>
                    <a:solidFill>
                      <a:srgbClr val="F2F1EC"/>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84000" y="2268000"/>
            <a:ext cx="2160000" cy="503999"/>
          </a:xfrm>
          <a:prstGeom prst="rect">
            <a:avLst/>
          </a:prstGeom>
          <a:noFill/>
        </p:spPr>
        <p:txBody>
          <a:bodyPr wrap="square">
            <a:spAutoFit/>
          </a:bodyPr>
          <a:lstStyle/>
          <a:p>
            <a:pPr>
              <a:lnSpc>
                <a:spcPct val="125000"/>
              </a:lnSpc>
            </a:pPr>
            <a:r>
              <a:rPr sz="1500" b="1">
                <a:solidFill>
                  <a:srgbClr val="E34948"/>
                </a:solidFill>
                <a:latin typeface="Calibri"/>
              </a:rPr>
              <a:t>05</a:t>
            </a:r>
          </a:p>
        </p:txBody>
      </p:sp>
      <p:sp>
        <p:nvSpPr>
          <p:cNvPr id="3" name="TextBox 2"/>
          <p:cNvSpPr txBox="1"/>
          <p:nvPr/>
        </p:nvSpPr>
        <p:spPr>
          <a:xfrm>
            <a:off x="684000" y="2628000"/>
            <a:ext cx="10080000" cy="1080000"/>
          </a:xfrm>
          <a:prstGeom prst="rect">
            <a:avLst/>
          </a:prstGeom>
          <a:noFill/>
        </p:spPr>
        <p:txBody>
          <a:bodyPr wrap="square">
            <a:spAutoFit/>
          </a:bodyPr>
          <a:lstStyle/>
          <a:p>
            <a:pPr>
              <a:lnSpc>
                <a:spcPct val="110000"/>
              </a:lnSpc>
            </a:pPr>
            <a:r>
              <a:rPr sz="3400" b="1">
                <a:solidFill>
                  <a:srgbClr val="FCFCFB"/>
                </a:solidFill>
                <a:latin typeface="Calibri"/>
              </a:rPr>
              <a:t>Interprétation</a:t>
            </a:r>
          </a:p>
        </p:txBody>
      </p:sp>
      <p:sp>
        <p:nvSpPr>
          <p:cNvPr id="4" name="TextBox 3"/>
          <p:cNvSpPr txBox="1"/>
          <p:nvPr/>
        </p:nvSpPr>
        <p:spPr>
          <a:xfrm>
            <a:off x="684000" y="4104000"/>
            <a:ext cx="9360000" cy="900000"/>
          </a:xfrm>
          <a:prstGeom prst="rect">
            <a:avLst/>
          </a:prstGeom>
          <a:noFill/>
        </p:spPr>
        <p:txBody>
          <a:bodyPr wrap="square">
            <a:spAutoFit/>
          </a:bodyPr>
          <a:lstStyle/>
          <a:p>
            <a:pPr>
              <a:lnSpc>
                <a:spcPct val="135000"/>
              </a:lnSpc>
            </a:pPr>
            <a:r>
              <a:rPr sz="1600" b="0">
                <a:solidFill>
                  <a:srgbClr val="C3C2B7"/>
                </a:solidFill>
                <a:latin typeface="Calibri"/>
              </a:rPr>
              <a:t>Ce que le modèle a appris, et ce qu'on peut en faire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Qu'est-ce qui fait partir un feu ?</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Trois façons de poser la question, trois réponses, chacune juste mais pas à la même question.</a:t>
            </a:r>
          </a:p>
        </p:txBody>
      </p:sp>
      <p:pic>
        <p:nvPicPr>
          <p:cNvPr id="5" name="Picture 4" descr="shap_c.png"/>
          <p:cNvPicPr>
            <a:picLocks noChangeAspect="1"/>
          </p:cNvPicPr>
          <p:nvPr/>
        </p:nvPicPr>
        <p:blipFill>
          <a:blip r:embed="rId2"/>
          <a:stretch>
            <a:fillRect/>
          </a:stretch>
        </p:blipFill>
        <p:spPr>
          <a:xfrm>
            <a:off x="1882073" y="1944000"/>
            <a:ext cx="8403852" cy="2951999"/>
          </a:xfrm>
          <a:prstGeom prst="rect">
            <a:avLst/>
          </a:prstGeom>
        </p:spPr>
      </p:pic>
      <p:sp>
        <p:nvSpPr>
          <p:cNvPr id="6" name="Rectangle 5"/>
          <p:cNvSpPr/>
          <p:nvPr/>
        </p:nvSpPr>
        <p:spPr>
          <a:xfrm>
            <a:off x="684000" y="5112000"/>
            <a:ext cx="39600" cy="1800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5148000"/>
            <a:ext cx="10548000" cy="1800000"/>
          </a:xfrm>
          <a:prstGeom prst="rect">
            <a:avLst/>
          </a:prstGeom>
          <a:noFill/>
        </p:spPr>
        <p:txBody>
          <a:bodyPr wrap="square">
            <a:spAutoFit/>
          </a:bodyPr>
          <a:lstStyle/>
          <a:p>
            <a:pPr>
              <a:lnSpc>
                <a:spcPct val="130000"/>
              </a:lnSpc>
            </a:pPr>
            <a:r>
              <a:rPr sz="1400" b="0">
                <a:solidFill>
                  <a:srgbClr val="0B0B0B"/>
                </a:solidFill>
                <a:latin typeface="Calibri"/>
              </a:rPr>
              <a:t>danger_effis est 2ᵉ par gain et 30ᵉ par SHAP. C'est une discrétisation du FWI en six classes : XGBoost trouve ces seuils commodes pour découper, mais l'information est déjà dans le FWI continu, et SHAP lui en attribue le crédit. L'importance par gain ne sait pas traiter la redondance.</a:t>
            </a:r>
          </a:p>
          <a:p>
            <a:pPr>
              <a:lnSpc>
                <a:spcPct val="130000"/>
              </a:lnSpc>
            </a:pPr>
            <a:r>
              <a:rPr sz="1400" b="0">
                <a:solidFill>
                  <a:srgbClr val="0B0B0B"/>
                </a:solidFill>
                <a:latin typeface="Calibri"/>
              </a:rPr>
              <a:t>part_maquis est 1ᵉʳ par gain, 10ᵉ sur l'échantillon aléatoire et 2ᵉ au sommet : il ne change rien sur une commune-jour moyenne, et devient déterminant là où le modèle voit du risque.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 seule question actionnable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SHAP et LIME répondent à « pourquoi ce score ». DiCE répond à « qu'aurait-il fallu changer ».</a:t>
            </a:r>
          </a:p>
        </p:txBody>
      </p:sp>
      <p:sp>
        <p:nvSpPr>
          <p:cNvPr id="5" name="TextBox 4"/>
          <p:cNvSpPr txBox="1"/>
          <p:nvPr/>
        </p:nvSpPr>
        <p:spPr>
          <a:xfrm>
            <a:off x="684000" y="1944000"/>
            <a:ext cx="10800000" cy="460800"/>
          </a:xfrm>
          <a:prstGeom prst="rect">
            <a:avLst/>
          </a:prstGeom>
          <a:noFill/>
        </p:spPr>
        <p:txBody>
          <a:bodyPr wrap="square">
            <a:spAutoFit/>
          </a:bodyPr>
          <a:lstStyle/>
          <a:p>
            <a:pPr>
              <a:lnSpc>
                <a:spcPct val="125000"/>
              </a:lnSpc>
            </a:pPr>
            <a:r>
              <a:rPr sz="1600" b="1">
                <a:solidFill>
                  <a:srgbClr val="0B0B0B"/>
                </a:solidFill>
                <a:latin typeface="Calibri"/>
              </a:rPr>
              <a:t>Un exemple, mesuré</a:t>
            </a:r>
          </a:p>
        </p:txBody>
      </p:sp>
      <p:sp>
        <p:nvSpPr>
          <p:cNvPr id="6" name="TextBox 5"/>
          <p:cNvSpPr txBox="1"/>
          <p:nvPr/>
        </p:nvSpPr>
        <p:spPr>
          <a:xfrm>
            <a:off x="684000" y="2404800"/>
            <a:ext cx="10800000" cy="609638"/>
          </a:xfrm>
          <a:prstGeom prst="rect">
            <a:avLst/>
          </a:prstGeom>
          <a:noFill/>
        </p:spPr>
        <p:txBody>
          <a:bodyPr wrap="square">
            <a:spAutoFit/>
          </a:bodyPr>
          <a:lstStyle/>
          <a:p>
            <a:pPr>
              <a:lnSpc>
                <a:spcPct val="125000"/>
              </a:lnSpc>
            </a:pPr>
            <a:r>
              <a:rPr sz="1600" b="0">
                <a:solidFill>
                  <a:srgbClr val="6B6963"/>
                </a:solidFill>
                <a:latin typeface="Calibri"/>
              </a:rPr>
              <a:t>· Bormes-les-Mimosas, 99,9ᵉ percentile du 12 août 2024. On autorise à modifier la végétation seule : maquis, forêt, part combustible, part agricole.</a:t>
            </a:r>
          </a:p>
        </p:txBody>
      </p:sp>
      <p:sp>
        <p:nvSpPr>
          <p:cNvPr id="7" name="TextBox 6"/>
          <p:cNvSpPr txBox="1"/>
          <p:nvPr/>
        </p:nvSpPr>
        <p:spPr>
          <a:xfrm>
            <a:off x="684000" y="3036038"/>
            <a:ext cx="10800000" cy="460800"/>
          </a:xfrm>
          <a:prstGeom prst="rect">
            <a:avLst/>
          </a:prstGeom>
          <a:noFill/>
        </p:spPr>
        <p:txBody>
          <a:bodyPr wrap="square">
            <a:spAutoFit/>
          </a:bodyPr>
          <a:lstStyle/>
          <a:p>
            <a:pPr>
              <a:lnSpc>
                <a:spcPct val="125000"/>
              </a:lnSpc>
            </a:pPr>
            <a:r>
              <a:rPr sz="1600" b="1">
                <a:solidFill>
                  <a:srgbClr val="0B0B0B"/>
                </a:solidFill>
                <a:latin typeface="Calibri"/>
              </a:rPr>
              <a:t>Résultat : aucun contrefactuel</a:t>
            </a:r>
          </a:p>
        </p:txBody>
      </p:sp>
      <p:sp>
        <p:nvSpPr>
          <p:cNvPr id="8" name="TextBox 7"/>
          <p:cNvSpPr txBox="1"/>
          <p:nvPr/>
        </p:nvSpPr>
        <p:spPr>
          <a:xfrm>
            <a:off x="684000" y="3496838"/>
            <a:ext cx="10800000" cy="609638"/>
          </a:xfrm>
          <a:prstGeom prst="rect">
            <a:avLst/>
          </a:prstGeom>
          <a:noFill/>
        </p:spPr>
        <p:txBody>
          <a:bodyPr wrap="square">
            <a:spAutoFit/>
          </a:bodyPr>
          <a:lstStyle/>
          <a:p>
            <a:pPr>
              <a:lnSpc>
                <a:spcPct val="125000"/>
              </a:lnSpc>
            </a:pPr>
            <a:r>
              <a:rPr sz="1600" b="0">
                <a:solidFill>
                  <a:srgbClr val="6B6963"/>
                </a:solidFill>
                <a:latin typeface="Calibri"/>
              </a:rPr>
              <a:t>· rien, sur ces leviers, ne fait sortir la commune du décile à risque. Son exposition tient à sa position, à son relief, à sa superficie. Le risque est structurel, et l'absence de solution est ici la réponse.</a:t>
            </a:r>
          </a:p>
        </p:txBody>
      </p:sp>
      <p:sp>
        <p:nvSpPr>
          <p:cNvPr id="9" name="Rectangle 8"/>
          <p:cNvSpPr/>
          <p:nvPr/>
        </p:nvSpPr>
        <p:spPr>
          <a:xfrm>
            <a:off x="684000" y="4254076"/>
            <a:ext cx="39600" cy="1872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2000" y="4290076"/>
            <a:ext cx="10548000" cy="1872000"/>
          </a:xfrm>
          <a:prstGeom prst="rect">
            <a:avLst/>
          </a:prstGeom>
          <a:noFill/>
        </p:spPr>
        <p:txBody>
          <a:bodyPr wrap="square">
            <a:spAutoFit/>
          </a:bodyPr>
          <a:lstStyle/>
          <a:p>
            <a:pPr>
              <a:lnSpc>
                <a:spcPct val="130000"/>
              </a:lnSpc>
            </a:pPr>
            <a:r>
              <a:rPr sz="1400" b="0">
                <a:solidFill>
                  <a:srgbClr val="0B0B0B"/>
                </a:solidFill>
                <a:latin typeface="Calibri"/>
              </a:rPr>
              <a:t>Un détail d'implémentation qui change tout</a:t>
            </a:r>
          </a:p>
          <a:p>
            <a:pPr>
              <a:lnSpc>
                <a:spcPct val="130000"/>
              </a:lnSpc>
            </a:pPr>
            <a:r>
              <a:rPr sz="1400" b="0">
                <a:solidFill>
                  <a:srgbClr val="0B0B0B"/>
                </a:solidFill>
                <a:latin typeface="Calibri"/>
              </a:rPr>
              <a:t>DiCE cherche par défaut à faire passer la probabilité sous 0,5. Or le score n'est pas calibré : 0,5 correspond à un risque astronomique, et l'outil ne renvoyait jamais rien.</a:t>
            </a:r>
          </a:p>
          <a:p>
            <a:pPr>
              <a:lnSpc>
                <a:spcPct val="130000"/>
              </a:lnSpc>
            </a:pPr>
            <a:r>
              <a:rPr sz="1400" b="0">
                <a:solidFill>
                  <a:srgbClr val="0B0B0B"/>
                </a:solidFill>
                <a:latin typeface="Calibri"/>
              </a:rPr>
              <a:t>On a recentré la frontière sur le décile, par une transformation strictement croissante qui laisse le classement intact. La question devient « que faudrait-il pour sortir des 10 % les plus à risque », celle qui a un sens opérationnel.</a:t>
            </a:r>
          </a:p>
        </p:txBody>
      </p:sp>
      <p:sp>
        <p:nvSpPr>
          <p:cNvPr id="11" name="Rectangle 10"/>
          <p:cNvSpPr/>
          <p:nvPr/>
        </p:nvSpPr>
        <p:spPr>
          <a:xfrm>
            <a:off x="684000" y="6270076"/>
            <a:ext cx="39600" cy="1007999"/>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2000" y="6306076"/>
            <a:ext cx="10548000" cy="1007999"/>
          </a:xfrm>
          <a:prstGeom prst="rect">
            <a:avLst/>
          </a:prstGeom>
          <a:noFill/>
        </p:spPr>
        <p:txBody>
          <a:bodyPr wrap="square">
            <a:spAutoFit/>
          </a:bodyPr>
          <a:lstStyle/>
          <a:p>
            <a:pPr>
              <a:lnSpc>
                <a:spcPct val="130000"/>
              </a:lnSpc>
            </a:pPr>
            <a:r>
              <a:rPr sz="1400" b="0">
                <a:solidFill>
                  <a:srgbClr val="0B0B0B"/>
                </a:solidFill>
                <a:latin typeface="Calibri"/>
              </a:rPr>
              <a:t>Un contrefactuel n'est pas une recommandation. Rien ne garantit qu'il soit réalisable, on ne convertit pas 40 % de maquis en terres agricoles, ni que le lien soit causal : le modèle a appris des corrélations, pas des mécanismes.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Projeter jusqu'en 2100, et ce que cela ne veut pas dire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Trois scénarios GIEC, appliqués à l'aléa météo.</a:t>
            </a:r>
          </a:p>
        </p:txBody>
      </p:sp>
      <p:pic>
        <p:nvPicPr>
          <p:cNvPr id="5" name="Picture 4" descr="02_le-risque-de-fond-en-2041-2055-a-vegetation-relief-et-preven.png"/>
          <p:cNvPicPr>
            <a:picLocks noChangeAspect="1"/>
          </p:cNvPicPr>
          <p:nvPr/>
        </p:nvPicPr>
        <p:blipFill>
          <a:blip r:embed="rId2"/>
          <a:stretch>
            <a:fillRect/>
          </a:stretch>
        </p:blipFill>
        <p:spPr>
          <a:xfrm>
            <a:off x="684000" y="2748660"/>
            <a:ext cx="6480000" cy="2062678"/>
          </a:xfrm>
          <a:prstGeom prst="rect">
            <a:avLst/>
          </a:prstGeom>
        </p:spPr>
      </p:pic>
      <p:sp>
        <p:nvSpPr>
          <p:cNvPr id="6" name="TextBox 5"/>
          <p:cNvSpPr txBox="1"/>
          <p:nvPr/>
        </p:nvSpPr>
        <p:spPr>
          <a:xfrm>
            <a:off x="7488000" y="1944000"/>
            <a:ext cx="4068000" cy="417600"/>
          </a:xfrm>
          <a:prstGeom prst="rect">
            <a:avLst/>
          </a:prstGeom>
          <a:noFill/>
        </p:spPr>
        <p:txBody>
          <a:bodyPr wrap="square">
            <a:spAutoFit/>
          </a:bodyPr>
          <a:lstStyle/>
          <a:p>
            <a:pPr>
              <a:lnSpc>
                <a:spcPct val="125000"/>
              </a:lnSpc>
            </a:pPr>
            <a:r>
              <a:rPr sz="1250" b="1">
                <a:solidFill>
                  <a:srgbClr val="0B0B0B"/>
                </a:solidFill>
                <a:latin typeface="Calibri"/>
              </a:rPr>
              <a:t>Ce qu'on projette</a:t>
            </a:r>
          </a:p>
        </p:txBody>
      </p:sp>
      <p:sp>
        <p:nvSpPr>
          <p:cNvPr id="7" name="TextBox 6"/>
          <p:cNvSpPr txBox="1"/>
          <p:nvPr/>
        </p:nvSpPr>
        <p:spPr>
          <a:xfrm>
            <a:off x="7488000" y="2361600"/>
            <a:ext cx="4068000" cy="476280"/>
          </a:xfrm>
          <a:prstGeom prst="rect">
            <a:avLst/>
          </a:prstGeom>
          <a:noFill/>
        </p:spPr>
        <p:txBody>
          <a:bodyPr wrap="square">
            <a:spAutoFit/>
          </a:bodyPr>
          <a:lstStyle/>
          <a:p>
            <a:pPr>
              <a:lnSpc>
                <a:spcPct val="125000"/>
              </a:lnSpc>
            </a:pPr>
            <a:r>
              <a:rPr sz="1250" b="0">
                <a:solidFill>
                  <a:srgbClr val="6B6963"/>
                </a:solidFill>
                <a:latin typeface="Calibri"/>
              </a:rPr>
              <a:t>· Le FWI, seule quantité qui montre un signal et seule que les modèles climatiques savent fournir.</a:t>
            </a:r>
          </a:p>
        </p:txBody>
      </p:sp>
      <p:sp>
        <p:nvSpPr>
          <p:cNvPr id="8" name="TextBox 7"/>
          <p:cNvSpPr txBox="1"/>
          <p:nvPr/>
        </p:nvSpPr>
        <p:spPr>
          <a:xfrm>
            <a:off x="7488000" y="2859480"/>
            <a:ext cx="4068000" cy="417600"/>
          </a:xfrm>
          <a:prstGeom prst="rect">
            <a:avLst/>
          </a:prstGeom>
          <a:noFill/>
        </p:spPr>
        <p:txBody>
          <a:bodyPr wrap="square">
            <a:spAutoFit/>
          </a:bodyPr>
          <a:lstStyle/>
          <a:p>
            <a:pPr>
              <a:lnSpc>
                <a:spcPct val="125000"/>
              </a:lnSpc>
            </a:pPr>
            <a:r>
              <a:rPr sz="1250" b="1">
                <a:solidFill>
                  <a:srgbClr val="0B0B0B"/>
                </a:solidFill>
                <a:latin typeface="Calibri"/>
              </a:rPr>
              <a:t>Ce qu'on ne projette pas</a:t>
            </a:r>
          </a:p>
        </p:txBody>
      </p:sp>
      <p:sp>
        <p:nvSpPr>
          <p:cNvPr id="9" name="TextBox 8"/>
          <p:cNvSpPr txBox="1"/>
          <p:nvPr/>
        </p:nvSpPr>
        <p:spPr>
          <a:xfrm>
            <a:off x="7488000" y="3277080"/>
            <a:ext cx="4068000" cy="714420"/>
          </a:xfrm>
          <a:prstGeom prst="rect">
            <a:avLst/>
          </a:prstGeom>
          <a:noFill/>
        </p:spPr>
        <p:txBody>
          <a:bodyPr wrap="square">
            <a:spAutoFit/>
          </a:bodyPr>
          <a:lstStyle/>
          <a:p>
            <a:pPr>
              <a:lnSpc>
                <a:spcPct val="125000"/>
              </a:lnSpc>
            </a:pPr>
            <a:r>
              <a:rPr sz="1250" b="0">
                <a:solidFill>
                  <a:srgbClr val="6B6963"/>
                </a:solidFill>
                <a:latin typeface="Calibri"/>
              </a:rPr>
              <a:t>· Le nombre de feux. La végétation, la prévention et les pratiques agricoles sont supposées constantes, ce qui est une hypothèse et elle est fausse.</a:t>
            </a:r>
          </a:p>
        </p:txBody>
      </p:sp>
      <p:sp>
        <p:nvSpPr>
          <p:cNvPr id="10" name="TextBox 9"/>
          <p:cNvSpPr txBox="1"/>
          <p:nvPr/>
        </p:nvSpPr>
        <p:spPr>
          <a:xfrm>
            <a:off x="7488000" y="4013099"/>
            <a:ext cx="4068000" cy="417600"/>
          </a:xfrm>
          <a:prstGeom prst="rect">
            <a:avLst/>
          </a:prstGeom>
          <a:noFill/>
        </p:spPr>
        <p:txBody>
          <a:bodyPr wrap="square">
            <a:spAutoFit/>
          </a:bodyPr>
          <a:lstStyle/>
          <a:p>
            <a:pPr>
              <a:lnSpc>
                <a:spcPct val="125000"/>
              </a:lnSpc>
            </a:pPr>
            <a:r>
              <a:rPr sz="1250" b="1">
                <a:solidFill>
                  <a:srgbClr val="0B0B0B"/>
                </a:solidFill>
                <a:latin typeface="Calibri"/>
              </a:rPr>
              <a:t>Ce que « le 2 août 2050 » signifie</a:t>
            </a:r>
          </a:p>
        </p:txBody>
      </p:sp>
      <p:sp>
        <p:nvSpPr>
          <p:cNvPr id="11" name="TextBox 10"/>
          <p:cNvSpPr txBox="1"/>
          <p:nvPr/>
        </p:nvSpPr>
        <p:spPr>
          <a:xfrm>
            <a:off x="7488000" y="4430700"/>
            <a:ext cx="4068000" cy="714420"/>
          </a:xfrm>
          <a:prstGeom prst="rect">
            <a:avLst/>
          </a:prstGeom>
          <a:noFill/>
        </p:spPr>
        <p:txBody>
          <a:bodyPr wrap="square">
            <a:spAutoFit/>
          </a:bodyPr>
          <a:lstStyle/>
          <a:p>
            <a:pPr>
              <a:lnSpc>
                <a:spcPct val="125000"/>
              </a:lnSpc>
            </a:pPr>
            <a:r>
              <a:rPr sz="1250" b="0">
                <a:solidFill>
                  <a:srgbClr val="6B6963"/>
                </a:solidFill>
                <a:latin typeface="Calibri"/>
              </a:rPr>
              <a:t>· Pas une prévision météo, mais un 2 août ordinaire sous le climat de 2050. La forme de la saison vient des observations, seul son niveau est décalé.</a:t>
            </a:r>
          </a:p>
        </p:txBody>
      </p:sp>
      <p:sp>
        <p:nvSpPr>
          <p:cNvPr id="12" name="TextBox 11"/>
          <p:cNvSpPr txBox="1"/>
          <p:nvPr/>
        </p:nvSpPr>
        <p:spPr>
          <a:xfrm>
            <a:off x="7488000" y="5166719"/>
            <a:ext cx="4068000" cy="417600"/>
          </a:xfrm>
          <a:prstGeom prst="rect">
            <a:avLst/>
          </a:prstGeom>
          <a:noFill/>
        </p:spPr>
        <p:txBody>
          <a:bodyPr wrap="square">
            <a:spAutoFit/>
          </a:bodyPr>
          <a:lstStyle/>
          <a:p>
            <a:pPr>
              <a:lnSpc>
                <a:spcPct val="125000"/>
              </a:lnSpc>
            </a:pPr>
            <a:r>
              <a:rPr sz="1250" b="1">
                <a:solidFill>
                  <a:srgbClr val="0B0B0B"/>
                </a:solidFill>
                <a:latin typeface="Calibri"/>
              </a:rPr>
              <a:t>Avant 2045, les scénarios sont indiscernables</a:t>
            </a:r>
          </a:p>
        </p:txBody>
      </p:sp>
      <p:sp>
        <p:nvSpPr>
          <p:cNvPr id="13" name="TextBox 12"/>
          <p:cNvSpPr txBox="1"/>
          <p:nvPr/>
        </p:nvSpPr>
        <p:spPr>
          <a:xfrm>
            <a:off x="7488000" y="5584319"/>
            <a:ext cx="4068000" cy="714420"/>
          </a:xfrm>
          <a:prstGeom prst="rect">
            <a:avLst/>
          </a:prstGeom>
          <a:noFill/>
        </p:spPr>
        <p:txBody>
          <a:bodyPr wrap="square">
            <a:spAutoFit/>
          </a:bodyPr>
          <a:lstStyle/>
          <a:p>
            <a:pPr>
              <a:lnSpc>
                <a:spcPct val="125000"/>
              </a:lnSpc>
            </a:pPr>
            <a:r>
              <a:rPr sz="1250" b="0">
                <a:solidFill>
                  <a:srgbClr val="6B6963"/>
                </a:solidFill>
                <a:latin typeface="Calibri"/>
              </a:rPr>
              <a:t>· mesuré : en 2030, RCP 2.6 dépasse RCP 8.5 sur 59 % des communes. Ce n'est pas une anomalie, c'est l'inertie du système climatique.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Les erreurs commises, et comment elles ont été trouvées</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Sur un événement à 0,02 %, une erreur ne se manifeste jamais par une exception, mais par un chiffre plausible.</a:t>
            </a:r>
          </a:p>
        </p:txBody>
      </p:sp>
      <p:pic>
        <p:nvPicPr>
          <p:cNvPr id="5" name="Picture 4" descr="alignement.png"/>
          <p:cNvPicPr>
            <a:picLocks noChangeAspect="1"/>
          </p:cNvPicPr>
          <p:nvPr/>
        </p:nvPicPr>
        <p:blipFill>
          <a:blip r:embed="rId2"/>
          <a:stretch>
            <a:fillRect/>
          </a:stretch>
        </p:blipFill>
        <p:spPr>
          <a:xfrm>
            <a:off x="684000" y="1991316"/>
            <a:ext cx="4860000" cy="2857366"/>
          </a:xfrm>
          <a:prstGeom prst="rect">
            <a:avLst/>
          </a:prstGeom>
        </p:spPr>
      </p:pic>
      <p:sp>
        <p:nvSpPr>
          <p:cNvPr id="6" name="TextBox 5"/>
          <p:cNvSpPr txBox="1"/>
          <p:nvPr/>
        </p:nvSpPr>
        <p:spPr>
          <a:xfrm>
            <a:off x="5832000" y="1944000"/>
            <a:ext cx="5724000" cy="432000"/>
          </a:xfrm>
          <a:prstGeom prst="rect">
            <a:avLst/>
          </a:prstGeom>
          <a:noFill/>
        </p:spPr>
        <p:txBody>
          <a:bodyPr wrap="square">
            <a:spAutoFit/>
          </a:bodyPr>
          <a:lstStyle/>
          <a:p>
            <a:pPr>
              <a:lnSpc>
                <a:spcPct val="125000"/>
              </a:lnSpc>
            </a:pPr>
            <a:r>
              <a:rPr sz="1400" b="1">
                <a:solidFill>
                  <a:srgbClr val="0B0B0B"/>
                </a:solidFill>
                <a:latin typeface="Calibri"/>
              </a:rPr>
              <a:t>Le premier verdict du LSTM annonçait −97 %. Le vrai est −52 %.</a:t>
            </a:r>
          </a:p>
        </p:txBody>
      </p:sp>
      <p:sp>
        <p:nvSpPr>
          <p:cNvPr id="7" name="TextBox 6"/>
          <p:cNvSpPr txBox="1"/>
          <p:nvPr/>
        </p:nvSpPr>
        <p:spPr>
          <a:xfrm>
            <a:off x="5832000" y="2376000"/>
            <a:ext cx="5724000" cy="1333583"/>
          </a:xfrm>
          <a:prstGeom prst="rect">
            <a:avLst/>
          </a:prstGeom>
          <a:noFill/>
        </p:spPr>
        <p:txBody>
          <a:bodyPr wrap="square">
            <a:spAutoFit/>
          </a:bodyPr>
          <a:lstStyle/>
          <a:p>
            <a:pPr>
              <a:lnSpc>
                <a:spcPct val="125000"/>
              </a:lnSpc>
            </a:pPr>
            <a:r>
              <a:rPr sz="1400" b="0">
                <a:solidFill>
                  <a:srgbClr val="6B6963"/>
                </a:solidFill>
                <a:latin typeface="Calibri"/>
              </a:rPr>
              <a:t>· La requête d'assemblage n'a pas d'ORDER BY : l'ordre des 38 M lignes renvoyées par PostgreSQL dépend du plan d'exécution et change d'une exécution à l'autre. Les fichiers ne portaient que (score, cible) : même taille, même nombre de feux, ordre différent, aucune erreur levée.</a:t>
            </a:r>
          </a:p>
        </p:txBody>
      </p:sp>
      <p:sp>
        <p:nvSpPr>
          <p:cNvPr id="8" name="TextBox 7"/>
          <p:cNvSpPr txBox="1"/>
          <p:nvPr/>
        </p:nvSpPr>
        <p:spPr>
          <a:xfrm>
            <a:off x="5832000" y="3731184"/>
            <a:ext cx="5724000" cy="432000"/>
          </a:xfrm>
          <a:prstGeom prst="rect">
            <a:avLst/>
          </a:prstGeom>
          <a:noFill/>
        </p:spPr>
        <p:txBody>
          <a:bodyPr wrap="square">
            <a:spAutoFit/>
          </a:bodyPr>
          <a:lstStyle/>
          <a:p>
            <a:pPr>
              <a:lnSpc>
                <a:spcPct val="125000"/>
              </a:lnSpc>
            </a:pPr>
            <a:r>
              <a:rPr sz="1400" b="1">
                <a:solidFill>
                  <a:srgbClr val="0B0B0B"/>
                </a:solidFill>
                <a:latin typeface="Calibri"/>
              </a:rPr>
              <a:t>La parade</a:t>
            </a:r>
          </a:p>
        </p:txBody>
      </p:sp>
      <p:sp>
        <p:nvSpPr>
          <p:cNvPr id="9" name="TextBox 8"/>
          <p:cNvSpPr txBox="1"/>
          <p:nvPr/>
        </p:nvSpPr>
        <p:spPr>
          <a:xfrm>
            <a:off x="5832000" y="4163183"/>
            <a:ext cx="5724000" cy="533433"/>
          </a:xfrm>
          <a:prstGeom prst="rect">
            <a:avLst/>
          </a:prstGeom>
          <a:noFill/>
        </p:spPr>
        <p:txBody>
          <a:bodyPr wrap="square">
            <a:spAutoFit/>
          </a:bodyPr>
          <a:lstStyle/>
          <a:p>
            <a:pPr>
              <a:lnSpc>
                <a:spcPct val="125000"/>
              </a:lnSpc>
            </a:pPr>
            <a:r>
              <a:rPr sz="1400" b="0">
                <a:solidFill>
                  <a:srgbClr val="6B6963"/>
                </a:solidFill>
                <a:latin typeface="Calibri"/>
              </a:rPr>
              <a:t>· tout fichier porte désormais ses clés, une fonction d'alignement vérifie, et un test refuse un fichier sans clés.</a:t>
            </a:r>
          </a:p>
        </p:txBody>
      </p:sp>
      <p:graphicFrame>
        <p:nvGraphicFramePr>
          <p:cNvPr id="10" name="Table 9"/>
          <p:cNvGraphicFramePr>
            <a:graphicFrameLocks noGrp="1"/>
          </p:cNvGraphicFramePr>
          <p:nvPr/>
        </p:nvGraphicFramePr>
        <p:xfrm>
          <a:off x="684000" y="5184000"/>
          <a:ext cx="10800000" cy="1944000"/>
        </p:xfrm>
        <a:graphic>
          <a:graphicData uri="http://schemas.openxmlformats.org/drawingml/2006/table">
            <a:tbl>
              <a:tblPr firstRow="1" bandRow="1">
                <a:tableStyleId>{5C22544A-7EE6-4342-B048-85BDC9FD1C3A}</a:tableStyleId>
              </a:tblPr>
              <a:tblGrid>
                <a:gridCol w="5760000"/>
                <a:gridCol w="5040000"/>
              </a:tblGrid>
              <a:tr h="324000">
                <a:tc>
                  <a:txBody>
                    <a:bodyPr/>
                    <a:lstStyle/>
                    <a:p>
                      <a:r>
                        <a:rPr sz="1200" b="1">
                          <a:solidFill>
                            <a:srgbClr val="FCFCFB"/>
                          </a:solidFill>
                          <a:latin typeface="Calibri"/>
                        </a:rPr>
                        <a:t>Les autres</a:t>
                      </a:r>
                    </a:p>
                  </a:txBody>
                  <a:tcPr>
                    <a:solidFill>
                      <a:srgbClr val="0B0B0B"/>
                    </a:solidFill>
                  </a:tcPr>
                </a:tc>
                <a:tc>
                  <a:txBody>
                    <a:bodyPr/>
                    <a:lstStyle/>
                    <a:p>
                      <a:r>
                        <a:rPr sz="1200" b="1">
                          <a:solidFill>
                            <a:srgbClr val="FCFCFB"/>
                          </a:solidFill>
                          <a:latin typeface="Calibri"/>
                        </a:rPr>
                        <a:t>Le symptôme</a:t>
                      </a:r>
                    </a:p>
                  </a:txBody>
                  <a:tcPr>
                    <a:solidFill>
                      <a:srgbClr val="0B0B0B"/>
                    </a:solidFill>
                  </a:tcPr>
                </a:tc>
              </a:tr>
              <a:tr h="324000">
                <a:tc>
                  <a:txBody>
                    <a:bodyPr/>
                    <a:lstStyle/>
                    <a:p>
                      <a:r>
                        <a:rPr sz="1200" b="0">
                          <a:solidFill>
                            <a:srgbClr val="6B6963"/>
                          </a:solidFill>
                          <a:latin typeface="Calibri"/>
                        </a:rPr>
                        <a:t>cible laissée dans les features du modèle de surface</a:t>
                      </a:r>
                    </a:p>
                  </a:txBody>
                  <a:tcPr>
                    <a:solidFill>
                      <a:srgbClr val="FCFCFB"/>
                    </a:solidFill>
                  </a:tcPr>
                </a:tc>
                <a:tc>
                  <a:txBody>
                    <a:bodyPr/>
                    <a:lstStyle/>
                    <a:p>
                      <a:r>
                        <a:rPr sz="1200" b="0">
                          <a:solidFill>
                            <a:srgbClr val="6B6963"/>
                          </a:solidFill>
                          <a:latin typeface="Calibri"/>
                        </a:rPr>
                        <a:t>R² = 0,994 et ROC-AUC = 1,0000</a:t>
                      </a:r>
                    </a:p>
                  </a:txBody>
                  <a:tcPr>
                    <a:solidFill>
                      <a:srgbClr val="FCFCFB"/>
                    </a:solidFill>
                  </a:tcPr>
                </a:tc>
              </a:tr>
              <a:tr h="324000">
                <a:tc>
                  <a:txBody>
                    <a:bodyPr/>
                    <a:lstStyle/>
                    <a:p>
                      <a:r>
                        <a:rPr sz="1200" b="0">
                          <a:solidFill>
                            <a:srgbClr val="6B6963"/>
                          </a:solidFill>
                          <a:latin typeface="Calibri"/>
                        </a:rPr>
                        <a:t>interaction analysée sur le sommet du classement</a:t>
                      </a:r>
                    </a:p>
                  </a:txBody>
                  <a:tcPr>
                    <a:solidFill>
                      <a:srgbClr val="FCFCFB"/>
                    </a:solidFill>
                  </a:tcPr>
                </a:tc>
                <a:tc>
                  <a:txBody>
                    <a:bodyPr/>
                    <a:lstStyle/>
                    <a:p>
                      <a:r>
                        <a:rPr sz="1200" b="0">
                          <a:solidFill>
                            <a:srgbClr val="6B6963"/>
                          </a:solidFill>
                          <a:latin typeface="Calibri"/>
                        </a:rPr>
                        <a:t>le signe s'inversait, biais de collision</a:t>
                      </a:r>
                    </a:p>
                  </a:txBody>
                  <a:tcPr>
                    <a:solidFill>
                      <a:srgbClr val="FCFCFB"/>
                    </a:solidFill>
                  </a:tcPr>
                </a:tc>
              </a:tr>
              <a:tr h="324000">
                <a:tc>
                  <a:txBody>
                    <a:bodyPr/>
                    <a:lstStyle/>
                    <a:p>
                      <a:r>
                        <a:rPr sz="1200" b="0">
                          <a:solidFill>
                            <a:srgbClr val="6B6963"/>
                          </a:solidFill>
                          <a:latin typeface="Calibri"/>
                        </a:rPr>
                        <a:t>projection ancrée à k = 1,0 en 2025</a:t>
                      </a:r>
                    </a:p>
                  </a:txBody>
                  <a:tcPr>
                    <a:solidFill>
                      <a:srgbClr val="FCFCFB"/>
                    </a:solidFill>
                  </a:tcPr>
                </a:tc>
                <a:tc>
                  <a:txBody>
                    <a:bodyPr/>
                    <a:lstStyle/>
                    <a:p>
                      <a:r>
                        <a:rPr sz="1200" b="0">
                          <a:solidFill>
                            <a:srgbClr val="6B6963"/>
                          </a:solidFill>
                          <a:latin typeface="Calibri"/>
                        </a:rPr>
                        <a:t>la courbe plongeait au passage 2025 → 2026</a:t>
                      </a:r>
                    </a:p>
                  </a:txBody>
                  <a:tcPr>
                    <a:solidFill>
                      <a:srgbClr val="FCFCFB"/>
                    </a:solidFill>
                  </a:tcPr>
                </a:tc>
              </a:tr>
              <a:tr h="324000">
                <a:tc>
                  <a:txBody>
                    <a:bodyPr/>
                    <a:lstStyle/>
                    <a:p>
                      <a:r>
                        <a:rPr sz="1200" b="0">
                          <a:solidFill>
                            <a:srgbClr val="6B6963"/>
                          </a:solidFill>
                          <a:latin typeface="Calibri"/>
                        </a:rPr>
                        <a:t>tendance du FWI écrite en dur dans l'application</a:t>
                      </a:r>
                    </a:p>
                  </a:txBody>
                  <a:tcPr>
                    <a:solidFill>
                      <a:srgbClr val="FCFCFB"/>
                    </a:solidFill>
                  </a:tcPr>
                </a:tc>
                <a:tc>
                  <a:txBody>
                    <a:bodyPr/>
                    <a:lstStyle/>
                    <a:p>
                      <a:r>
                        <a:rPr sz="1200" b="0">
                          <a:solidFill>
                            <a:srgbClr val="6B6963"/>
                          </a:solidFill>
                          <a:latin typeface="Calibri"/>
                        </a:rPr>
                        <a:t>+45 % affiché, +58 % réel</a:t>
                      </a:r>
                    </a:p>
                  </a:txBody>
                  <a:tcPr>
                    <a:solidFill>
                      <a:srgbClr val="FCFCFB"/>
                    </a:solidFill>
                  </a:tcPr>
                </a:tc>
              </a:tr>
              <a:tr h="324000">
                <a:tc>
                  <a:txBody>
                    <a:bodyPr/>
                    <a:lstStyle/>
                    <a:p>
                      <a:r>
                        <a:rPr sz="1200" b="0">
                          <a:solidFill>
                            <a:srgbClr val="6B6963"/>
                          </a:solidFill>
                          <a:latin typeface="Calibri"/>
                        </a:rPr>
                        <a:t>PR-AUC et ROC-AUC affichées sans être sauvegardées</a:t>
                      </a:r>
                    </a:p>
                  </a:txBody>
                  <a:tcPr>
                    <a:solidFill>
                      <a:srgbClr val="FCFCFB"/>
                    </a:solidFill>
                  </a:tcPr>
                </a:tc>
                <a:tc>
                  <a:txBody>
                    <a:bodyPr/>
                    <a:lstStyle/>
                    <a:p>
                      <a:r>
                        <a:rPr sz="1200" b="0">
                          <a:solidFill>
                            <a:srgbClr val="6B6963"/>
                          </a:solidFill>
                          <a:latin typeface="Calibri"/>
                        </a:rPr>
                        <a:t>des chiffres cités sans artefact pour les soutenir</a:t>
                      </a:r>
                    </a:p>
                  </a:txBody>
                  <a:tcPr>
                    <a:solidFill>
                      <a:srgbClr val="FCFCFB"/>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Ce que le projet ne fait pas</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Les limites qu'on connaît valent mieux que celles qu'on découvre en soutenance.</a:t>
            </a:r>
          </a:p>
        </p:txBody>
      </p:sp>
      <p:sp>
        <p:nvSpPr>
          <p:cNvPr id="5" name="TextBox 4"/>
          <p:cNvSpPr txBox="1"/>
          <p:nvPr/>
        </p:nvSpPr>
        <p:spPr>
          <a:xfrm>
            <a:off x="684000" y="1944000"/>
            <a:ext cx="10800000" cy="453600"/>
          </a:xfrm>
          <a:prstGeom prst="rect">
            <a:avLst/>
          </a:prstGeom>
          <a:noFill/>
        </p:spPr>
        <p:txBody>
          <a:bodyPr wrap="square">
            <a:spAutoFit/>
          </a:bodyPr>
          <a:lstStyle/>
          <a:p>
            <a:pPr>
              <a:lnSpc>
                <a:spcPct val="125000"/>
              </a:lnSpc>
            </a:pPr>
            <a:r>
              <a:rPr sz="1500" b="1">
                <a:solidFill>
                  <a:srgbClr val="0B0B0B"/>
                </a:solidFill>
                <a:latin typeface="Calibri"/>
              </a:rPr>
              <a:t>La surface brûlée n'est pas prédictible</a:t>
            </a:r>
          </a:p>
        </p:txBody>
      </p:sp>
      <p:sp>
        <p:nvSpPr>
          <p:cNvPr id="6" name="TextBox 5"/>
          <p:cNvSpPr txBox="1"/>
          <p:nvPr/>
        </p:nvSpPr>
        <p:spPr>
          <a:xfrm>
            <a:off x="684000" y="2397600"/>
            <a:ext cx="10800000" cy="571536"/>
          </a:xfrm>
          <a:prstGeom prst="rect">
            <a:avLst/>
          </a:prstGeom>
          <a:noFill/>
        </p:spPr>
        <p:txBody>
          <a:bodyPr wrap="square">
            <a:spAutoFit/>
          </a:bodyPr>
          <a:lstStyle/>
          <a:p>
            <a:pPr>
              <a:lnSpc>
                <a:spcPct val="125000"/>
              </a:lnSpc>
            </a:pPr>
            <a:r>
              <a:rPr sz="1500" b="0">
                <a:solidFill>
                  <a:srgbClr val="6B6963"/>
                </a:solidFill>
                <a:latin typeface="Calibri"/>
              </a:rPr>
              <a:t>· R² de 0,14, moins bon que d'annoncer toujours la médiane. Elle dépend de ce qui se passe après le départ : vent, délai d'intervention, relief.</a:t>
            </a:r>
          </a:p>
        </p:txBody>
      </p:sp>
      <p:sp>
        <p:nvSpPr>
          <p:cNvPr id="7" name="TextBox 6"/>
          <p:cNvSpPr txBox="1"/>
          <p:nvPr/>
        </p:nvSpPr>
        <p:spPr>
          <a:xfrm>
            <a:off x="684000" y="2990736"/>
            <a:ext cx="10800000" cy="453600"/>
          </a:xfrm>
          <a:prstGeom prst="rect">
            <a:avLst/>
          </a:prstGeom>
          <a:noFill/>
        </p:spPr>
        <p:txBody>
          <a:bodyPr wrap="square">
            <a:spAutoFit/>
          </a:bodyPr>
          <a:lstStyle/>
          <a:p>
            <a:pPr>
              <a:lnSpc>
                <a:spcPct val="125000"/>
              </a:lnSpc>
            </a:pPr>
            <a:r>
              <a:rPr sz="1500" b="1">
                <a:solidFill>
                  <a:srgbClr val="0B0B0B"/>
                </a:solidFill>
                <a:latin typeface="Calibri"/>
              </a:rPr>
              <a:t>« Sera-ce un grand feu » se prédit mal aussi</a:t>
            </a:r>
          </a:p>
        </p:txBody>
      </p:sp>
      <p:sp>
        <p:nvSpPr>
          <p:cNvPr id="8" name="TextBox 7"/>
          <p:cNvSpPr txBox="1"/>
          <p:nvPr/>
        </p:nvSpPr>
        <p:spPr>
          <a:xfrm>
            <a:off x="684000" y="3444336"/>
            <a:ext cx="10800000" cy="571536"/>
          </a:xfrm>
          <a:prstGeom prst="rect">
            <a:avLst/>
          </a:prstGeom>
          <a:noFill/>
        </p:spPr>
        <p:txBody>
          <a:bodyPr wrap="square">
            <a:spAutoFit/>
          </a:bodyPr>
          <a:lstStyle/>
          <a:p>
            <a:pPr>
              <a:lnSpc>
                <a:spcPct val="125000"/>
              </a:lnSpc>
            </a:pPr>
            <a:r>
              <a:rPr sz="1500" b="0">
                <a:solidFill>
                  <a:srgbClr val="6B6963"/>
                </a:solidFill>
                <a:latin typeface="Calibri"/>
              </a:rPr>
              <a:t>· lift de 2.9× seulement, contre 63.7× pour les départs. On lit parfois « ROC-AUC 0,77 » : c'est exact, mais s'en servir après avoir expliqué pourquoi la ROC-AUC flatte serait se contredire.</a:t>
            </a:r>
          </a:p>
        </p:txBody>
      </p:sp>
      <p:sp>
        <p:nvSpPr>
          <p:cNvPr id="9" name="TextBox 8"/>
          <p:cNvSpPr txBox="1"/>
          <p:nvPr/>
        </p:nvSpPr>
        <p:spPr>
          <a:xfrm>
            <a:off x="684000" y="4037472"/>
            <a:ext cx="10800000" cy="453600"/>
          </a:xfrm>
          <a:prstGeom prst="rect">
            <a:avLst/>
          </a:prstGeom>
          <a:noFill/>
        </p:spPr>
        <p:txBody>
          <a:bodyPr wrap="square">
            <a:spAutoFit/>
          </a:bodyPr>
          <a:lstStyle/>
          <a:p>
            <a:pPr>
              <a:lnSpc>
                <a:spcPct val="125000"/>
              </a:lnSpc>
            </a:pPr>
            <a:r>
              <a:rPr sz="1500" b="1">
                <a:solidFill>
                  <a:srgbClr val="0B0B0B"/>
                </a:solidFill>
                <a:latin typeface="Calibri"/>
              </a:rPr>
              <a:t>Une commune-jour n'est pas un incendie</a:t>
            </a:r>
          </a:p>
        </p:txBody>
      </p:sp>
      <p:sp>
        <p:nvSpPr>
          <p:cNvPr id="10" name="TextBox 9"/>
          <p:cNvSpPr txBox="1"/>
          <p:nvPr/>
        </p:nvSpPr>
        <p:spPr>
          <a:xfrm>
            <a:off x="684000" y="4491072"/>
            <a:ext cx="10800000" cy="453600"/>
          </a:xfrm>
          <a:prstGeom prst="rect">
            <a:avLst/>
          </a:prstGeom>
          <a:noFill/>
        </p:spPr>
        <p:txBody>
          <a:bodyPr wrap="square">
            <a:spAutoFit/>
          </a:bodyPr>
          <a:lstStyle/>
          <a:p>
            <a:pPr>
              <a:lnSpc>
                <a:spcPct val="125000"/>
              </a:lnSpc>
            </a:pPr>
            <a:r>
              <a:rPr sz="1500" b="0">
                <a:solidFill>
                  <a:srgbClr val="6B6963"/>
                </a:solidFill>
                <a:latin typeface="Calibri"/>
              </a:rPr>
              <a:t>· un feu traversant cinq communes compte cinq fois.</a:t>
            </a:r>
          </a:p>
        </p:txBody>
      </p:sp>
      <p:sp>
        <p:nvSpPr>
          <p:cNvPr id="11" name="TextBox 10"/>
          <p:cNvSpPr txBox="1"/>
          <p:nvPr/>
        </p:nvSpPr>
        <p:spPr>
          <a:xfrm>
            <a:off x="684000" y="4944672"/>
            <a:ext cx="10800000" cy="453600"/>
          </a:xfrm>
          <a:prstGeom prst="rect">
            <a:avLst/>
          </a:prstGeom>
          <a:noFill/>
        </p:spPr>
        <p:txBody>
          <a:bodyPr wrap="square">
            <a:spAutoFit/>
          </a:bodyPr>
          <a:lstStyle/>
          <a:p>
            <a:pPr>
              <a:lnSpc>
                <a:spcPct val="125000"/>
              </a:lnSpc>
            </a:pPr>
            <a:r>
              <a:rPr sz="1500" b="1">
                <a:solidFill>
                  <a:srgbClr val="0B0B0B"/>
                </a:solidFill>
                <a:latin typeface="Calibri"/>
              </a:rPr>
              <a:t>31 communes partagent une maille météo de 28 km</a:t>
            </a:r>
          </a:p>
        </p:txBody>
      </p:sp>
      <p:sp>
        <p:nvSpPr>
          <p:cNvPr id="12" name="TextBox 11"/>
          <p:cNvSpPr txBox="1"/>
          <p:nvPr/>
        </p:nvSpPr>
        <p:spPr>
          <a:xfrm>
            <a:off x="684000" y="5398272"/>
            <a:ext cx="10800000" cy="453600"/>
          </a:xfrm>
          <a:prstGeom prst="rect">
            <a:avLst/>
          </a:prstGeom>
          <a:noFill/>
        </p:spPr>
        <p:txBody>
          <a:bodyPr wrap="square">
            <a:spAutoFit/>
          </a:bodyPr>
          <a:lstStyle/>
          <a:p>
            <a:pPr>
              <a:lnSpc>
                <a:spcPct val="125000"/>
              </a:lnSpc>
            </a:pPr>
            <a:r>
              <a:rPr sz="1500" b="0">
                <a:solidFill>
                  <a:srgbClr val="6B6963"/>
                </a:solidFill>
                <a:latin typeface="Calibri"/>
              </a:rPr>
              <a:t>· conséquence statistique directe : les intervalles naïfs sur les coefficients météo seraient trop étroits.</a:t>
            </a:r>
          </a:p>
        </p:txBody>
      </p:sp>
      <p:sp>
        <p:nvSpPr>
          <p:cNvPr id="13" name="TextBox 12"/>
          <p:cNvSpPr txBox="1"/>
          <p:nvPr/>
        </p:nvSpPr>
        <p:spPr>
          <a:xfrm>
            <a:off x="684000" y="5851872"/>
            <a:ext cx="10800000" cy="453600"/>
          </a:xfrm>
          <a:prstGeom prst="rect">
            <a:avLst/>
          </a:prstGeom>
          <a:noFill/>
        </p:spPr>
        <p:txBody>
          <a:bodyPr wrap="square">
            <a:spAutoFit/>
          </a:bodyPr>
          <a:lstStyle/>
          <a:p>
            <a:pPr>
              <a:lnSpc>
                <a:spcPct val="125000"/>
              </a:lnSpc>
            </a:pPr>
            <a:r>
              <a:rPr sz="1500" b="1">
                <a:solidFill>
                  <a:srgbClr val="0B0B0B"/>
                </a:solidFill>
                <a:latin typeface="Calibri"/>
              </a:rPr>
              <a:t>Le LSTM n'a pas reçu danger_effis</a:t>
            </a:r>
          </a:p>
        </p:txBody>
      </p:sp>
      <p:sp>
        <p:nvSpPr>
          <p:cNvPr id="14" name="TextBox 13"/>
          <p:cNvSpPr txBox="1"/>
          <p:nvPr/>
        </p:nvSpPr>
        <p:spPr>
          <a:xfrm>
            <a:off x="684000" y="6305472"/>
            <a:ext cx="10800000" cy="571536"/>
          </a:xfrm>
          <a:prstGeom prst="rect">
            <a:avLst/>
          </a:prstGeom>
          <a:noFill/>
        </p:spPr>
        <p:txBody>
          <a:bodyPr wrap="square">
            <a:spAutoFit/>
          </a:bodyPr>
          <a:lstStyle/>
          <a:p>
            <a:pPr>
              <a:lnSpc>
                <a:spcPct val="125000"/>
              </a:lnSpc>
            </a:pPr>
            <a:r>
              <a:rPr sz="1500" b="0">
                <a:solidFill>
                  <a:srgbClr val="6B6963"/>
                </a:solidFill>
                <a:latin typeface="Calibri"/>
              </a:rPr>
              <a:t>· l'écart de 23,6 % reste un majorant tant que cette asymétrie n'est pas levée. C'est la première chose à refaire.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L'application</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Cinq pages, déployée publiquement.</a:t>
            </a:r>
          </a:p>
        </p:txBody>
      </p:sp>
      <p:graphicFrame>
        <p:nvGraphicFramePr>
          <p:cNvPr id="5" name="Table 4"/>
          <p:cNvGraphicFramePr>
            <a:graphicFrameLocks noGrp="1"/>
          </p:cNvGraphicFramePr>
          <p:nvPr/>
        </p:nvGraphicFramePr>
        <p:xfrm>
          <a:off x="684000" y="1944000"/>
          <a:ext cx="10800000" cy="2736000"/>
        </p:xfrm>
        <a:graphic>
          <a:graphicData uri="http://schemas.openxmlformats.org/drawingml/2006/table">
            <a:tbl>
              <a:tblPr firstRow="1" bandRow="1">
                <a:tableStyleId>{5C22544A-7EE6-4342-B048-85BDC9FD1C3A}</a:tableStyleId>
              </a:tblPr>
              <a:tblGrid>
                <a:gridCol w="2520000"/>
                <a:gridCol w="8280000"/>
              </a:tblGrid>
              <a:tr h="456000">
                <a:tc>
                  <a:txBody>
                    <a:bodyPr/>
                    <a:lstStyle/>
                    <a:p>
                      <a:r>
                        <a:rPr sz="1300" b="1">
                          <a:solidFill>
                            <a:srgbClr val="FCFCFB"/>
                          </a:solidFill>
                          <a:latin typeface="Calibri"/>
                        </a:rPr>
                        <a:t>Page</a:t>
                      </a:r>
                    </a:p>
                  </a:txBody>
                  <a:tcPr>
                    <a:solidFill>
                      <a:srgbClr val="0B0B0B"/>
                    </a:solidFill>
                  </a:tcPr>
                </a:tc>
                <a:tc>
                  <a:txBody>
                    <a:bodyPr/>
                    <a:lstStyle/>
                    <a:p>
                      <a:r>
                        <a:rPr sz="1300" b="1">
                          <a:solidFill>
                            <a:srgbClr val="FCFCFB"/>
                          </a:solidFill>
                          <a:latin typeface="Calibri"/>
                        </a:rPr>
                        <a:t>Ce qu'elle montre</a:t>
                      </a:r>
                    </a:p>
                  </a:txBody>
                  <a:tcPr>
                    <a:solidFill>
                      <a:srgbClr val="0B0B0B"/>
                    </a:solidFill>
                  </a:tcPr>
                </a:tc>
              </a:tr>
              <a:tr h="456000">
                <a:tc>
                  <a:txBody>
                    <a:bodyPr/>
                    <a:lstStyle/>
                    <a:p>
                      <a:r>
                        <a:rPr sz="1300" b="0">
                          <a:solidFill>
                            <a:srgbClr val="6B6963"/>
                          </a:solidFill>
                          <a:latin typeface="Calibri"/>
                        </a:rPr>
                        <a:t>Carte</a:t>
                      </a:r>
                    </a:p>
                  </a:txBody>
                  <a:tcPr>
                    <a:solidFill>
                      <a:srgbClr val="FCFCFB"/>
                    </a:solidFill>
                  </a:tcPr>
                </a:tc>
                <a:tc>
                  <a:txBody>
                    <a:bodyPr/>
                    <a:lstStyle/>
                    <a:p>
                      <a:r>
                        <a:rPr sz="1300" b="0">
                          <a:solidFill>
                            <a:srgbClr val="6B6963"/>
                          </a:solidFill>
                          <a:latin typeface="Calibri"/>
                        </a:rPr>
                        <a:t>carte de chaleur nationale sur les 34 696 communes en aplat, 1973 → 2100, 3 scénarios GIEC, et un mode rétrospectif qui compare v3 et C sur le test</a:t>
                      </a:r>
                    </a:p>
                  </a:txBody>
                  <a:tcPr>
                    <a:solidFill>
                      <a:srgbClr val="FCFCFB"/>
                    </a:solidFill>
                  </a:tcPr>
                </a:tc>
              </a:tr>
              <a:tr h="456000">
                <a:tc>
                  <a:txBody>
                    <a:bodyPr/>
                    <a:lstStyle/>
                    <a:p>
                      <a:r>
                        <a:rPr sz="1300" b="0">
                          <a:solidFill>
                            <a:srgbClr val="6B6963"/>
                          </a:solidFill>
                          <a:latin typeface="Calibri"/>
                        </a:rPr>
                        <a:t>Commune</a:t>
                      </a:r>
                    </a:p>
                  </a:txBody>
                  <a:tcPr>
                    <a:solidFill>
                      <a:srgbClr val="FCFCFB"/>
                    </a:solidFill>
                  </a:tcPr>
                </a:tc>
                <a:tc>
                  <a:txBody>
                    <a:bodyPr/>
                    <a:lstStyle/>
                    <a:p>
                      <a:r>
                        <a:rPr sz="1300" b="0">
                          <a:solidFill>
                            <a:srgbClr val="6B6963"/>
                          </a:solidFill>
                          <a:latin typeface="Calibri"/>
                        </a:rPr>
                        <a:t>fiche détaillée : décennies, projections à échelle fixe, type de territoire</a:t>
                      </a:r>
                    </a:p>
                  </a:txBody>
                  <a:tcPr>
                    <a:solidFill>
                      <a:srgbClr val="FCFCFB"/>
                    </a:solidFill>
                  </a:tcPr>
                </a:tc>
              </a:tr>
              <a:tr h="456000">
                <a:tc>
                  <a:txBody>
                    <a:bodyPr/>
                    <a:lstStyle/>
                    <a:p>
                      <a:r>
                        <a:rPr sz="1300" b="0">
                          <a:solidFill>
                            <a:srgbClr val="6B6963"/>
                          </a:solidFill>
                          <a:latin typeface="Calibri"/>
                        </a:rPr>
                        <a:t>Les données</a:t>
                      </a:r>
                    </a:p>
                  </a:txBody>
                  <a:tcPr>
                    <a:solidFill>
                      <a:srgbClr val="FCFCFB"/>
                    </a:solidFill>
                  </a:tcPr>
                </a:tc>
                <a:tc>
                  <a:txBody>
                    <a:bodyPr/>
                    <a:lstStyle/>
                    <a:p>
                      <a:r>
                        <a:rPr sz="1300" b="0">
                          <a:solidFill>
                            <a:srgbClr val="6B6963"/>
                          </a:solidFill>
                          <a:latin typeface="Calibri"/>
                        </a:rPr>
                        <a:t>les 4 sources, la tendance sur 53 ans, ADF, ACF/PACF et SARIMAX</a:t>
                      </a:r>
                    </a:p>
                  </a:txBody>
                  <a:tcPr>
                    <a:solidFill>
                      <a:srgbClr val="FCFCFB"/>
                    </a:solidFill>
                  </a:tcPr>
                </a:tc>
              </a:tr>
              <a:tr h="456000">
                <a:tc>
                  <a:txBody>
                    <a:bodyPr/>
                    <a:lstStyle/>
                    <a:p>
                      <a:r>
                        <a:rPr sz="1300" b="0">
                          <a:solidFill>
                            <a:srgbClr val="6B6963"/>
                          </a:solidFill>
                          <a:latin typeface="Calibri"/>
                        </a:rPr>
                        <a:t>Les modèles</a:t>
                      </a:r>
                    </a:p>
                  </a:txBody>
                  <a:tcPr>
                    <a:solidFill>
                      <a:srgbClr val="FCFCFB"/>
                    </a:solidFill>
                  </a:tcPr>
                </a:tc>
                <a:tc>
                  <a:txBody>
                    <a:bodyPr/>
                    <a:lstStyle/>
                    <a:p>
                      <a:r>
                        <a:rPr sz="1300" b="0">
                          <a:solidFill>
                            <a:srgbClr val="6B6963"/>
                          </a:solidFill>
                          <a:latin typeface="Calibri"/>
                        </a:rPr>
                        <a:t>protocole, les modèles et leurs intervalles, le LSTM, v3 contre C, la calibration, le bug d'alignement</a:t>
                      </a:r>
                    </a:p>
                  </a:txBody>
                  <a:tcPr>
                    <a:solidFill>
                      <a:srgbClr val="FCFCFB"/>
                    </a:solidFill>
                  </a:tcPr>
                </a:tc>
              </a:tr>
              <a:tr h="456000">
                <a:tc>
                  <a:txBody>
                    <a:bodyPr/>
                    <a:lstStyle/>
                    <a:p>
                      <a:r>
                        <a:rPr sz="1300" b="0">
                          <a:solidFill>
                            <a:srgbClr val="6B6963"/>
                          </a:solidFill>
                          <a:latin typeface="Calibri"/>
                        </a:rPr>
                        <a:t>Pourquoi un feu part</a:t>
                      </a:r>
                    </a:p>
                  </a:txBody>
                  <a:tcPr>
                    <a:solidFill>
                      <a:srgbClr val="FCFCFB"/>
                    </a:solidFill>
                  </a:tcPr>
                </a:tc>
                <a:tc>
                  <a:txBody>
                    <a:bodyPr/>
                    <a:lstStyle/>
                    <a:p>
                      <a:r>
                        <a:rPr sz="1300" b="0">
                          <a:solidFill>
                            <a:srgbClr val="6B6963"/>
                          </a:solidFill>
                          <a:latin typeface="Calibri"/>
                        </a:rPr>
                        <a:t>SHAP, LIME et DiCE, et leur désaccord</a:t>
                      </a:r>
                    </a:p>
                  </a:txBody>
                  <a:tcPr>
                    <a:solidFill>
                      <a:srgbClr val="FCFCFB"/>
                    </a:solidFill>
                  </a:tcPr>
                </a:tc>
              </a:tr>
            </a:tbl>
          </a:graphicData>
        </a:graphic>
      </p:graphicFrame>
      <p:sp>
        <p:nvSpPr>
          <p:cNvPr id="6" name="Rectangle 5"/>
          <p:cNvSpPr/>
          <p:nvPr/>
        </p:nvSpPr>
        <p:spPr>
          <a:xfrm>
            <a:off x="684000" y="4968000"/>
            <a:ext cx="39600" cy="1152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5004000"/>
            <a:ext cx="10548000" cy="1152000"/>
          </a:xfrm>
          <a:prstGeom prst="rect">
            <a:avLst/>
          </a:prstGeom>
          <a:noFill/>
        </p:spPr>
        <p:txBody>
          <a:bodyPr wrap="square">
            <a:spAutoFit/>
          </a:bodyPr>
          <a:lstStyle/>
          <a:p>
            <a:pPr>
              <a:lnSpc>
                <a:spcPct val="130000"/>
              </a:lnSpc>
            </a:pPr>
            <a:r>
              <a:rPr sz="1500" b="0">
                <a:solidFill>
                  <a:srgbClr val="0B0B0B"/>
                </a:solidFill>
                <a:latin typeface="Calibri"/>
              </a:rPr>
              <a:t>Le mode rétrospectif refuse d'afficher le modèle v3 sur 20 des 23 années qu'il pourrait techniquement couvrir : le train parce qu'il a appris ces lignes, la validation parce qu'elle a servi à choisir, l'avenir parce qu'il n'y a pas d'historique. Et il sait dire laquelle des trois raisons s'applique.</a:t>
            </a:r>
          </a:p>
        </p:txBody>
      </p:sp>
      <p:sp>
        <p:nvSpPr>
          <p:cNvPr id="8" name="TextBox 7"/>
          <p:cNvSpPr txBox="1"/>
          <p:nvPr/>
        </p:nvSpPr>
        <p:spPr>
          <a:xfrm>
            <a:off x="684000" y="6300000"/>
            <a:ext cx="10800000" cy="503999"/>
          </a:xfrm>
          <a:prstGeom prst="rect">
            <a:avLst/>
          </a:prstGeom>
          <a:noFill/>
        </p:spPr>
        <p:txBody>
          <a:bodyPr wrap="square">
            <a:spAutoFit/>
          </a:bodyPr>
          <a:lstStyle/>
          <a:p>
            <a:pPr>
              <a:lnSpc>
                <a:spcPct val="125000"/>
              </a:lnSpc>
            </a:pPr>
            <a:r>
              <a:rPr sz="1900" b="1">
                <a:solidFill>
                  <a:srgbClr val="2A78D6"/>
                </a:solidFill>
                <a:latin typeface="Calibri"/>
              </a:rPr>
              <a:t>terre-vent-feu-eau-data.streamlit.app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Réponses aux quatre hypothèses</a:t>
            </a:r>
          </a:p>
        </p:txBody>
      </p:sp>
      <p:graphicFrame>
        <p:nvGraphicFramePr>
          <p:cNvPr id="4" name="Table 3"/>
          <p:cNvGraphicFramePr>
            <a:graphicFrameLocks noGrp="1"/>
          </p:cNvGraphicFramePr>
          <p:nvPr/>
        </p:nvGraphicFramePr>
        <p:xfrm>
          <a:off x="684000" y="1404000"/>
          <a:ext cx="10799999" cy="2880000"/>
        </p:xfrm>
        <a:graphic>
          <a:graphicData uri="http://schemas.openxmlformats.org/drawingml/2006/table">
            <a:tbl>
              <a:tblPr firstRow="1" bandRow="1">
                <a:tableStyleId>{5C22544A-7EE6-4342-B048-85BDC9FD1C3A}</a:tableStyleId>
              </a:tblPr>
              <a:tblGrid>
                <a:gridCol w="648000"/>
                <a:gridCol w="3671999"/>
                <a:gridCol w="2160000"/>
                <a:gridCol w="4320000"/>
              </a:tblGrid>
              <a:tr h="576000">
                <a:tc>
                  <a:txBody>
                    <a:bodyPr/>
                    <a:lstStyle/>
                    <a:p>
                      <a:r>
                        <a:rPr sz="1250" b="1">
                          <a:solidFill>
                            <a:srgbClr val="FCFCFB"/>
                          </a:solidFill>
                          <a:latin typeface="Calibri"/>
                        </a:rPr>
                        <a:t> </a:t>
                      </a:r>
                    </a:p>
                  </a:txBody>
                  <a:tcPr>
                    <a:solidFill>
                      <a:srgbClr val="0B0B0B"/>
                    </a:solidFill>
                  </a:tcPr>
                </a:tc>
                <a:tc>
                  <a:txBody>
                    <a:bodyPr/>
                    <a:lstStyle/>
                    <a:p>
                      <a:r>
                        <a:rPr sz="1250" b="1">
                          <a:solidFill>
                            <a:srgbClr val="FCFCFB"/>
                          </a:solidFill>
                          <a:latin typeface="Calibri"/>
                        </a:rPr>
                        <a:t>Hypothèse</a:t>
                      </a:r>
                    </a:p>
                  </a:txBody>
                  <a:tcPr>
                    <a:solidFill>
                      <a:srgbClr val="0B0B0B"/>
                    </a:solidFill>
                  </a:tcPr>
                </a:tc>
                <a:tc>
                  <a:txBody>
                    <a:bodyPr/>
                    <a:lstStyle/>
                    <a:p>
                      <a:r>
                        <a:rPr sz="1250" b="1">
                          <a:solidFill>
                            <a:srgbClr val="FCFCFB"/>
                          </a:solidFill>
                          <a:latin typeface="Calibri"/>
                        </a:rPr>
                        <a:t>Réponse</a:t>
                      </a:r>
                    </a:p>
                  </a:txBody>
                  <a:tcPr>
                    <a:solidFill>
                      <a:srgbClr val="0B0B0B"/>
                    </a:solidFill>
                  </a:tcPr>
                </a:tc>
                <a:tc>
                  <a:txBody>
                    <a:bodyPr/>
                    <a:lstStyle/>
                    <a:p>
                      <a:r>
                        <a:rPr sz="1250" b="1">
                          <a:solidFill>
                            <a:srgbClr val="FCFCFB"/>
                          </a:solidFill>
                          <a:latin typeface="Calibri"/>
                        </a:rPr>
                        <a:t>Sur quelle mesure</a:t>
                      </a:r>
                    </a:p>
                  </a:txBody>
                  <a:tcPr>
                    <a:solidFill>
                      <a:srgbClr val="0B0B0B"/>
                    </a:solidFill>
                  </a:tcPr>
                </a:tc>
              </a:tr>
              <a:tr h="576000">
                <a:tc>
                  <a:txBody>
                    <a:bodyPr/>
                    <a:lstStyle/>
                    <a:p>
                      <a:r>
                        <a:rPr sz="1250" b="0">
                          <a:solidFill>
                            <a:srgbClr val="6B6963"/>
                          </a:solidFill>
                          <a:latin typeface="Calibri"/>
                        </a:rPr>
                        <a:t>H1</a:t>
                      </a:r>
                    </a:p>
                  </a:txBody>
                  <a:tcPr>
                    <a:solidFill>
                      <a:srgbClr val="FCFCFB"/>
                    </a:solidFill>
                  </a:tcPr>
                </a:tc>
                <a:tc>
                  <a:txBody>
                    <a:bodyPr/>
                    <a:lstStyle/>
                    <a:p>
                      <a:r>
                        <a:rPr sz="1250" b="0">
                          <a:solidFill>
                            <a:srgbClr val="6B6963"/>
                          </a:solidFill>
                          <a:latin typeface="Calibri"/>
                        </a:rPr>
                        <a:t>la météo seule ne suffit pas à localiser le risque</a:t>
                      </a:r>
                    </a:p>
                  </a:txBody>
                  <a:tcPr>
                    <a:solidFill>
                      <a:srgbClr val="FCFCFB"/>
                    </a:solidFill>
                  </a:tcPr>
                </a:tc>
                <a:tc>
                  <a:txBody>
                    <a:bodyPr/>
                    <a:lstStyle/>
                    <a:p>
                      <a:r>
                        <a:rPr sz="1250" b="0">
                          <a:solidFill>
                            <a:srgbClr val="6B6963"/>
                          </a:solidFill>
                          <a:latin typeface="Calibri"/>
                        </a:rPr>
                        <a:t>confirmée</a:t>
                      </a:r>
                    </a:p>
                  </a:txBody>
                  <a:tcPr>
                    <a:solidFill>
                      <a:srgbClr val="FCFCFB"/>
                    </a:solidFill>
                  </a:tcPr>
                </a:tc>
                <a:tc>
                  <a:txBody>
                    <a:bodyPr/>
                    <a:lstStyle/>
                    <a:p>
                      <a:r>
                        <a:rPr sz="1250" b="0">
                          <a:solidFill>
                            <a:srgbClr val="6B6963"/>
                          </a:solidFill>
                          <a:latin typeface="Calibri"/>
                        </a:rPr>
                        <a:t>danger EFFIS seul ×5, croisé au territoire ×42</a:t>
                      </a:r>
                    </a:p>
                  </a:txBody>
                  <a:tcPr>
                    <a:solidFill>
                      <a:srgbClr val="FCFCFB"/>
                    </a:solidFill>
                  </a:tcPr>
                </a:tc>
              </a:tr>
              <a:tr h="576000">
                <a:tc>
                  <a:txBody>
                    <a:bodyPr/>
                    <a:lstStyle/>
                    <a:p>
                      <a:r>
                        <a:rPr sz="1250" b="0">
                          <a:solidFill>
                            <a:srgbClr val="6B6963"/>
                          </a:solidFill>
                          <a:latin typeface="Calibri"/>
                        </a:rPr>
                        <a:t>H2</a:t>
                      </a:r>
                    </a:p>
                  </a:txBody>
                  <a:tcPr>
                    <a:solidFill>
                      <a:srgbClr val="FCFCFB"/>
                    </a:solidFill>
                  </a:tcPr>
                </a:tc>
                <a:tc>
                  <a:txBody>
                    <a:bodyPr/>
                    <a:lstStyle/>
                    <a:p>
                      <a:r>
                        <a:rPr sz="1250" b="0">
                          <a:solidFill>
                            <a:srgbClr val="6B6963"/>
                          </a:solidFill>
                          <a:latin typeface="Calibri"/>
                        </a:rPr>
                        <a:t>le territoire apporte une information propre</a:t>
                      </a:r>
                    </a:p>
                  </a:txBody>
                  <a:tcPr>
                    <a:solidFill>
                      <a:srgbClr val="FCFCFB"/>
                    </a:solidFill>
                  </a:tcPr>
                </a:tc>
                <a:tc>
                  <a:txBody>
                    <a:bodyPr/>
                    <a:lstStyle/>
                    <a:p>
                      <a:r>
                        <a:rPr sz="1250" b="0">
                          <a:solidFill>
                            <a:srgbClr val="6B6963"/>
                          </a:solidFill>
                          <a:latin typeface="Calibri"/>
                        </a:rPr>
                        <a:t>confirmée</a:t>
                      </a:r>
                    </a:p>
                  </a:txBody>
                  <a:tcPr>
                    <a:solidFill>
                      <a:srgbClr val="FCFCFB"/>
                    </a:solidFill>
                  </a:tcPr>
                </a:tc>
                <a:tc>
                  <a:txBody>
                    <a:bodyPr/>
                    <a:lstStyle/>
                    <a:p>
                      <a:r>
                        <a:rPr sz="1250" b="0">
                          <a:solidFill>
                            <a:srgbClr val="6B6963"/>
                          </a:solidFill>
                          <a:latin typeface="Calibri"/>
                        </a:rPr>
                        <a:t>9 régions sur 9 en validation croisée spatiale, jusqu'à +137 %</a:t>
                      </a:r>
                    </a:p>
                  </a:txBody>
                  <a:tcPr>
                    <a:solidFill>
                      <a:srgbClr val="FCFCFB"/>
                    </a:solidFill>
                  </a:tcPr>
                </a:tc>
              </a:tr>
              <a:tr h="576000">
                <a:tc>
                  <a:txBody>
                    <a:bodyPr/>
                    <a:lstStyle/>
                    <a:p>
                      <a:r>
                        <a:rPr sz="1250" b="0">
                          <a:solidFill>
                            <a:srgbClr val="6B6963"/>
                          </a:solidFill>
                          <a:latin typeface="Calibri"/>
                        </a:rPr>
                        <a:t>H3</a:t>
                      </a:r>
                    </a:p>
                  </a:txBody>
                  <a:tcPr>
                    <a:solidFill>
                      <a:srgbClr val="FCFCFB"/>
                    </a:solidFill>
                  </a:tcPr>
                </a:tc>
                <a:tc>
                  <a:txBody>
                    <a:bodyPr/>
                    <a:lstStyle/>
                    <a:p>
                      <a:r>
                        <a:rPr sz="1250" b="0">
                          <a:solidFill>
                            <a:srgbClr val="6B6963"/>
                          </a:solidFill>
                          <a:latin typeface="Calibri"/>
                        </a:rPr>
                        <a:t>une architecture séquentielle n'apporte rien de plus</a:t>
                      </a:r>
                    </a:p>
                  </a:txBody>
                  <a:tcPr>
                    <a:solidFill>
                      <a:srgbClr val="FCFCFB"/>
                    </a:solidFill>
                  </a:tcPr>
                </a:tc>
                <a:tc>
                  <a:txBody>
                    <a:bodyPr/>
                    <a:lstStyle/>
                    <a:p>
                      <a:r>
                        <a:rPr sz="1250" b="0">
                          <a:solidFill>
                            <a:srgbClr val="6B6963"/>
                          </a:solidFill>
                          <a:latin typeface="Calibri"/>
                        </a:rPr>
                        <a:t>confirmée</a:t>
                      </a:r>
                    </a:p>
                  </a:txBody>
                  <a:tcPr>
                    <a:solidFill>
                      <a:srgbClr val="FCFCFB"/>
                    </a:solidFill>
                  </a:tcPr>
                </a:tc>
                <a:tc>
                  <a:txBody>
                    <a:bodyPr/>
                    <a:lstStyle/>
                    <a:p>
                      <a:r>
                        <a:rPr sz="1250" b="0">
                          <a:solidFill>
                            <a:srgbClr val="6B6963"/>
                          </a:solidFill>
                          <a:latin typeface="Calibri"/>
                        </a:rPr>
                        <a:t>LSTM −23,6 % [−33,5 ; −17,3] à information égale ; PACF et ARIMA concordants</a:t>
                      </a:r>
                    </a:p>
                  </a:txBody>
                  <a:tcPr>
                    <a:solidFill>
                      <a:srgbClr val="FCFCFB"/>
                    </a:solidFill>
                  </a:tcPr>
                </a:tc>
              </a:tr>
              <a:tr h="576000">
                <a:tc>
                  <a:txBody>
                    <a:bodyPr/>
                    <a:lstStyle/>
                    <a:p>
                      <a:r>
                        <a:rPr sz="1250" b="0">
                          <a:solidFill>
                            <a:srgbClr val="6B6963"/>
                          </a:solidFill>
                          <a:latin typeface="Calibri"/>
                        </a:rPr>
                        <a:t>H4</a:t>
                      </a:r>
                    </a:p>
                  </a:txBody>
                  <a:tcPr>
                    <a:solidFill>
                      <a:srgbClr val="FCFCFB"/>
                    </a:solidFill>
                  </a:tcPr>
                </a:tc>
                <a:tc>
                  <a:txBody>
                    <a:bodyPr/>
                    <a:lstStyle/>
                    <a:p>
                      <a:r>
                        <a:rPr sz="1250" b="0">
                          <a:solidFill>
                            <a:srgbClr val="6B6963"/>
                          </a:solidFill>
                          <a:latin typeface="Calibri"/>
                        </a:rPr>
                        <a:t>le danger météo augmente de façon détectable</a:t>
                      </a:r>
                    </a:p>
                  </a:txBody>
                  <a:tcPr>
                    <a:solidFill>
                      <a:srgbClr val="FCFCFB"/>
                    </a:solidFill>
                  </a:tcPr>
                </a:tc>
                <a:tc>
                  <a:txBody>
                    <a:bodyPr/>
                    <a:lstStyle/>
                    <a:p>
                      <a:r>
                        <a:rPr sz="1250" b="0">
                          <a:solidFill>
                            <a:srgbClr val="6B6963"/>
                          </a:solidFill>
                          <a:latin typeface="Calibri"/>
                        </a:rPr>
                        <a:t>confirmée pour l'aléa,</a:t>
                      </a:r>
                    </a:p>
                    <a:p>
                      <a:r>
                        <a:t>non vérifiée pour les feux</a:t>
                      </a:r>
                    </a:p>
                  </a:txBody>
                  <a:tcPr>
                    <a:solidFill>
                      <a:srgbClr val="FCFCFB"/>
                    </a:solidFill>
                  </a:tcPr>
                </a:tc>
                <a:tc>
                  <a:txBody>
                    <a:bodyPr/>
                    <a:lstStyle/>
                    <a:p>
                      <a:r>
                        <a:rPr sz="1250" b="0">
                          <a:solidFill>
                            <a:srgbClr val="6B6963"/>
                          </a:solidFill>
                          <a:latin typeface="Calibri"/>
                        </a:rPr>
                        <a:t>FWI estival +62 % (p = 1e-4) ; départs +0 % non significatif</a:t>
                      </a:r>
                    </a:p>
                  </a:txBody>
                  <a:tcPr>
                    <a:solidFill>
                      <a:srgbClr val="FCFCFB"/>
                    </a:solidFill>
                  </a:tcPr>
                </a:tc>
              </a:tr>
            </a:tbl>
          </a:graphicData>
        </a:graphic>
      </p:graphicFrame>
      <p:sp>
        <p:nvSpPr>
          <p:cNvPr id="5" name="Rectangle 4"/>
          <p:cNvSpPr/>
          <p:nvPr/>
        </p:nvSpPr>
        <p:spPr>
          <a:xfrm>
            <a:off x="684000" y="4572000"/>
            <a:ext cx="39600" cy="10800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2000" y="4608000"/>
            <a:ext cx="10548000" cy="1080000"/>
          </a:xfrm>
          <a:prstGeom prst="rect">
            <a:avLst/>
          </a:prstGeom>
          <a:noFill/>
        </p:spPr>
        <p:txBody>
          <a:bodyPr wrap="square">
            <a:spAutoFit/>
          </a:bodyPr>
          <a:lstStyle/>
          <a:p>
            <a:pPr>
              <a:lnSpc>
                <a:spcPct val="130000"/>
              </a:lnSpc>
            </a:pPr>
            <a:r>
              <a:rPr sz="1600" b="0">
                <a:solidFill>
                  <a:srgbClr val="0B0B0B"/>
                </a:solidFill>
                <a:latin typeface="Calibri"/>
              </a:rPr>
              <a:t>La réponse à la question principale est positive, avec une réserve explicite : on estime un risque relatif, pas une probabilité absolue, et c'est pour cette raison que l'application affiche un rang.</a:t>
            </a:r>
          </a:p>
        </p:txBody>
      </p:sp>
      <p:sp>
        <p:nvSpPr>
          <p:cNvPr id="7" name="TextBox 6"/>
          <p:cNvSpPr txBox="1"/>
          <p:nvPr/>
        </p:nvSpPr>
        <p:spPr>
          <a:xfrm>
            <a:off x="684000" y="5868000"/>
            <a:ext cx="10800000" cy="576000"/>
          </a:xfrm>
          <a:prstGeom prst="rect">
            <a:avLst/>
          </a:prstGeom>
          <a:noFill/>
        </p:spPr>
        <p:txBody>
          <a:bodyPr wrap="square">
            <a:spAutoFit/>
          </a:bodyPr>
          <a:lstStyle/>
          <a:p>
            <a:pPr>
              <a:lnSpc>
                <a:spcPct val="125000"/>
              </a:lnSpc>
            </a:pPr>
            <a:r>
              <a:rPr sz="2200" b="1">
                <a:solidFill>
                  <a:srgbClr val="0B0B0B"/>
                </a:solidFill>
                <a:latin typeface="Calibri"/>
              </a:rPr>
              <a:t>Merci. Questions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