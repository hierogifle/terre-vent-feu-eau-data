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retrouve seul les Landes, l'arc méditerranéen et la Corse — sans jamais voir de carte : ni lat ni lon ne font partie de ses variables.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ce n'est pas un détail technique, c'est la contrainte qui explique chacune des décisions suivantes.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heuristique par le nom aurait « résolu » tous les cas et corrompu y, le voisinage et les features CORINE de communes innocentes. Perdre 0,68 % des feux est préférable.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253 millions de lignes plutôt que 52 809 : c'est un choix coûteux, et il a une raison technique précise.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Feux des 30 jours précédents » au 3 août 2023 lit juillet 2023 : ce n'est pas une fuite, le 3 août à 8 h on connaît juillet. « Taux moyen de la commune sur toute la période » lit le futur — c'en est une.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souvent la première question d'un jury : pourquoi pas l'accuracy. Répondre par le chiffre : 99,98 % de justesse en répondant toujours non.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 est invisible : le modèle marche, les métriques sont bonnes, seul le niveau absolu des probabilités est faux.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qu'on a cherché à se rendre la tâche difficile plutôt qu'à se flatter d'un grand chiffre.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problème classique de small area estimation. Ce qui compte méthodologiquement : les groupes sont formés sans regarder y, la sinistralité n'entre qu'après.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commenter le classement ici : le commentaire n'a de sens qu'avec les intervalles.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rééchantillonner les communes et non les lignes : les 1 096 jours d'une même commune ne sont pas indépendants, et 31 communes partagent la même maille météo. Un bootstrap ligne à ligne donnerait des intervalles faussement étroits, et ferait conclure à tort.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LSTM voit 30 jours × 8 indices = 240 valeurs ; le modèle C voit les 8 indices du jour plus deux décalages. Vingt fois plus d'historique météo, et il perd.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Réserve honnête, à donner spontanément : le LSTM ne reçoit pas danger_effis, qui pèse 13,7 % dans le modèle C. L'écart de 23,6 % est donc un majorant.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l'application, un basculement permet de comparer les deux modèles — et il REFUSE de le faire ailleurs que sur le test.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Protocole : on retire une région du train, on entraîne, on teste sur la région exclue. Neuf fois, une par région.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qu'on a préféré ne PAS afficher une probabilité plutôt que d'en afficher une fausse. C'est un choix, pas un oubli.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contre-intuitif, et c'est le genre de chose qu'un jury apprécie : on a regardé la variabilité, pas seulement la moyenne.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Morale à énoncer : ne jamais citer « la feature n°1 » sans dire de quelle mesure il s'agit et sur quelle population. TreeSHAP est EXACT sur un modèle d'arbres — vérifié : somme des contributions plus valeur de base = logit du score, à 1e-6 près.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on demande pourquoi LIME : sur un modèle d'arbres il approxime ce que TreeSHAP calcule exactement. On le montre pour la comparaison, et parce qu'il redeviendrait le bon outil sur un modèle qu'on ne peut pas ouvrir — une API, un réseau profond.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EXACTEMENT : « les conditions favorables aux feux augmentent très significativement, et le nombre de départs reste stable — ce qui est cohérent avec une prévention qui absorbe pour l'instant la hausse de l'aléa ». Ne JAMAIS dire « les feux augmentent » : les données du projet ne le montrent pas. Trois lectures possibles : puissance statistique insuffisante sur 20 points, prévention efficace, et le fait qu'on projette l'aléa et non le bilan.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L'application affiche cet avertissement à chaque date postérieure à 2025. Le dire avant qu'on le demande.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Reproduit volontairement dans le notebook et dans l'application : on permute les lignes, la PR-AUC tombe de 0,0085 à 0,0002 — exactement la ligne du hasard, avec les mêmes valeurs dans le fichier.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Assumer ces erreurs plutôt que les cacher. Un jury retient davantage un candidat qui sait où son travail a failli casser qu'un candidat sans aspérité.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la démonstration ici. Montrer d'abord la carte, puis le basculement rétrospectif sur une date d'août, puis la page Pourquoi.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là-dessus : montrer qu'on sait ce qui reste ouvert, et dans quel ordre on s'y prendrait.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4000" y="1584000"/>
            <a:ext cx="8640000" cy="360000"/>
          </a:xfrm>
          <a:prstGeom prst="rect">
            <a:avLst/>
          </a:prstGeom>
          <a:noFill/>
        </p:spPr>
        <p:txBody>
          <a:bodyPr wrap="square">
            <a:spAutoFit/>
          </a:bodyPr>
          <a:lstStyle/>
          <a:p>
            <a:pPr>
              <a:lnSpc>
                <a:spcPct val="125000"/>
              </a:lnSpc>
            </a:pPr>
            <a:r>
              <a:rPr sz="1300" b="1">
                <a:solidFill>
                  <a:srgbClr val="E34948"/>
                </a:solidFill>
                <a:latin typeface="Calibri"/>
              </a:rPr>
              <a:t>Projet de fin d'année · M1 Data / IA · La Plateforme_</a:t>
            </a:r>
          </a:p>
        </p:txBody>
      </p:sp>
      <p:sp>
        <p:nvSpPr>
          <p:cNvPr id="3" name="TextBox 2"/>
          <p:cNvSpPr txBox="1"/>
          <p:nvPr/>
        </p:nvSpPr>
        <p:spPr>
          <a:xfrm>
            <a:off x="684000" y="1980000"/>
            <a:ext cx="10800000" cy="1440000"/>
          </a:xfrm>
          <a:prstGeom prst="rect">
            <a:avLst/>
          </a:prstGeom>
          <a:noFill/>
        </p:spPr>
        <p:txBody>
          <a:bodyPr wrap="square">
            <a:spAutoFit/>
          </a:bodyPr>
          <a:lstStyle/>
          <a:p>
            <a:pPr>
              <a:lnSpc>
                <a:spcPct val="105000"/>
              </a:lnSpc>
            </a:pPr>
            <a:r>
              <a:rPr sz="4000" b="1">
                <a:solidFill>
                  <a:srgbClr val="0B0B0B"/>
                </a:solidFill>
                <a:latin typeface="Calibri"/>
              </a:rPr>
              <a:t>Où va-t-il brûler</a:t>
            </a:r>
          </a:p>
          <a:p>
            <a:pPr>
              <a:lnSpc>
                <a:spcPct val="105000"/>
              </a:lnSpc>
            </a:pPr>
            <a:r>
              <a:rPr sz="4000" b="1">
                <a:solidFill>
                  <a:srgbClr val="0B0B0B"/>
                </a:solidFill>
                <a:latin typeface="Calibri"/>
              </a:rPr>
              <a:t>demain ?</a:t>
            </a:r>
          </a:p>
        </p:txBody>
      </p:sp>
      <p:sp>
        <p:nvSpPr>
          <p:cNvPr id="4" name="TextBox 3"/>
          <p:cNvSpPr txBox="1"/>
          <p:nvPr/>
        </p:nvSpPr>
        <p:spPr>
          <a:xfrm>
            <a:off x="684000" y="3816000"/>
            <a:ext cx="9360000" cy="1080000"/>
          </a:xfrm>
          <a:prstGeom prst="rect">
            <a:avLst/>
          </a:prstGeom>
          <a:noFill/>
        </p:spPr>
        <p:txBody>
          <a:bodyPr wrap="square">
            <a:spAutoFit/>
          </a:bodyPr>
          <a:lstStyle/>
          <a:p>
            <a:pPr>
              <a:lnSpc>
                <a:spcPct val="135000"/>
              </a:lnSpc>
            </a:pPr>
            <a:r>
              <a:rPr sz="1700" b="0">
                <a:solidFill>
                  <a:srgbClr val="6B6963"/>
                </a:solidFill>
                <a:latin typeface="Calibri"/>
              </a:rPr>
              <a:t>Prédire le risque de départ de feu pour chacune des 34 734</a:t>
            </a:r>
          </a:p>
          <a:p>
            <a:pPr>
              <a:lnSpc>
                <a:spcPct val="135000"/>
              </a:lnSpc>
            </a:pPr>
            <a:r>
              <a:rPr sz="1700" b="0">
                <a:solidFill>
                  <a:srgbClr val="6B6963"/>
                </a:solidFill>
                <a:latin typeface="Calibri"/>
              </a:rPr>
              <a:t>communes de France métropolitaine, chaque jour,</a:t>
            </a:r>
          </a:p>
          <a:p>
            <a:pPr>
              <a:lnSpc>
                <a:spcPct val="135000"/>
              </a:lnSpc>
            </a:pPr>
            <a:r>
              <a:rPr sz="1700" b="0">
                <a:solidFill>
                  <a:srgbClr val="6B6963"/>
                </a:solidFill>
                <a:latin typeface="Calibri"/>
              </a:rPr>
              <a:t>de 1973 à 2100.</a:t>
            </a:r>
          </a:p>
        </p:txBody>
      </p:sp>
      <p:sp>
        <p:nvSpPr>
          <p:cNvPr id="5" name="TextBox 4"/>
          <p:cNvSpPr txBox="1"/>
          <p:nvPr/>
        </p:nvSpPr>
        <p:spPr>
          <a:xfrm>
            <a:off x="684000" y="5832000"/>
            <a:ext cx="10080000" cy="503999"/>
          </a:xfrm>
          <a:prstGeom prst="rect">
            <a:avLst/>
          </a:prstGeom>
          <a:noFill/>
        </p:spPr>
        <p:txBody>
          <a:bodyPr wrap="square">
            <a:spAutoFit/>
          </a:bodyPr>
          <a:lstStyle/>
          <a:p>
            <a:pPr>
              <a:lnSpc>
                <a:spcPct val="125000"/>
              </a:lnSpc>
            </a:pPr>
            <a:r>
              <a:rPr sz="1200" b="0">
                <a:solidFill>
                  <a:srgbClr val="6B6963"/>
                </a:solidFill>
                <a:latin typeface="Calibri"/>
              </a:rPr>
              <a:t>Romuald Courtois</a:t>
            </a:r>
          </a:p>
        </p:txBody>
      </p:sp>
      <p:pic>
        <p:nvPicPr>
          <p:cNvPr id="6" name="Picture 5" descr="carte.png"/>
          <p:cNvPicPr>
            <a:picLocks noChangeAspect="1"/>
          </p:cNvPicPr>
          <p:nvPr/>
        </p:nvPicPr>
        <p:blipFill>
          <a:blip r:embed="rId2"/>
          <a:stretch>
            <a:fillRect/>
          </a:stretch>
        </p:blipFill>
        <p:spPr>
          <a:xfrm>
            <a:off x="7380000" y="1472755"/>
            <a:ext cx="4140000" cy="389448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84000" y="2268000"/>
            <a:ext cx="2160000" cy="503999"/>
          </a:xfrm>
          <a:prstGeom prst="rect">
            <a:avLst/>
          </a:prstGeom>
          <a:noFill/>
        </p:spPr>
        <p:txBody>
          <a:bodyPr wrap="square">
            <a:spAutoFit/>
          </a:bodyPr>
          <a:lstStyle/>
          <a:p>
            <a:pPr>
              <a:lnSpc>
                <a:spcPct val="125000"/>
              </a:lnSpc>
            </a:pPr>
            <a:r>
              <a:rPr sz="1500" b="1">
                <a:solidFill>
                  <a:srgbClr val="E34948"/>
                </a:solidFill>
                <a:latin typeface="Calibri"/>
              </a:rPr>
              <a:t>01</a:t>
            </a:r>
          </a:p>
        </p:txBody>
      </p:sp>
      <p:sp>
        <p:nvSpPr>
          <p:cNvPr id="3" name="TextBox 2"/>
          <p:cNvSpPr txBox="1"/>
          <p:nvPr/>
        </p:nvSpPr>
        <p:spPr>
          <a:xfrm>
            <a:off x="684000" y="2628000"/>
            <a:ext cx="10080000" cy="1080000"/>
          </a:xfrm>
          <a:prstGeom prst="rect">
            <a:avLst/>
          </a:prstGeom>
          <a:noFill/>
        </p:spPr>
        <p:txBody>
          <a:bodyPr wrap="square">
            <a:spAutoFit/>
          </a:bodyPr>
          <a:lstStyle/>
          <a:p>
            <a:pPr>
              <a:lnSpc>
                <a:spcPct val="110000"/>
              </a:lnSpc>
            </a:pPr>
            <a:r>
              <a:rPr sz="3400" b="1">
                <a:solidFill>
                  <a:srgbClr val="FCFCFB"/>
                </a:solidFill>
                <a:latin typeface="Calibri"/>
              </a:rPr>
              <a:t>Le problème</a:t>
            </a:r>
          </a:p>
        </p:txBody>
      </p:sp>
      <p:sp>
        <p:nvSpPr>
          <p:cNvPr id="4" name="TextBox 3"/>
          <p:cNvSpPr txBox="1"/>
          <p:nvPr/>
        </p:nvSpPr>
        <p:spPr>
          <a:xfrm>
            <a:off x="684000" y="4104000"/>
            <a:ext cx="9360000" cy="900000"/>
          </a:xfrm>
          <a:prstGeom prst="rect">
            <a:avLst/>
          </a:prstGeom>
          <a:noFill/>
        </p:spPr>
        <p:txBody>
          <a:bodyPr wrap="square">
            <a:spAutoFit/>
          </a:bodyPr>
          <a:lstStyle/>
          <a:p>
            <a:pPr>
              <a:lnSpc>
                <a:spcPct val="135000"/>
              </a:lnSpc>
            </a:pPr>
            <a:r>
              <a:rPr sz="1600" b="0">
                <a:solidFill>
                  <a:srgbClr val="C3C2B7"/>
                </a:solidFill>
                <a:latin typeface="Calibri"/>
              </a:rPr>
              <a:t>Un événement rare, quatre sources, 253 millions de lignes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Ce qui rend le problème difficile</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Un départ de feu est un événement RARE.</a:t>
            </a:r>
          </a:p>
        </p:txBody>
      </p:sp>
      <p:sp>
        <p:nvSpPr>
          <p:cNvPr id="5" name="TextBox 4"/>
          <p:cNvSpPr txBox="1"/>
          <p:nvPr/>
        </p:nvSpPr>
        <p:spPr>
          <a:xfrm>
            <a:off x="684000" y="2052000"/>
            <a:ext cx="5040000" cy="1224000"/>
          </a:xfrm>
          <a:prstGeom prst="rect">
            <a:avLst/>
          </a:prstGeom>
          <a:noFill/>
        </p:spPr>
        <p:txBody>
          <a:bodyPr wrap="square">
            <a:spAutoFit/>
          </a:bodyPr>
          <a:lstStyle/>
          <a:p>
            <a:pPr>
              <a:lnSpc>
                <a:spcPct val="100000"/>
              </a:lnSpc>
            </a:pPr>
            <a:r>
              <a:rPr sz="6600" b="1">
                <a:solidFill>
                  <a:srgbClr val="E34948"/>
                </a:solidFill>
                <a:latin typeface="Calibri"/>
              </a:rPr>
              <a:t>0,019 %</a:t>
            </a:r>
          </a:p>
        </p:txBody>
      </p:sp>
      <p:sp>
        <p:nvSpPr>
          <p:cNvPr id="6" name="TextBox 5"/>
          <p:cNvSpPr txBox="1"/>
          <p:nvPr/>
        </p:nvSpPr>
        <p:spPr>
          <a:xfrm>
            <a:off x="684000" y="3384000"/>
            <a:ext cx="5040000" cy="864000"/>
          </a:xfrm>
          <a:prstGeom prst="rect">
            <a:avLst/>
          </a:prstGeom>
          <a:noFill/>
        </p:spPr>
        <p:txBody>
          <a:bodyPr wrap="square">
            <a:spAutoFit/>
          </a:bodyPr>
          <a:lstStyle/>
          <a:p>
            <a:pPr>
              <a:lnSpc>
                <a:spcPct val="125000"/>
              </a:lnSpc>
            </a:pPr>
            <a:r>
              <a:rPr sz="1500" b="0">
                <a:solidFill>
                  <a:srgbClr val="6B6963"/>
                </a:solidFill>
                <a:latin typeface="Calibri"/>
              </a:rPr>
              <a:t>des couples commune × jour comptent</a:t>
            </a:r>
          </a:p>
          <a:p>
            <a:pPr>
              <a:lnSpc>
                <a:spcPct val="125000"/>
              </a:lnSpc>
            </a:pPr>
            <a:r>
              <a:rPr sz="1500" b="0">
                <a:solidFill>
                  <a:srgbClr val="6B6963"/>
                </a:solidFill>
                <a:latin typeface="Calibri"/>
              </a:rPr>
              <a:t>au moins un départ de feu</a:t>
            </a:r>
          </a:p>
        </p:txBody>
      </p:sp>
      <p:sp>
        <p:nvSpPr>
          <p:cNvPr id="7" name="TextBox 6"/>
          <p:cNvSpPr txBox="1"/>
          <p:nvPr/>
        </p:nvSpPr>
        <p:spPr>
          <a:xfrm>
            <a:off x="6300000" y="2088000"/>
            <a:ext cx="5220000" cy="486000"/>
          </a:xfrm>
          <a:prstGeom prst="rect">
            <a:avLst/>
          </a:prstGeom>
          <a:noFill/>
        </p:spPr>
        <p:txBody>
          <a:bodyPr wrap="square">
            <a:spAutoFit/>
          </a:bodyPr>
          <a:lstStyle/>
          <a:p>
            <a:pPr>
              <a:lnSpc>
                <a:spcPct val="125000"/>
              </a:lnSpc>
            </a:pPr>
            <a:r>
              <a:rPr sz="1500" b="1">
                <a:solidFill>
                  <a:srgbClr val="0B0B0B"/>
                </a:solidFill>
                <a:latin typeface="Calibri"/>
              </a:rPr>
              <a:t>Un modèle qui répond toujours « non » a 99,98 % de justesse.</a:t>
            </a:r>
          </a:p>
        </p:txBody>
      </p:sp>
      <p:sp>
        <p:nvSpPr>
          <p:cNvPr id="8" name="TextBox 7"/>
          <p:cNvSpPr txBox="1"/>
          <p:nvPr/>
        </p:nvSpPr>
        <p:spPr>
          <a:xfrm>
            <a:off x="6300000" y="2574000"/>
            <a:ext cx="5220000" cy="486000"/>
          </a:xfrm>
          <a:prstGeom prst="rect">
            <a:avLst/>
          </a:prstGeom>
          <a:noFill/>
        </p:spPr>
        <p:txBody>
          <a:bodyPr wrap="square">
            <a:spAutoFit/>
          </a:bodyPr>
          <a:lstStyle/>
          <a:p>
            <a:pPr>
              <a:lnSpc>
                <a:spcPct val="125000"/>
              </a:lnSpc>
            </a:pPr>
            <a:r>
              <a:rPr sz="1500" b="0">
                <a:solidFill>
                  <a:srgbClr val="6B6963"/>
                </a:solidFill>
                <a:latin typeface="Calibri"/>
              </a:rPr>
              <a:t>— Et ne sert strictement à rien.</a:t>
            </a:r>
          </a:p>
        </p:txBody>
      </p:sp>
      <p:sp>
        <p:nvSpPr>
          <p:cNvPr id="9" name="TextBox 8"/>
          <p:cNvSpPr txBox="1"/>
          <p:nvPr/>
        </p:nvSpPr>
        <p:spPr>
          <a:xfrm>
            <a:off x="6300000" y="3060000"/>
            <a:ext cx="5220000" cy="486000"/>
          </a:xfrm>
          <a:prstGeom prst="rect">
            <a:avLst/>
          </a:prstGeom>
          <a:noFill/>
        </p:spPr>
        <p:txBody>
          <a:bodyPr wrap="square">
            <a:spAutoFit/>
          </a:bodyPr>
          <a:lstStyle/>
          <a:p>
            <a:pPr>
              <a:lnSpc>
                <a:spcPct val="125000"/>
              </a:lnSpc>
            </a:pPr>
            <a:r>
              <a:rPr sz="1500" b="1">
                <a:solidFill>
                  <a:srgbClr val="0B0B0B"/>
                </a:solidFill>
                <a:latin typeface="Calibri"/>
              </a:rPr>
              <a:t>Une fuite de données ne produit pas d'erreur.</a:t>
            </a:r>
          </a:p>
        </p:txBody>
      </p:sp>
      <p:sp>
        <p:nvSpPr>
          <p:cNvPr id="10" name="TextBox 9"/>
          <p:cNvSpPr txBox="1"/>
          <p:nvPr/>
        </p:nvSpPr>
        <p:spPr>
          <a:xfrm>
            <a:off x="6300000" y="3546000"/>
            <a:ext cx="5220000" cy="486000"/>
          </a:xfrm>
          <a:prstGeom prst="rect">
            <a:avLst/>
          </a:prstGeom>
          <a:noFill/>
        </p:spPr>
        <p:txBody>
          <a:bodyPr wrap="square">
            <a:spAutoFit/>
          </a:bodyPr>
          <a:lstStyle/>
          <a:p>
            <a:pPr>
              <a:lnSpc>
                <a:spcPct val="125000"/>
              </a:lnSpc>
            </a:pPr>
            <a:r>
              <a:rPr sz="1500" b="0">
                <a:solidFill>
                  <a:srgbClr val="6B6963"/>
                </a:solidFill>
                <a:latin typeface="Calibri"/>
              </a:rPr>
              <a:t>— Elle produit d'excellentes métriques et un modèle sans valeur.</a:t>
            </a:r>
          </a:p>
        </p:txBody>
      </p:sp>
      <p:sp>
        <p:nvSpPr>
          <p:cNvPr id="11" name="TextBox 10"/>
          <p:cNvSpPr txBox="1"/>
          <p:nvPr/>
        </p:nvSpPr>
        <p:spPr>
          <a:xfrm>
            <a:off x="6300000" y="4032000"/>
            <a:ext cx="5220000" cy="486000"/>
          </a:xfrm>
          <a:prstGeom prst="rect">
            <a:avLst/>
          </a:prstGeom>
          <a:noFill/>
        </p:spPr>
        <p:txBody>
          <a:bodyPr wrap="square">
            <a:spAutoFit/>
          </a:bodyPr>
          <a:lstStyle/>
          <a:p>
            <a:pPr>
              <a:lnSpc>
                <a:spcPct val="125000"/>
              </a:lnSpc>
            </a:pPr>
            <a:r>
              <a:rPr sz="1500" b="1">
                <a:solidFill>
                  <a:srgbClr val="0B0B0B"/>
                </a:solidFill>
                <a:latin typeface="Calibri"/>
              </a:rPr>
              <a:t>Le déséquilibre commande TOUT le reste.</a:t>
            </a:r>
          </a:p>
        </p:txBody>
      </p:sp>
      <p:sp>
        <p:nvSpPr>
          <p:cNvPr id="12" name="TextBox 11"/>
          <p:cNvSpPr txBox="1"/>
          <p:nvPr/>
        </p:nvSpPr>
        <p:spPr>
          <a:xfrm>
            <a:off x="6300000" y="4518000"/>
            <a:ext cx="5220000" cy="486000"/>
          </a:xfrm>
          <a:prstGeom prst="rect">
            <a:avLst/>
          </a:prstGeom>
          <a:noFill/>
        </p:spPr>
        <p:txBody>
          <a:bodyPr wrap="square">
            <a:spAutoFit/>
          </a:bodyPr>
          <a:lstStyle/>
          <a:p>
            <a:pPr>
              <a:lnSpc>
                <a:spcPct val="125000"/>
              </a:lnSpc>
            </a:pPr>
            <a:r>
              <a:rPr sz="1500" b="0">
                <a:solidFill>
                  <a:srgbClr val="6B6963"/>
                </a:solidFill>
                <a:latin typeface="Calibri"/>
              </a:rPr>
              <a:t>— La métrique, l'échantillonnage, la calibration, et jusqu'à la façon de comparer deux modèles.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Quatre sources publiques, croisées</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Jointure sur le code INSEE et sur une grille météo de 0,25°.</a:t>
            </a:r>
          </a:p>
        </p:txBody>
      </p:sp>
      <p:graphicFrame>
        <p:nvGraphicFramePr>
          <p:cNvPr id="5" name="Table 4"/>
          <p:cNvGraphicFramePr>
            <a:graphicFrameLocks noGrp="1"/>
          </p:cNvGraphicFramePr>
          <p:nvPr/>
        </p:nvGraphicFramePr>
        <p:xfrm>
          <a:off x="684000" y="1944000"/>
          <a:ext cx="10800000" cy="2160000"/>
        </p:xfrm>
        <a:graphic>
          <a:graphicData uri="http://schemas.openxmlformats.org/drawingml/2006/table">
            <a:tbl>
              <a:tblPr firstRow="1" bandRow="1">
                <a:tableStyleId>{5C22544A-7EE6-4342-B048-85BDC9FD1C3A}</a:tableStyleId>
              </a:tblPr>
              <a:tblGrid>
                <a:gridCol w="2520000"/>
                <a:gridCol w="5040000"/>
                <a:gridCol w="3240000"/>
              </a:tblGrid>
              <a:tr h="432000">
                <a:tc>
                  <a:txBody>
                    <a:bodyPr/>
                    <a:lstStyle/>
                    <a:p>
                      <a:r>
                        <a:rPr sz="1300" b="1">
                          <a:solidFill>
                            <a:srgbClr val="FCFCFB"/>
                          </a:solidFill>
                          <a:latin typeface="Calibri"/>
                        </a:rPr>
                        <a:t>Source</a:t>
                      </a:r>
                    </a:p>
                  </a:txBody>
                  <a:tcPr>
                    <a:solidFill>
                      <a:srgbClr val="0B0B0B"/>
                    </a:solidFill>
                  </a:tcPr>
                </a:tc>
                <a:tc>
                  <a:txBody>
                    <a:bodyPr/>
                    <a:lstStyle/>
                    <a:p>
                      <a:r>
                        <a:rPr sz="1300" b="1">
                          <a:solidFill>
                            <a:srgbClr val="FCFCFB"/>
                          </a:solidFill>
                          <a:latin typeface="Calibri"/>
                        </a:rPr>
                        <a:t>Ce qu'elle apporte</a:t>
                      </a:r>
                    </a:p>
                  </a:txBody>
                  <a:tcPr>
                    <a:solidFill>
                      <a:srgbClr val="0B0B0B"/>
                    </a:solidFill>
                  </a:tcPr>
                </a:tc>
                <a:tc>
                  <a:txBody>
                    <a:bodyPr/>
                    <a:lstStyle/>
                    <a:p>
                      <a:r>
                        <a:rPr sz="1300" b="1">
                          <a:solidFill>
                            <a:srgbClr val="FCFCFB"/>
                          </a:solidFill>
                          <a:latin typeface="Calibri"/>
                        </a:rPr>
                        <a:t>Volume</a:t>
                      </a:r>
                    </a:p>
                  </a:txBody>
                  <a:tcPr>
                    <a:solidFill>
                      <a:srgbClr val="0B0B0B"/>
                    </a:solidFill>
                  </a:tcPr>
                </a:tc>
              </a:tr>
              <a:tr h="432000">
                <a:tc>
                  <a:txBody>
                    <a:bodyPr/>
                    <a:lstStyle/>
                    <a:p>
                      <a:r>
                        <a:rPr sz="1300" b="0">
                          <a:solidFill>
                            <a:srgbClr val="6B6963"/>
                          </a:solidFill>
                          <a:latin typeface="Calibri"/>
                        </a:rPr>
                        <a:t>CEMS · Copernicus</a:t>
                      </a:r>
                    </a:p>
                  </a:txBody>
                  <a:tcPr>
                    <a:solidFill>
                      <a:srgbClr val="FCFCFB"/>
                    </a:solidFill>
                  </a:tcPr>
                </a:tc>
                <a:tc>
                  <a:txBody>
                    <a:bodyPr/>
                    <a:lstStyle/>
                    <a:p>
                      <a:r>
                        <a:rPr sz="1300" b="0">
                          <a:solidFill>
                            <a:srgbClr val="6B6963"/>
                          </a:solidFill>
                          <a:latin typeface="Calibri"/>
                        </a:rPr>
                        <a:t>8 indices de danger, par jour et par maille</a:t>
                      </a:r>
                    </a:p>
                  </a:txBody>
                  <a:tcPr>
                    <a:solidFill>
                      <a:srgbClr val="FCFCFB"/>
                    </a:solidFill>
                  </a:tcPr>
                </a:tc>
                <a:tc>
                  <a:txBody>
                    <a:bodyPr/>
                    <a:lstStyle/>
                    <a:p>
                      <a:r>
                        <a:rPr sz="1300" b="0">
                          <a:solidFill>
                            <a:srgbClr val="6B6963"/>
                          </a:solidFill>
                          <a:latin typeface="Calibri"/>
                        </a:rPr>
                        <a:t>21,9 M lignes · 1973-2025</a:t>
                      </a:r>
                    </a:p>
                  </a:txBody>
                  <a:tcPr>
                    <a:solidFill>
                      <a:srgbClr val="FCFCFB"/>
                    </a:solidFill>
                  </a:tcPr>
                </a:tc>
              </a:tr>
              <a:tr h="432000">
                <a:tc>
                  <a:txBody>
                    <a:bodyPr/>
                    <a:lstStyle/>
                    <a:p>
                      <a:r>
                        <a:rPr sz="1300" b="0">
                          <a:solidFill>
                            <a:srgbClr val="6B6963"/>
                          </a:solidFill>
                          <a:latin typeface="Calibri"/>
                        </a:rPr>
                        <a:t>BDIFF · IGN</a:t>
                      </a:r>
                    </a:p>
                  </a:txBody>
                  <a:tcPr>
                    <a:solidFill>
                      <a:srgbClr val="FCFCFB"/>
                    </a:solidFill>
                  </a:tcPr>
                </a:tc>
                <a:tc>
                  <a:txBody>
                    <a:bodyPr/>
                    <a:lstStyle/>
                    <a:p>
                      <a:r>
                        <a:rPr sz="1300" b="0">
                          <a:solidFill>
                            <a:srgbClr val="6B6963"/>
                          </a:solidFill>
                          <a:latin typeface="Calibri"/>
                        </a:rPr>
                        <a:t>les feux déclarés, commune par commune</a:t>
                      </a:r>
                    </a:p>
                  </a:txBody>
                  <a:tcPr>
                    <a:solidFill>
                      <a:srgbClr val="FCFCFB"/>
                    </a:solidFill>
                  </a:tcPr>
                </a:tc>
                <a:tc>
                  <a:txBody>
                    <a:bodyPr/>
                    <a:lstStyle/>
                    <a:p>
                      <a:r>
                        <a:rPr sz="1300" b="0">
                          <a:solidFill>
                            <a:srgbClr val="6B6963"/>
                          </a:solidFill>
                          <a:latin typeface="Calibri"/>
                        </a:rPr>
                        <a:t>52 809 feux sur le périmètre</a:t>
                      </a:r>
                    </a:p>
                  </a:txBody>
                  <a:tcPr>
                    <a:solidFill>
                      <a:srgbClr val="FCFCFB"/>
                    </a:solidFill>
                  </a:tcPr>
                </a:tc>
              </a:tr>
              <a:tr h="432000">
                <a:tc>
                  <a:txBody>
                    <a:bodyPr/>
                    <a:lstStyle/>
                    <a:p>
                      <a:r>
                        <a:rPr sz="1300" b="0">
                          <a:solidFill>
                            <a:srgbClr val="6B6963"/>
                          </a:solidFill>
                          <a:latin typeface="Calibri"/>
                        </a:rPr>
                        <a:t>CORINE Land Cover</a:t>
                      </a:r>
                    </a:p>
                  </a:txBody>
                  <a:tcPr>
                    <a:solidFill>
                      <a:srgbClr val="FCFCFB"/>
                    </a:solidFill>
                  </a:tcPr>
                </a:tc>
                <a:tc>
                  <a:txBody>
                    <a:bodyPr/>
                    <a:lstStyle/>
                    <a:p>
                      <a:r>
                        <a:rPr sz="1300" b="0">
                          <a:solidFill>
                            <a:srgbClr val="6B6963"/>
                          </a:solidFill>
                          <a:latin typeface="Calibri"/>
                        </a:rPr>
                        <a:t>l'occupation du sol, 44 postes</a:t>
                      </a:r>
                    </a:p>
                  </a:txBody>
                  <a:tcPr>
                    <a:solidFill>
                      <a:srgbClr val="FCFCFB"/>
                    </a:solidFill>
                  </a:tcPr>
                </a:tc>
                <a:tc>
                  <a:txBody>
                    <a:bodyPr/>
                    <a:lstStyle/>
                    <a:p>
                      <a:r>
                        <a:rPr sz="1300" b="0">
                          <a:solidFill>
                            <a:srgbClr val="6B6963"/>
                          </a:solidFill>
                          <a:latin typeface="Calibri"/>
                        </a:rPr>
                        <a:t>1,08 M lignes</a:t>
                      </a:r>
                    </a:p>
                  </a:txBody>
                  <a:tcPr>
                    <a:solidFill>
                      <a:srgbClr val="FCFCFB"/>
                    </a:solidFill>
                  </a:tcPr>
                </a:tc>
              </a:tr>
              <a:tr h="432000">
                <a:tc>
                  <a:txBody>
                    <a:bodyPr/>
                    <a:lstStyle/>
                    <a:p>
                      <a:r>
                        <a:rPr sz="1300" b="0">
                          <a:solidFill>
                            <a:srgbClr val="6B6963"/>
                          </a:solidFill>
                          <a:latin typeface="Calibri"/>
                        </a:rPr>
                        <a:t>INSEE</a:t>
                      </a:r>
                    </a:p>
                  </a:txBody>
                  <a:tcPr>
                    <a:solidFill>
                      <a:srgbClr val="FCFCFB"/>
                    </a:solidFill>
                  </a:tcPr>
                </a:tc>
                <a:tc>
                  <a:txBody>
                    <a:bodyPr/>
                    <a:lstStyle/>
                    <a:p>
                      <a:r>
                        <a:rPr sz="1300" b="0">
                          <a:solidFill>
                            <a:srgbClr val="6B6963"/>
                          </a:solidFill>
                          <a:latin typeface="Calibri"/>
                        </a:rPr>
                        <a:t>référentiel des communes, et leurs fusions</a:t>
                      </a:r>
                    </a:p>
                  </a:txBody>
                  <a:tcPr>
                    <a:solidFill>
                      <a:srgbClr val="FCFCFB"/>
                    </a:solidFill>
                  </a:tcPr>
                </a:tc>
                <a:tc>
                  <a:txBody>
                    <a:bodyPr/>
                    <a:lstStyle/>
                    <a:p>
                      <a:r>
                        <a:rPr sz="1300" b="0">
                          <a:solidFill>
                            <a:srgbClr val="6B6963"/>
                          </a:solidFill>
                          <a:latin typeface="Calibri"/>
                        </a:rPr>
                        <a:t>34 734 communes</a:t>
                      </a:r>
                    </a:p>
                  </a:txBody>
                  <a:tcPr>
                    <a:solidFill>
                      <a:srgbClr val="FCFCFB"/>
                    </a:solidFill>
                  </a:tcPr>
                </a:tc>
              </a:tr>
            </a:tbl>
          </a:graphicData>
        </a:graphic>
      </p:graphicFrame>
      <p:sp>
        <p:nvSpPr>
          <p:cNvPr id="6" name="Rectangle 5"/>
          <p:cNvSpPr/>
          <p:nvPr/>
        </p:nvSpPr>
        <p:spPr>
          <a:xfrm>
            <a:off x="684000" y="4392000"/>
            <a:ext cx="39600" cy="1584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4428000"/>
            <a:ext cx="10548000" cy="1584000"/>
          </a:xfrm>
          <a:prstGeom prst="rect">
            <a:avLst/>
          </a:prstGeom>
          <a:noFill/>
        </p:spPr>
        <p:txBody>
          <a:bodyPr wrap="square">
            <a:spAutoFit/>
          </a:bodyPr>
          <a:lstStyle/>
          <a:p>
            <a:pPr>
              <a:lnSpc>
                <a:spcPct val="130000"/>
              </a:lnSpc>
            </a:pPr>
            <a:r>
              <a:rPr sz="1400" b="0">
                <a:solidFill>
                  <a:srgbClr val="0B0B0B"/>
                </a:solidFill>
                <a:latin typeface="Calibri"/>
              </a:rPr>
              <a:t>LE POINT DÉLICAT N'EST PAS LE VOLUME : CE SONT LES FUSIONS DE COMMUNES.</a:t>
            </a:r>
          </a:p>
          <a:p>
            <a:pPr>
              <a:lnSpc>
                <a:spcPct val="130000"/>
              </a:lnSpc>
            </a:pPr>
            <a:r>
              <a:rPr sz="1400" b="0">
                <a:solidFill>
                  <a:srgbClr val="0B0B0B"/>
                </a:solidFill>
                <a:latin typeface="Calibri"/>
              </a:rPr>
              <a:t>965 feux portent un code INSEE disparu. Les rapprocher par le nom donnait de faux positifs — « Chirac » en Lozère renvoyait vers la Charente. On a téléchargé le fichier officiel des mouvements de communes de l'INSEE ; les 30 cas restants sont écartés et comptés, jamais devinés.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La table centrale : commune × jour</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Une ligne par commune et par jour, qu'il y ait eu un feu ou non.</a:t>
            </a:r>
          </a:p>
        </p:txBody>
      </p:sp>
      <p:graphicFrame>
        <p:nvGraphicFramePr>
          <p:cNvPr id="5" name="Table 4"/>
          <p:cNvGraphicFramePr>
            <a:graphicFrameLocks noGrp="1"/>
          </p:cNvGraphicFramePr>
          <p:nvPr/>
        </p:nvGraphicFramePr>
        <p:xfrm>
          <a:off x="684000" y="1944000"/>
          <a:ext cx="8640000" cy="1944000"/>
        </p:xfrm>
        <a:graphic>
          <a:graphicData uri="http://schemas.openxmlformats.org/drawingml/2006/table">
            <a:tbl>
              <a:tblPr firstRow="1" bandRow="1">
                <a:tableStyleId>{5C22544A-7EE6-4342-B048-85BDC9FD1C3A}</a:tableStyleId>
              </a:tblPr>
              <a:tblGrid>
                <a:gridCol w="1728000"/>
                <a:gridCol w="1728000"/>
                <a:gridCol w="1728000"/>
                <a:gridCol w="1728000"/>
                <a:gridCol w="1728000"/>
              </a:tblGrid>
              <a:tr h="388800">
                <a:tc>
                  <a:txBody>
                    <a:bodyPr/>
                    <a:lstStyle/>
                    <a:p>
                      <a:r>
                        <a:rPr sz="1300" b="1">
                          <a:solidFill>
                            <a:srgbClr val="FCFCFB"/>
                          </a:solidFill>
                          <a:latin typeface="Calibri"/>
                        </a:rPr>
                        <a:t>Partition</a:t>
                      </a:r>
                    </a:p>
                  </a:txBody>
                  <a:tcPr>
                    <a:solidFill>
                      <a:srgbClr val="0B0B0B"/>
                    </a:solidFill>
                  </a:tcPr>
                </a:tc>
                <a:tc>
                  <a:txBody>
                    <a:bodyPr/>
                    <a:lstStyle/>
                    <a:p>
                      <a:r>
                        <a:rPr sz="1300" b="1">
                          <a:solidFill>
                            <a:srgbClr val="FCFCFB"/>
                          </a:solidFill>
                          <a:latin typeface="Calibri"/>
                        </a:rPr>
                        <a:t>Années</a:t>
                      </a:r>
                    </a:p>
                  </a:txBody>
                  <a:tcPr>
                    <a:solidFill>
                      <a:srgbClr val="0B0B0B"/>
                    </a:solidFill>
                  </a:tcPr>
                </a:tc>
                <a:tc>
                  <a:txBody>
                    <a:bodyPr/>
                    <a:lstStyle/>
                    <a:p>
                      <a:r>
                        <a:rPr sz="1300" b="1">
                          <a:solidFill>
                            <a:srgbClr val="FCFCFB"/>
                          </a:solidFill>
                          <a:latin typeface="Calibri"/>
                        </a:rPr>
                        <a:t>Lignes</a:t>
                      </a:r>
                    </a:p>
                  </a:txBody>
                  <a:tcPr>
                    <a:solidFill>
                      <a:srgbClr val="0B0B0B"/>
                    </a:solidFill>
                  </a:tcPr>
                </a:tc>
                <a:tc>
                  <a:txBody>
                    <a:bodyPr/>
                    <a:lstStyle/>
                    <a:p>
                      <a:r>
                        <a:rPr sz="1300" b="1">
                          <a:solidFill>
                            <a:srgbClr val="FCFCFB"/>
                          </a:solidFill>
                          <a:latin typeface="Calibri"/>
                        </a:rPr>
                        <a:t>Feux</a:t>
                      </a:r>
                    </a:p>
                  </a:txBody>
                  <a:tcPr>
                    <a:solidFill>
                      <a:srgbClr val="0B0B0B"/>
                    </a:solidFill>
                  </a:tcPr>
                </a:tc>
                <a:tc>
                  <a:txBody>
                    <a:bodyPr/>
                    <a:lstStyle/>
                    <a:p>
                      <a:r>
                        <a:rPr sz="1300" b="1">
                          <a:solidFill>
                            <a:srgbClr val="FCFCFB"/>
                          </a:solidFill>
                          <a:latin typeface="Calibri"/>
                        </a:rPr>
                        <a:t>Taux</a:t>
                      </a:r>
                    </a:p>
                  </a:txBody>
                  <a:tcPr>
                    <a:solidFill>
                      <a:srgbClr val="0B0B0B"/>
                    </a:solidFill>
                  </a:tcPr>
                </a:tc>
              </a:tr>
              <a:tr h="388800">
                <a:tc>
                  <a:txBody>
                    <a:bodyPr/>
                    <a:lstStyle/>
                    <a:p>
                      <a:r>
                        <a:rPr sz="1300" b="0">
                          <a:solidFill>
                            <a:srgbClr val="6B6963"/>
                          </a:solidFill>
                          <a:latin typeface="Calibri"/>
                        </a:rPr>
                        <a:t>train</a:t>
                      </a:r>
                    </a:p>
                  </a:txBody>
                  <a:tcPr>
                    <a:solidFill>
                      <a:srgbClr val="FCFCFB"/>
                    </a:solidFill>
                  </a:tcPr>
                </a:tc>
                <a:tc>
                  <a:txBody>
                    <a:bodyPr/>
                    <a:lstStyle/>
                    <a:p>
                      <a:r>
                        <a:rPr sz="1300" b="0">
                          <a:solidFill>
                            <a:srgbClr val="6B6963"/>
                          </a:solidFill>
                          <a:latin typeface="Calibri"/>
                        </a:rPr>
                        <a:t>2006-2019</a:t>
                      </a:r>
                    </a:p>
                  </a:txBody>
                  <a:tcPr>
                    <a:solidFill>
                      <a:srgbClr val="FCFCFB"/>
                    </a:solidFill>
                  </a:tcPr>
                </a:tc>
                <a:tc>
                  <a:txBody>
                    <a:bodyPr/>
                    <a:lstStyle/>
                    <a:p>
                      <a:r>
                        <a:rPr sz="1300" b="0">
                          <a:solidFill>
                            <a:srgbClr val="6B6963"/>
                          </a:solidFill>
                          <a:latin typeface="Calibri"/>
                        </a:rPr>
                        <a:t>177 594 942</a:t>
                      </a:r>
                    </a:p>
                  </a:txBody>
                  <a:tcPr>
                    <a:solidFill>
                      <a:srgbClr val="FCFCFB"/>
                    </a:solidFill>
                  </a:tcPr>
                </a:tc>
                <a:tc>
                  <a:txBody>
                    <a:bodyPr/>
                    <a:lstStyle/>
                    <a:p>
                      <a:r>
                        <a:rPr sz="1300" b="0">
                          <a:solidFill>
                            <a:srgbClr val="6B6963"/>
                          </a:solidFill>
                          <a:latin typeface="Calibri"/>
                        </a:rPr>
                        <a:t>33 632</a:t>
                      </a:r>
                    </a:p>
                  </a:txBody>
                  <a:tcPr>
                    <a:solidFill>
                      <a:srgbClr val="FCFCFB"/>
                    </a:solidFill>
                  </a:tcPr>
                </a:tc>
                <a:tc>
                  <a:txBody>
                    <a:bodyPr/>
                    <a:lstStyle/>
                    <a:p>
                      <a:r>
                        <a:rPr sz="1300" b="0">
                          <a:solidFill>
                            <a:srgbClr val="6B6963"/>
                          </a:solidFill>
                          <a:latin typeface="Calibri"/>
                        </a:rPr>
                        <a:t>0,0189 %</a:t>
                      </a:r>
                    </a:p>
                  </a:txBody>
                  <a:tcPr>
                    <a:solidFill>
                      <a:srgbClr val="FCFCFB"/>
                    </a:solidFill>
                  </a:tcPr>
                </a:tc>
              </a:tr>
              <a:tr h="388800">
                <a:tc>
                  <a:txBody>
                    <a:bodyPr/>
                    <a:lstStyle/>
                    <a:p>
                      <a:r>
                        <a:rPr sz="1300" b="0">
                          <a:solidFill>
                            <a:srgbClr val="6B6963"/>
                          </a:solidFill>
                          <a:latin typeface="Calibri"/>
                        </a:rPr>
                        <a:t>validation</a:t>
                      </a:r>
                    </a:p>
                  </a:txBody>
                  <a:tcPr>
                    <a:solidFill>
                      <a:srgbClr val="FCFCFB"/>
                    </a:solidFill>
                  </a:tcPr>
                </a:tc>
                <a:tc>
                  <a:txBody>
                    <a:bodyPr/>
                    <a:lstStyle/>
                    <a:p>
                      <a:r>
                        <a:rPr sz="1300" b="0">
                          <a:solidFill>
                            <a:srgbClr val="6B6963"/>
                          </a:solidFill>
                          <a:latin typeface="Calibri"/>
                        </a:rPr>
                        <a:t>2020-2022</a:t>
                      </a:r>
                    </a:p>
                  </a:txBody>
                  <a:tcPr>
                    <a:solidFill>
                      <a:srgbClr val="FCFCFB"/>
                    </a:solidFill>
                  </a:tcPr>
                </a:tc>
                <a:tc>
                  <a:txBody>
                    <a:bodyPr/>
                    <a:lstStyle/>
                    <a:p>
                      <a:r>
                        <a:rPr sz="1300" b="0">
                          <a:solidFill>
                            <a:srgbClr val="6B6963"/>
                          </a:solidFill>
                          <a:latin typeface="Calibri"/>
                        </a:rPr>
                        <a:t>38 068 464</a:t>
                      </a:r>
                    </a:p>
                  </a:txBody>
                  <a:tcPr>
                    <a:solidFill>
                      <a:srgbClr val="FCFCFB"/>
                    </a:solidFill>
                  </a:tcPr>
                </a:tc>
                <a:tc>
                  <a:txBody>
                    <a:bodyPr/>
                    <a:lstStyle/>
                    <a:p>
                      <a:r>
                        <a:rPr sz="1300" b="0">
                          <a:solidFill>
                            <a:srgbClr val="6B6963"/>
                          </a:solidFill>
                          <a:latin typeface="Calibri"/>
                        </a:rPr>
                        <a:t>9 176</a:t>
                      </a:r>
                    </a:p>
                  </a:txBody>
                  <a:tcPr>
                    <a:solidFill>
                      <a:srgbClr val="FCFCFB"/>
                    </a:solidFill>
                  </a:tcPr>
                </a:tc>
                <a:tc>
                  <a:txBody>
                    <a:bodyPr/>
                    <a:lstStyle/>
                    <a:p>
                      <a:r>
                        <a:rPr sz="1300" b="0">
                          <a:solidFill>
                            <a:srgbClr val="6B6963"/>
                          </a:solidFill>
                          <a:latin typeface="Calibri"/>
                        </a:rPr>
                        <a:t>0,0241 %</a:t>
                      </a:r>
                    </a:p>
                  </a:txBody>
                  <a:tcPr>
                    <a:solidFill>
                      <a:srgbClr val="FCFCFB"/>
                    </a:solidFill>
                  </a:tcPr>
                </a:tc>
              </a:tr>
              <a:tr h="388800">
                <a:tc>
                  <a:txBody>
                    <a:bodyPr/>
                    <a:lstStyle/>
                    <a:p>
                      <a:r>
                        <a:rPr sz="1300" b="0">
                          <a:solidFill>
                            <a:srgbClr val="6B6963"/>
                          </a:solidFill>
                          <a:latin typeface="Calibri"/>
                        </a:rPr>
                        <a:t>test</a:t>
                      </a:r>
                    </a:p>
                  </a:txBody>
                  <a:tcPr>
                    <a:solidFill>
                      <a:srgbClr val="FCFCFB"/>
                    </a:solidFill>
                  </a:tcPr>
                </a:tc>
                <a:tc>
                  <a:txBody>
                    <a:bodyPr/>
                    <a:lstStyle/>
                    <a:p>
                      <a:r>
                        <a:rPr sz="1300" b="0">
                          <a:solidFill>
                            <a:srgbClr val="6B6963"/>
                          </a:solidFill>
                          <a:latin typeface="Calibri"/>
                        </a:rPr>
                        <a:t>2023-2025</a:t>
                      </a:r>
                    </a:p>
                  </a:txBody>
                  <a:tcPr>
                    <a:solidFill>
                      <a:srgbClr val="FCFCFB"/>
                    </a:solidFill>
                  </a:tcPr>
                </a:tc>
                <a:tc>
                  <a:txBody>
                    <a:bodyPr/>
                    <a:lstStyle/>
                    <a:p>
                      <a:r>
                        <a:rPr sz="1300" b="0">
                          <a:solidFill>
                            <a:srgbClr val="6B6963"/>
                          </a:solidFill>
                          <a:latin typeface="Calibri"/>
                        </a:rPr>
                        <a:t>38 068 464</a:t>
                      </a:r>
                    </a:p>
                  </a:txBody>
                  <a:tcPr>
                    <a:solidFill>
                      <a:srgbClr val="FCFCFB"/>
                    </a:solidFill>
                  </a:tcPr>
                </a:tc>
                <a:tc>
                  <a:txBody>
                    <a:bodyPr/>
                    <a:lstStyle/>
                    <a:p>
                      <a:r>
                        <a:rPr sz="1300" b="0">
                          <a:solidFill>
                            <a:srgbClr val="6B6963"/>
                          </a:solidFill>
                          <a:latin typeface="Calibri"/>
                        </a:rPr>
                        <a:t>6 322</a:t>
                      </a:r>
                    </a:p>
                  </a:txBody>
                  <a:tcPr>
                    <a:solidFill>
                      <a:srgbClr val="FCFCFB"/>
                    </a:solidFill>
                  </a:tcPr>
                </a:tc>
                <a:tc>
                  <a:txBody>
                    <a:bodyPr/>
                    <a:lstStyle/>
                    <a:p>
                      <a:r>
                        <a:rPr sz="1300" b="0">
                          <a:solidFill>
                            <a:srgbClr val="6B6963"/>
                          </a:solidFill>
                          <a:latin typeface="Calibri"/>
                        </a:rPr>
                        <a:t>0,0166 %</a:t>
                      </a:r>
                    </a:p>
                  </a:txBody>
                  <a:tcPr>
                    <a:solidFill>
                      <a:srgbClr val="FCFCFB"/>
                    </a:solidFill>
                  </a:tcPr>
                </a:tc>
              </a:tr>
              <a:tr h="388800">
                <a:tc>
                  <a:txBody>
                    <a:bodyPr/>
                    <a:lstStyle/>
                    <a:p>
                      <a:r>
                        <a:rPr sz="1300" b="1">
                          <a:solidFill>
                            <a:srgbClr val="0B0B0B"/>
                          </a:solidFill>
                          <a:latin typeface="Calibri"/>
                        </a:rPr>
                        <a:t>total</a:t>
                      </a:r>
                    </a:p>
                  </a:txBody>
                  <a:tcPr>
                    <a:solidFill>
                      <a:srgbClr val="F2F1EC"/>
                    </a:solidFill>
                  </a:tcPr>
                </a:tc>
                <a:tc>
                  <a:txBody>
                    <a:bodyPr/>
                    <a:lstStyle/>
                    <a:p>
                      <a:r>
                        <a:rPr sz="1300" b="1">
                          <a:solidFill>
                            <a:srgbClr val="0B0B0B"/>
                          </a:solidFill>
                          <a:latin typeface="Calibri"/>
                        </a:rPr>
                        <a:t>2006-2025</a:t>
                      </a:r>
                    </a:p>
                  </a:txBody>
                  <a:tcPr>
                    <a:solidFill>
                      <a:srgbClr val="F2F1EC"/>
                    </a:solidFill>
                  </a:tcPr>
                </a:tc>
                <a:tc>
                  <a:txBody>
                    <a:bodyPr/>
                    <a:lstStyle/>
                    <a:p>
                      <a:r>
                        <a:rPr sz="1300" b="1">
                          <a:solidFill>
                            <a:srgbClr val="0B0B0B"/>
                          </a:solidFill>
                          <a:latin typeface="Calibri"/>
                        </a:rPr>
                        <a:t>253 731 870</a:t>
                      </a:r>
                    </a:p>
                  </a:txBody>
                  <a:tcPr>
                    <a:solidFill>
                      <a:srgbClr val="F2F1EC"/>
                    </a:solidFill>
                  </a:tcPr>
                </a:tc>
                <a:tc>
                  <a:txBody>
                    <a:bodyPr/>
                    <a:lstStyle/>
                    <a:p>
                      <a:r>
                        <a:rPr sz="1300" b="1">
                          <a:solidFill>
                            <a:srgbClr val="0B0B0B"/>
                          </a:solidFill>
                          <a:latin typeface="Calibri"/>
                        </a:rPr>
                        <a:t>49 130</a:t>
                      </a:r>
                    </a:p>
                  </a:txBody>
                  <a:tcPr>
                    <a:solidFill>
                      <a:srgbClr val="F2F1EC"/>
                    </a:solidFill>
                  </a:tcPr>
                </a:tc>
                <a:tc>
                  <a:txBody>
                    <a:bodyPr/>
                    <a:lstStyle/>
                    <a:p>
                      <a:r>
                        <a:rPr sz="1300" b="1">
                          <a:solidFill>
                            <a:srgbClr val="0B0B0B"/>
                          </a:solidFill>
                          <a:latin typeface="Calibri"/>
                        </a:rPr>
                        <a:t>0,0194 %</a:t>
                      </a:r>
                    </a:p>
                  </a:txBody>
                  <a:tcPr>
                    <a:solidFill>
                      <a:srgbClr val="F2F1EC"/>
                    </a:solidFill>
                  </a:tcPr>
                </a:tc>
              </a:tr>
            </a:tbl>
          </a:graphicData>
        </a:graphic>
      </p:graphicFrame>
      <p:sp>
        <p:nvSpPr>
          <p:cNvPr id="6" name="Rectangle 5"/>
          <p:cNvSpPr/>
          <p:nvPr/>
        </p:nvSpPr>
        <p:spPr>
          <a:xfrm>
            <a:off x="684000" y="4176000"/>
            <a:ext cx="39600" cy="136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4212000"/>
            <a:ext cx="10548000" cy="1368000"/>
          </a:xfrm>
          <a:prstGeom prst="rect">
            <a:avLst/>
          </a:prstGeom>
          <a:noFill/>
        </p:spPr>
        <p:txBody>
          <a:bodyPr wrap="square">
            <a:spAutoFit/>
          </a:bodyPr>
          <a:lstStyle/>
          <a:p>
            <a:pPr>
              <a:lnSpc>
                <a:spcPct val="130000"/>
              </a:lnSpc>
            </a:pPr>
            <a:r>
              <a:rPr sz="1400" b="0">
                <a:solidFill>
                  <a:srgbClr val="0B0B0B"/>
                </a:solidFill>
                <a:latin typeface="Calibri"/>
              </a:rPr>
              <a:t>POURQUOI UNE GRILLE DENSE, ET NON LA SEULE LISTE DES FEUX</a:t>
            </a:r>
          </a:p>
          <a:p>
            <a:pPr>
              <a:lnSpc>
                <a:spcPct val="130000"/>
              </a:lnSpc>
            </a:pPr>
            <a:r>
              <a:rPr sz="1400" b="0">
                <a:solidFill>
                  <a:srgbClr val="0B0B0B"/>
                </a:solidFill>
                <a:latin typeface="Calibri"/>
              </a:rPr>
              <a:t>Parce qu'une série creuse rendrait les fenêtres glissantes silencieusement fausses. « Feux des 30 jours précédents » se calcule en remontant 30 lignes : si les jours sans feu sont absents, on remonte en réalité plusieurs années.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84000" y="2268000"/>
            <a:ext cx="2160000" cy="503999"/>
          </a:xfrm>
          <a:prstGeom prst="rect">
            <a:avLst/>
          </a:prstGeom>
          <a:noFill/>
        </p:spPr>
        <p:txBody>
          <a:bodyPr wrap="square">
            <a:spAutoFit/>
          </a:bodyPr>
          <a:lstStyle/>
          <a:p>
            <a:pPr>
              <a:lnSpc>
                <a:spcPct val="125000"/>
              </a:lnSpc>
            </a:pPr>
            <a:r>
              <a:rPr sz="1500" b="1">
                <a:solidFill>
                  <a:srgbClr val="E34948"/>
                </a:solidFill>
                <a:latin typeface="Calibri"/>
              </a:rPr>
              <a:t>02</a:t>
            </a:r>
          </a:p>
        </p:txBody>
      </p:sp>
      <p:sp>
        <p:nvSpPr>
          <p:cNvPr id="3" name="TextBox 2"/>
          <p:cNvSpPr txBox="1"/>
          <p:nvPr/>
        </p:nvSpPr>
        <p:spPr>
          <a:xfrm>
            <a:off x="684000" y="2628000"/>
            <a:ext cx="10080000" cy="1080000"/>
          </a:xfrm>
          <a:prstGeom prst="rect">
            <a:avLst/>
          </a:prstGeom>
          <a:noFill/>
        </p:spPr>
        <p:txBody>
          <a:bodyPr wrap="square">
            <a:spAutoFit/>
          </a:bodyPr>
          <a:lstStyle/>
          <a:p>
            <a:pPr>
              <a:lnSpc>
                <a:spcPct val="110000"/>
              </a:lnSpc>
            </a:pPr>
            <a:r>
              <a:rPr sz="3400" b="1">
                <a:solidFill>
                  <a:srgbClr val="FCFCFB"/>
                </a:solidFill>
                <a:latin typeface="Calibri"/>
              </a:rPr>
              <a:t>Le protocole</a:t>
            </a:r>
          </a:p>
        </p:txBody>
      </p:sp>
      <p:sp>
        <p:nvSpPr>
          <p:cNvPr id="4" name="TextBox 3"/>
          <p:cNvSpPr txBox="1"/>
          <p:nvPr/>
        </p:nvSpPr>
        <p:spPr>
          <a:xfrm>
            <a:off x="684000" y="4104000"/>
            <a:ext cx="9360000" cy="900000"/>
          </a:xfrm>
          <a:prstGeom prst="rect">
            <a:avLst/>
          </a:prstGeom>
          <a:noFill/>
        </p:spPr>
        <p:txBody>
          <a:bodyPr wrap="square">
            <a:spAutoFit/>
          </a:bodyPr>
          <a:lstStyle/>
          <a:p>
            <a:pPr>
              <a:lnSpc>
                <a:spcPct val="135000"/>
              </a:lnSpc>
            </a:pPr>
            <a:r>
              <a:rPr sz="1600" b="0">
                <a:solidFill>
                  <a:srgbClr val="C3C2B7"/>
                </a:solidFill>
                <a:latin typeface="Calibri"/>
              </a:rPr>
              <a:t>Ce qui protège le résultat — avant même de parler de modèles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La barrière du split</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Découpage TEMPOREL, jamais aléatoire.</a:t>
            </a:r>
          </a:p>
        </p:txBody>
      </p:sp>
      <p:sp>
        <p:nvSpPr>
          <p:cNvPr id="5" name="TextBox 4"/>
          <p:cNvSpPr txBox="1"/>
          <p:nvPr/>
        </p:nvSpPr>
        <p:spPr>
          <a:xfrm>
            <a:off x="684000" y="1944000"/>
            <a:ext cx="6120000" cy="503999"/>
          </a:xfrm>
          <a:prstGeom prst="rect">
            <a:avLst/>
          </a:prstGeom>
          <a:noFill/>
        </p:spPr>
        <p:txBody>
          <a:bodyPr wrap="square">
            <a:spAutoFit/>
          </a:bodyPr>
          <a:lstStyle/>
          <a:p>
            <a:pPr>
              <a:lnSpc>
                <a:spcPct val="125000"/>
              </a:lnSpc>
            </a:pPr>
            <a:r>
              <a:rPr sz="1500" b="1">
                <a:solidFill>
                  <a:srgbClr val="0B0B0B"/>
                </a:solidFill>
                <a:latin typeface="Calibri"/>
              </a:rPr>
              <a:t>train · 2006-2019 — apprendre</a:t>
            </a:r>
          </a:p>
        </p:txBody>
      </p:sp>
      <p:sp>
        <p:nvSpPr>
          <p:cNvPr id="6" name="TextBox 5"/>
          <p:cNvSpPr txBox="1"/>
          <p:nvPr/>
        </p:nvSpPr>
        <p:spPr>
          <a:xfrm>
            <a:off x="684000" y="2448000"/>
            <a:ext cx="6120000" cy="503999"/>
          </a:xfrm>
          <a:prstGeom prst="rect">
            <a:avLst/>
          </a:prstGeom>
          <a:noFill/>
        </p:spPr>
        <p:txBody>
          <a:bodyPr wrap="square">
            <a:spAutoFit/>
          </a:bodyPr>
          <a:lstStyle/>
          <a:p>
            <a:pPr>
              <a:lnSpc>
                <a:spcPct val="125000"/>
              </a:lnSpc>
            </a:pPr>
            <a:r>
              <a:rPr sz="1500" b="0">
                <a:solidFill>
                  <a:srgbClr val="6B6963"/>
                </a:solidFill>
                <a:latin typeface="Calibri"/>
              </a:rPr>
              <a:t>— 177,6 M lignes. Tout ce qui a un .fit() s'ajuste ici, et nulle part ailleurs.</a:t>
            </a:r>
          </a:p>
        </p:txBody>
      </p:sp>
      <p:sp>
        <p:nvSpPr>
          <p:cNvPr id="7" name="TextBox 6"/>
          <p:cNvSpPr txBox="1"/>
          <p:nvPr/>
        </p:nvSpPr>
        <p:spPr>
          <a:xfrm>
            <a:off x="684000" y="2951999"/>
            <a:ext cx="6120000" cy="503999"/>
          </a:xfrm>
          <a:prstGeom prst="rect">
            <a:avLst/>
          </a:prstGeom>
          <a:noFill/>
        </p:spPr>
        <p:txBody>
          <a:bodyPr wrap="square">
            <a:spAutoFit/>
          </a:bodyPr>
          <a:lstStyle/>
          <a:p>
            <a:pPr>
              <a:lnSpc>
                <a:spcPct val="125000"/>
              </a:lnSpc>
            </a:pPr>
            <a:r>
              <a:rPr sz="1500" b="1">
                <a:solidFill>
                  <a:srgbClr val="0B0B0B"/>
                </a:solidFill>
                <a:latin typeface="Calibri"/>
              </a:rPr>
              <a:t>validation · 2020-2022 — choisir</a:t>
            </a:r>
          </a:p>
        </p:txBody>
      </p:sp>
      <p:sp>
        <p:nvSpPr>
          <p:cNvPr id="8" name="TextBox 7"/>
          <p:cNvSpPr txBox="1"/>
          <p:nvPr/>
        </p:nvSpPr>
        <p:spPr>
          <a:xfrm>
            <a:off x="684000" y="3456000"/>
            <a:ext cx="6120000" cy="503999"/>
          </a:xfrm>
          <a:prstGeom prst="rect">
            <a:avLst/>
          </a:prstGeom>
          <a:noFill/>
        </p:spPr>
        <p:txBody>
          <a:bodyPr wrap="square">
            <a:spAutoFit/>
          </a:bodyPr>
          <a:lstStyle/>
          <a:p>
            <a:pPr>
              <a:lnSpc>
                <a:spcPct val="125000"/>
              </a:lnSpc>
            </a:pPr>
            <a:r>
              <a:rPr sz="1500" b="0">
                <a:solidFill>
                  <a:srgbClr val="6B6963"/>
                </a:solidFill>
                <a:latin typeface="Calibri"/>
              </a:rPr>
              <a:t>— Hyperparamètres, sélection du modèle, calibration, comparaisons.</a:t>
            </a:r>
          </a:p>
        </p:txBody>
      </p:sp>
      <p:sp>
        <p:nvSpPr>
          <p:cNvPr id="9" name="TextBox 8"/>
          <p:cNvSpPr txBox="1"/>
          <p:nvPr/>
        </p:nvSpPr>
        <p:spPr>
          <a:xfrm>
            <a:off x="684000" y="3960000"/>
            <a:ext cx="6120000" cy="503999"/>
          </a:xfrm>
          <a:prstGeom prst="rect">
            <a:avLst/>
          </a:prstGeom>
          <a:noFill/>
        </p:spPr>
        <p:txBody>
          <a:bodyPr wrap="square">
            <a:spAutoFit/>
          </a:bodyPr>
          <a:lstStyle/>
          <a:p>
            <a:pPr>
              <a:lnSpc>
                <a:spcPct val="125000"/>
              </a:lnSpc>
            </a:pPr>
            <a:r>
              <a:rPr sz="1500" b="1">
                <a:solidFill>
                  <a:srgbClr val="0B0B0B"/>
                </a:solidFill>
                <a:latin typeface="Calibri"/>
              </a:rPr>
              <a:t>test · 2023-2025 — juger, UNE SEULE FOIS</a:t>
            </a:r>
          </a:p>
        </p:txBody>
      </p:sp>
      <p:sp>
        <p:nvSpPr>
          <p:cNvPr id="10" name="TextBox 9"/>
          <p:cNvSpPr txBox="1"/>
          <p:nvPr/>
        </p:nvSpPr>
        <p:spPr>
          <a:xfrm>
            <a:off x="684000" y="4464000"/>
            <a:ext cx="6120000" cy="503999"/>
          </a:xfrm>
          <a:prstGeom prst="rect">
            <a:avLst/>
          </a:prstGeom>
          <a:noFill/>
        </p:spPr>
        <p:txBody>
          <a:bodyPr wrap="square">
            <a:spAutoFit/>
          </a:bodyPr>
          <a:lstStyle/>
          <a:p>
            <a:pPr>
              <a:lnSpc>
                <a:spcPct val="125000"/>
              </a:lnSpc>
            </a:pPr>
            <a:r>
              <a:rPr sz="1500" b="0">
                <a:solidFill>
                  <a:srgbClr val="6B6963"/>
                </a:solidFill>
                <a:latin typeface="Calibri"/>
              </a:rPr>
              <a:t>— Ouvert après gel complet. Aucune décision n'en découle.</a:t>
            </a:r>
          </a:p>
        </p:txBody>
      </p:sp>
      <p:sp>
        <p:nvSpPr>
          <p:cNvPr id="11" name="Rectangle 10"/>
          <p:cNvSpPr/>
          <p:nvPr/>
        </p:nvSpPr>
        <p:spPr>
          <a:xfrm>
            <a:off x="7020000" y="2016000"/>
            <a:ext cx="39600" cy="12960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18000" y="2052000"/>
            <a:ext cx="4284000" cy="1296000"/>
          </a:xfrm>
          <a:prstGeom prst="rect">
            <a:avLst/>
          </a:prstGeom>
          <a:noFill/>
        </p:spPr>
        <p:txBody>
          <a:bodyPr wrap="square">
            <a:spAutoFit/>
          </a:bodyPr>
          <a:lstStyle/>
          <a:p>
            <a:pPr>
              <a:lnSpc>
                <a:spcPct val="130000"/>
              </a:lnSpc>
            </a:pPr>
            <a:r>
              <a:rPr sz="1400" b="0">
                <a:solidFill>
                  <a:srgbClr val="0B0B0B"/>
                </a:solidFill>
                <a:latin typeface="Calibri"/>
              </a:rPr>
              <a:t>Un découpage ALÉATOIRE mettrait le 14 juillet 2019 dans le train et le 15 dans le test. Le modèle « prédirait » un feu qu'il a déjà vu, à 20 km et un jour d'écart.</a:t>
            </a:r>
          </a:p>
        </p:txBody>
      </p:sp>
      <p:sp>
        <p:nvSpPr>
          <p:cNvPr id="13" name="Rectangle 12"/>
          <p:cNvSpPr/>
          <p:nvPr/>
        </p:nvSpPr>
        <p:spPr>
          <a:xfrm>
            <a:off x="7020000" y="3600000"/>
            <a:ext cx="39600" cy="1584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18000" y="3636000"/>
            <a:ext cx="4284000" cy="1584000"/>
          </a:xfrm>
          <a:prstGeom prst="rect">
            <a:avLst/>
          </a:prstGeom>
          <a:noFill/>
        </p:spPr>
        <p:txBody>
          <a:bodyPr wrap="square">
            <a:spAutoFit/>
          </a:bodyPr>
          <a:lstStyle/>
          <a:p>
            <a:pPr>
              <a:lnSpc>
                <a:spcPct val="130000"/>
              </a:lnSpc>
            </a:pPr>
            <a:r>
              <a:rPr sz="1400" b="0">
                <a:solidFill>
                  <a:srgbClr val="0B0B0B"/>
                </a:solidFill>
                <a:latin typeface="Calibri"/>
              </a:rPr>
              <a:t>LA RÈGLE QUI TRANCHE LES CAS DOUTEUX</a:t>
            </a:r>
          </a:p>
          <a:p>
            <a:pPr>
              <a:lnSpc>
                <a:spcPct val="130000"/>
              </a:lnSpc>
            </a:pPr>
            <a:r>
              <a:rPr sz="1400" b="0">
                <a:solidFill>
                  <a:srgbClr val="0B0B0B"/>
                </a:solidFill>
                <a:latin typeface="Calibri"/>
              </a:rPr>
              <a:t>Une feature DATÉE peut regarder tout le passé, y compris celui de sa propre période d'évaluation.</a:t>
            </a:r>
          </a:p>
          <a:p>
            <a:pPr>
              <a:lnSpc>
                <a:spcPct val="130000"/>
              </a:lnSpc>
            </a:pPr>
            <a:r>
              <a:rPr sz="1400" b="0">
                <a:solidFill>
                  <a:srgbClr val="0B0B0B"/>
                </a:solidFill>
                <a:latin typeface="Calibri"/>
              </a:rPr>
              <a:t>Une statistique NON DATÉE ne peut regarder que le train.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Pourquoi PR-AUC, et pas ROC-AUC</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La métrique n'est pas un détail : à 0,019 %, elle décide de ce qu'on croit avoir réussi.</a:t>
            </a:r>
          </a:p>
        </p:txBody>
      </p:sp>
      <p:graphicFrame>
        <p:nvGraphicFramePr>
          <p:cNvPr id="5" name="Table 4"/>
          <p:cNvGraphicFramePr>
            <a:graphicFrameLocks noGrp="1"/>
          </p:cNvGraphicFramePr>
          <p:nvPr/>
        </p:nvGraphicFramePr>
        <p:xfrm>
          <a:off x="684000" y="1944000"/>
          <a:ext cx="10800000" cy="1872000"/>
        </p:xfrm>
        <a:graphic>
          <a:graphicData uri="http://schemas.openxmlformats.org/drawingml/2006/table">
            <a:tbl>
              <a:tblPr firstRow="1" bandRow="1">
                <a:tableStyleId>{5C22544A-7EE6-4342-B048-85BDC9FD1C3A}</a:tableStyleId>
              </a:tblPr>
              <a:tblGrid>
                <a:gridCol w="2520000"/>
                <a:gridCol w="4140000"/>
                <a:gridCol w="4140000"/>
              </a:tblGrid>
              <a:tr h="468000">
                <a:tc>
                  <a:txBody>
                    <a:bodyPr/>
                    <a:lstStyle/>
                    <a:p>
                      <a:r>
                        <a:rPr sz="1300" b="1">
                          <a:solidFill>
                            <a:srgbClr val="FCFCFB"/>
                          </a:solidFill>
                          <a:latin typeface="Calibri"/>
                        </a:rPr>
                        <a:t> </a:t>
                      </a:r>
                    </a:p>
                  </a:txBody>
                  <a:tcPr>
                    <a:solidFill>
                      <a:srgbClr val="0B0B0B"/>
                    </a:solidFill>
                  </a:tcPr>
                </a:tc>
                <a:tc>
                  <a:txBody>
                    <a:bodyPr/>
                    <a:lstStyle/>
                    <a:p>
                      <a:r>
                        <a:rPr sz="1300" b="1">
                          <a:solidFill>
                            <a:srgbClr val="FCFCFB"/>
                          </a:solidFill>
                          <a:latin typeface="Calibri"/>
                        </a:rPr>
                        <a:t>ROC-AUC</a:t>
                      </a:r>
                    </a:p>
                  </a:txBody>
                  <a:tcPr>
                    <a:solidFill>
                      <a:srgbClr val="0B0B0B"/>
                    </a:solidFill>
                  </a:tcPr>
                </a:tc>
                <a:tc>
                  <a:txBody>
                    <a:bodyPr/>
                    <a:lstStyle/>
                    <a:p>
                      <a:r>
                        <a:rPr sz="1300" b="1">
                          <a:solidFill>
                            <a:srgbClr val="FCFCFB"/>
                          </a:solidFill>
                          <a:latin typeface="Calibri"/>
                        </a:rPr>
                        <a:t>PR-AUC</a:t>
                      </a:r>
                    </a:p>
                  </a:txBody>
                  <a:tcPr>
                    <a:solidFill>
                      <a:srgbClr val="0B0B0B"/>
                    </a:solidFill>
                  </a:tcPr>
                </a:tc>
              </a:tr>
              <a:tr h="468000">
                <a:tc>
                  <a:txBody>
                    <a:bodyPr/>
                    <a:lstStyle/>
                    <a:p>
                      <a:r>
                        <a:rPr sz="1300" b="0">
                          <a:solidFill>
                            <a:srgbClr val="6B6963"/>
                          </a:solidFill>
                          <a:latin typeface="Calibri"/>
                        </a:rPr>
                        <a:t>Ce qu'elle mesure</a:t>
                      </a:r>
                    </a:p>
                  </a:txBody>
                  <a:tcPr>
                    <a:solidFill>
                      <a:srgbClr val="FCFCFB"/>
                    </a:solidFill>
                  </a:tcPr>
                </a:tc>
                <a:tc>
                  <a:txBody>
                    <a:bodyPr/>
                    <a:lstStyle/>
                    <a:p>
                      <a:r>
                        <a:rPr sz="1300" b="0">
                          <a:solidFill>
                            <a:srgbClr val="6B6963"/>
                          </a:solidFill>
                          <a:latin typeface="Calibri"/>
                        </a:rPr>
                        <a:t>vrais positifs contre faux positifs</a:t>
                      </a:r>
                    </a:p>
                  </a:txBody>
                  <a:tcPr>
                    <a:solidFill>
                      <a:srgbClr val="FCFCFB"/>
                    </a:solidFill>
                  </a:tcPr>
                </a:tc>
                <a:tc>
                  <a:txBody>
                    <a:bodyPr/>
                    <a:lstStyle/>
                    <a:p>
                      <a:r>
                        <a:rPr sz="1300" b="0">
                          <a:solidFill>
                            <a:srgbClr val="6B6963"/>
                          </a:solidFill>
                          <a:latin typeface="Calibri"/>
                        </a:rPr>
                        <a:t>précision contre rappel</a:t>
                      </a:r>
                    </a:p>
                  </a:txBody>
                  <a:tcPr>
                    <a:solidFill>
                      <a:srgbClr val="FCFCFB"/>
                    </a:solidFill>
                  </a:tcPr>
                </a:tc>
              </a:tr>
              <a:tr h="468000">
                <a:tc>
                  <a:txBody>
                    <a:bodyPr/>
                    <a:lstStyle/>
                    <a:p>
                      <a:r>
                        <a:rPr sz="1300" b="0">
                          <a:solidFill>
                            <a:srgbClr val="6B6963"/>
                          </a:solidFill>
                          <a:latin typeface="Calibri"/>
                        </a:rPr>
                        <a:t>Valeur au hasard</a:t>
                      </a:r>
                    </a:p>
                  </a:txBody>
                  <a:tcPr>
                    <a:solidFill>
                      <a:srgbClr val="FCFCFB"/>
                    </a:solidFill>
                  </a:tcPr>
                </a:tc>
                <a:tc>
                  <a:txBody>
                    <a:bodyPr/>
                    <a:lstStyle/>
                    <a:p>
                      <a:r>
                        <a:rPr sz="1300" b="0">
                          <a:solidFill>
                            <a:srgbClr val="6B6963"/>
                          </a:solidFill>
                          <a:latin typeface="Calibri"/>
                        </a:rPr>
                        <a:t>0,50, quel que soit le déséquilibre</a:t>
                      </a:r>
                    </a:p>
                  </a:txBody>
                  <a:tcPr>
                    <a:solidFill>
                      <a:srgbClr val="FCFCFB"/>
                    </a:solidFill>
                  </a:tcPr>
                </a:tc>
                <a:tc>
                  <a:txBody>
                    <a:bodyPr/>
                    <a:lstStyle/>
                    <a:p>
                      <a:r>
                        <a:rPr sz="1300" b="0">
                          <a:solidFill>
                            <a:srgbClr val="6B6963"/>
                          </a:solidFill>
                          <a:latin typeface="Calibri"/>
                        </a:rPr>
                        <a:t>exactement le taux de base</a:t>
                      </a:r>
                    </a:p>
                  </a:txBody>
                  <a:tcPr>
                    <a:solidFill>
                      <a:srgbClr val="FCFCFB"/>
                    </a:solidFill>
                  </a:tcPr>
                </a:tc>
              </a:tr>
              <a:tr h="468000">
                <a:tc>
                  <a:txBody>
                    <a:bodyPr/>
                    <a:lstStyle/>
                    <a:p>
                      <a:r>
                        <a:rPr sz="1300" b="0">
                          <a:solidFill>
                            <a:srgbClr val="6B6963"/>
                          </a:solidFill>
                          <a:latin typeface="Calibri"/>
                        </a:rPr>
                        <a:t>À 0,019 % de positifs</a:t>
                      </a:r>
                    </a:p>
                  </a:txBody>
                  <a:tcPr>
                    <a:solidFill>
                      <a:srgbClr val="FCFCFB"/>
                    </a:solidFill>
                  </a:tcPr>
                </a:tc>
                <a:tc>
                  <a:txBody>
                    <a:bodyPr/>
                    <a:lstStyle/>
                    <a:p>
                      <a:r>
                        <a:rPr sz="1300" b="0">
                          <a:solidFill>
                            <a:srgbClr val="6B6963"/>
                          </a:solidFill>
                          <a:latin typeface="Calibri"/>
                        </a:rPr>
                        <a:t>flatteuse — un modèle médiocre affiche 0,95</a:t>
                      </a:r>
                    </a:p>
                  </a:txBody>
                  <a:tcPr>
                    <a:solidFill>
                      <a:srgbClr val="FCFCFB"/>
                    </a:solidFill>
                  </a:tcPr>
                </a:tc>
                <a:tc>
                  <a:txBody>
                    <a:bodyPr/>
                    <a:lstStyle/>
                    <a:p>
                      <a:r>
                        <a:rPr sz="1300" b="0">
                          <a:solidFill>
                            <a:srgbClr val="6B6963"/>
                          </a:solidFill>
                          <a:latin typeface="Calibri"/>
                        </a:rPr>
                        <a:t>lisible : le rapport donne le lift</a:t>
                      </a:r>
                    </a:p>
                  </a:txBody>
                  <a:tcPr>
                    <a:solidFill>
                      <a:srgbClr val="FCFCFB"/>
                    </a:solidFill>
                  </a:tcPr>
                </a:tc>
              </a:tr>
            </a:tbl>
          </a:graphicData>
        </a:graphic>
      </p:graphicFrame>
      <p:sp>
        <p:nvSpPr>
          <p:cNvPr id="6" name="TextBox 5"/>
          <p:cNvSpPr txBox="1"/>
          <p:nvPr/>
        </p:nvSpPr>
        <p:spPr>
          <a:xfrm>
            <a:off x="684000" y="4176000"/>
            <a:ext cx="10800000" cy="576000"/>
          </a:xfrm>
          <a:prstGeom prst="rect">
            <a:avLst/>
          </a:prstGeom>
          <a:noFill/>
        </p:spPr>
        <p:txBody>
          <a:bodyPr wrap="square">
            <a:spAutoFit/>
          </a:bodyPr>
          <a:lstStyle/>
          <a:p>
            <a:pPr>
              <a:lnSpc>
                <a:spcPct val="125000"/>
              </a:lnSpc>
            </a:pPr>
            <a:r>
              <a:rPr sz="2600" b="1">
                <a:solidFill>
                  <a:srgbClr val="0B0B0B"/>
                </a:solidFill>
                <a:latin typeface="Calibri"/>
              </a:rPr>
              <a:t>lift  =  PR-AUC ÷ taux de base</a:t>
            </a:r>
          </a:p>
        </p:txBody>
      </p:sp>
      <p:sp>
        <p:nvSpPr>
          <p:cNvPr id="7" name="TextBox 6"/>
          <p:cNvSpPr txBox="1"/>
          <p:nvPr/>
        </p:nvSpPr>
        <p:spPr>
          <a:xfrm>
            <a:off x="684000" y="4896000"/>
            <a:ext cx="10800000" cy="503999"/>
          </a:xfrm>
          <a:prstGeom prst="rect">
            <a:avLst/>
          </a:prstGeom>
          <a:noFill/>
        </p:spPr>
        <p:txBody>
          <a:bodyPr wrap="square">
            <a:spAutoFit/>
          </a:bodyPr>
          <a:lstStyle/>
          <a:p>
            <a:pPr>
              <a:lnSpc>
                <a:spcPct val="125000"/>
              </a:lnSpc>
            </a:pPr>
            <a:r>
              <a:rPr sz="1600" b="0">
                <a:solidFill>
                  <a:srgbClr val="6B6963"/>
                </a:solidFill>
                <a:latin typeface="Calibri"/>
              </a:rPr>
              <a:t>« combien de fois mieux que tirer au sort » — un nombre qui se dit à voix haute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Le piège du sous-échantillonnage</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Le train est réduit à 1 positif pour 10 négatifs — sans quoi l'entraînement serait ingérable.</a:t>
            </a:r>
          </a:p>
        </p:txBody>
      </p:sp>
      <p:sp>
        <p:nvSpPr>
          <p:cNvPr id="5" name="TextBox 4"/>
          <p:cNvSpPr txBox="1"/>
          <p:nvPr/>
        </p:nvSpPr>
        <p:spPr>
          <a:xfrm>
            <a:off x="684000" y="2088000"/>
            <a:ext cx="4680000" cy="1224000"/>
          </a:xfrm>
          <a:prstGeom prst="rect">
            <a:avLst/>
          </a:prstGeom>
          <a:noFill/>
        </p:spPr>
        <p:txBody>
          <a:bodyPr wrap="square">
            <a:spAutoFit/>
          </a:bodyPr>
          <a:lstStyle/>
          <a:p>
            <a:pPr>
              <a:lnSpc>
                <a:spcPct val="100000"/>
              </a:lnSpc>
            </a:pPr>
            <a:r>
              <a:rPr sz="6000" b="1">
                <a:solidFill>
                  <a:srgbClr val="EB6834"/>
                </a:solidFill>
                <a:latin typeface="Calibri"/>
              </a:rPr>
              <a:t>× 487</a:t>
            </a:r>
          </a:p>
        </p:txBody>
      </p:sp>
      <p:sp>
        <p:nvSpPr>
          <p:cNvPr id="6" name="TextBox 5"/>
          <p:cNvSpPr txBox="1"/>
          <p:nvPr/>
        </p:nvSpPr>
        <p:spPr>
          <a:xfrm>
            <a:off x="684000" y="3420000"/>
            <a:ext cx="5040000" cy="864000"/>
          </a:xfrm>
          <a:prstGeom prst="rect">
            <a:avLst/>
          </a:prstGeom>
          <a:noFill/>
        </p:spPr>
        <p:txBody>
          <a:bodyPr wrap="square">
            <a:spAutoFit/>
          </a:bodyPr>
          <a:lstStyle/>
          <a:p>
            <a:pPr>
              <a:lnSpc>
                <a:spcPct val="125000"/>
              </a:lnSpc>
            </a:pPr>
            <a:r>
              <a:rPr sz="1500" b="0">
                <a:solidFill>
                  <a:srgbClr val="6B6963"/>
                </a:solidFill>
                <a:latin typeface="Calibri"/>
              </a:rPr>
              <a:t>l'écart entre le prior appris (9,1 %)</a:t>
            </a:r>
          </a:p>
          <a:p>
            <a:pPr>
              <a:lnSpc>
                <a:spcPct val="125000"/>
              </a:lnSpc>
            </a:pPr>
            <a:r>
              <a:rPr sz="1500" b="0">
                <a:solidFill>
                  <a:srgbClr val="6B6963"/>
                </a:solidFill>
                <a:latin typeface="Calibri"/>
              </a:rPr>
              <a:t>et le prior réel (0,019 %)</a:t>
            </a:r>
          </a:p>
        </p:txBody>
      </p:sp>
      <p:sp>
        <p:nvSpPr>
          <p:cNvPr id="7" name="TextBox 6"/>
          <p:cNvSpPr txBox="1"/>
          <p:nvPr/>
        </p:nvSpPr>
        <p:spPr>
          <a:xfrm>
            <a:off x="6300000" y="2052000"/>
            <a:ext cx="5220000" cy="468000"/>
          </a:xfrm>
          <a:prstGeom prst="rect">
            <a:avLst/>
          </a:prstGeom>
          <a:noFill/>
        </p:spPr>
        <p:txBody>
          <a:bodyPr wrap="square">
            <a:spAutoFit/>
          </a:bodyPr>
          <a:lstStyle/>
          <a:p>
            <a:pPr>
              <a:lnSpc>
                <a:spcPct val="125000"/>
              </a:lnSpc>
            </a:pPr>
            <a:r>
              <a:rPr sz="1450" b="1">
                <a:solidFill>
                  <a:srgbClr val="0B0B0B"/>
                </a:solidFill>
                <a:latin typeface="Calibri"/>
              </a:rPr>
              <a:t>Validation et test ne sont JAMAIS échantillonnés.</a:t>
            </a:r>
          </a:p>
        </p:txBody>
      </p:sp>
      <p:sp>
        <p:nvSpPr>
          <p:cNvPr id="8" name="TextBox 7"/>
          <p:cNvSpPr txBox="1"/>
          <p:nvPr/>
        </p:nvSpPr>
        <p:spPr>
          <a:xfrm>
            <a:off x="6300000" y="2520000"/>
            <a:ext cx="5220000" cy="468000"/>
          </a:xfrm>
          <a:prstGeom prst="rect">
            <a:avLst/>
          </a:prstGeom>
          <a:noFill/>
        </p:spPr>
        <p:txBody>
          <a:bodyPr wrap="square">
            <a:spAutoFit/>
          </a:bodyPr>
          <a:lstStyle/>
          <a:p>
            <a:pPr>
              <a:lnSpc>
                <a:spcPct val="125000"/>
              </a:lnSpc>
            </a:pPr>
            <a:r>
              <a:rPr sz="1450" b="0">
                <a:solidFill>
                  <a:srgbClr val="6B6963"/>
                </a:solidFill>
                <a:latin typeface="Calibri"/>
              </a:rPr>
              <a:t>— C'est ce qui rend les scores comparables au monde réel.</a:t>
            </a:r>
          </a:p>
        </p:txBody>
      </p:sp>
      <p:sp>
        <p:nvSpPr>
          <p:cNvPr id="9" name="TextBox 8"/>
          <p:cNvSpPr txBox="1"/>
          <p:nvPr/>
        </p:nvSpPr>
        <p:spPr>
          <a:xfrm>
            <a:off x="6300000" y="2988000"/>
            <a:ext cx="5220000" cy="468000"/>
          </a:xfrm>
          <a:prstGeom prst="rect">
            <a:avLst/>
          </a:prstGeom>
          <a:noFill/>
        </p:spPr>
        <p:txBody>
          <a:bodyPr wrap="square">
            <a:spAutoFit/>
          </a:bodyPr>
          <a:lstStyle/>
          <a:p>
            <a:pPr>
              <a:lnSpc>
                <a:spcPct val="125000"/>
              </a:lnSpc>
            </a:pPr>
            <a:r>
              <a:rPr sz="1450" b="1">
                <a:solidFill>
                  <a:srgbClr val="0B0B0B"/>
                </a:solidFill>
                <a:latin typeface="Calibri"/>
              </a:rPr>
              <a:t>Les statistiques dérivées de y se calculent sur le train COMPLET.</a:t>
            </a:r>
          </a:p>
        </p:txBody>
      </p:sp>
      <p:sp>
        <p:nvSpPr>
          <p:cNvPr id="10" name="TextBox 9"/>
          <p:cNvSpPr txBox="1"/>
          <p:nvPr/>
        </p:nvSpPr>
        <p:spPr>
          <a:xfrm>
            <a:off x="6300000" y="3456000"/>
            <a:ext cx="5220000" cy="468000"/>
          </a:xfrm>
          <a:prstGeom prst="rect">
            <a:avLst/>
          </a:prstGeom>
          <a:noFill/>
        </p:spPr>
        <p:txBody>
          <a:bodyPr wrap="square">
            <a:spAutoFit/>
          </a:bodyPr>
          <a:lstStyle/>
          <a:p>
            <a:pPr>
              <a:lnSpc>
                <a:spcPct val="125000"/>
              </a:lnSpc>
            </a:pPr>
            <a:r>
              <a:rPr sz="1450" b="0">
                <a:solidFill>
                  <a:srgbClr val="6B6963"/>
                </a:solidFill>
                <a:latin typeface="Calibri"/>
              </a:rPr>
              <a:t>— Sur l'échantillon, un lissage bayésien vaudrait 9,1 % au lieu de 0,019 %. Le prior serait empoisonné, et rien dans les métriques ne le signalerait.</a:t>
            </a:r>
          </a:p>
        </p:txBody>
      </p:sp>
      <p:sp>
        <p:nvSpPr>
          <p:cNvPr id="11" name="TextBox 10"/>
          <p:cNvSpPr txBox="1"/>
          <p:nvPr/>
        </p:nvSpPr>
        <p:spPr>
          <a:xfrm>
            <a:off x="6300000" y="3924000"/>
            <a:ext cx="5220000" cy="468000"/>
          </a:xfrm>
          <a:prstGeom prst="rect">
            <a:avLst/>
          </a:prstGeom>
          <a:noFill/>
        </p:spPr>
        <p:txBody>
          <a:bodyPr wrap="square">
            <a:spAutoFit/>
          </a:bodyPr>
          <a:lstStyle/>
          <a:p>
            <a:pPr>
              <a:lnSpc>
                <a:spcPct val="125000"/>
              </a:lnSpc>
            </a:pPr>
            <a:r>
              <a:rPr sz="1450" b="1">
                <a:solidFill>
                  <a:srgbClr val="0B0B0B"/>
                </a:solidFill>
                <a:latin typeface="Calibri"/>
              </a:rPr>
              <a:t>La calibration absorbe le décalage.</a:t>
            </a:r>
          </a:p>
        </p:txBody>
      </p:sp>
      <p:sp>
        <p:nvSpPr>
          <p:cNvPr id="12" name="TextBox 11"/>
          <p:cNvSpPr txBox="1"/>
          <p:nvPr/>
        </p:nvSpPr>
        <p:spPr>
          <a:xfrm>
            <a:off x="6300000" y="4392000"/>
            <a:ext cx="5220000" cy="468000"/>
          </a:xfrm>
          <a:prstGeom prst="rect">
            <a:avLst/>
          </a:prstGeom>
          <a:noFill/>
        </p:spPr>
        <p:txBody>
          <a:bodyPr wrap="square">
            <a:spAutoFit/>
          </a:bodyPr>
          <a:lstStyle/>
          <a:p>
            <a:pPr>
              <a:lnSpc>
                <a:spcPct val="125000"/>
              </a:lnSpc>
            </a:pPr>
            <a:r>
              <a:rPr sz="1450" b="0">
                <a:solidFill>
                  <a:srgbClr val="6B6963"/>
                </a:solidFill>
                <a:latin typeface="Calibri"/>
              </a:rPr>
              <a:t>— Platt ramène le biais de ×144,7 à ×1,13, sans rien coûter en PR-AUC.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84000" y="2268000"/>
            <a:ext cx="2160000" cy="503999"/>
          </a:xfrm>
          <a:prstGeom prst="rect">
            <a:avLst/>
          </a:prstGeom>
          <a:noFill/>
        </p:spPr>
        <p:txBody>
          <a:bodyPr wrap="square">
            <a:spAutoFit/>
          </a:bodyPr>
          <a:lstStyle/>
          <a:p>
            <a:pPr>
              <a:lnSpc>
                <a:spcPct val="125000"/>
              </a:lnSpc>
            </a:pPr>
            <a:r>
              <a:rPr sz="1500" b="1">
                <a:solidFill>
                  <a:srgbClr val="E34948"/>
                </a:solidFill>
                <a:latin typeface="Calibri"/>
              </a:rPr>
              <a:t>03</a:t>
            </a:r>
          </a:p>
        </p:txBody>
      </p:sp>
      <p:sp>
        <p:nvSpPr>
          <p:cNvPr id="3" name="TextBox 2"/>
          <p:cNvSpPr txBox="1"/>
          <p:nvPr/>
        </p:nvSpPr>
        <p:spPr>
          <a:xfrm>
            <a:off x="684000" y="2628000"/>
            <a:ext cx="10080000" cy="1080000"/>
          </a:xfrm>
          <a:prstGeom prst="rect">
            <a:avLst/>
          </a:prstGeom>
          <a:noFill/>
        </p:spPr>
        <p:txBody>
          <a:bodyPr wrap="square">
            <a:spAutoFit/>
          </a:bodyPr>
          <a:lstStyle/>
          <a:p>
            <a:pPr>
              <a:lnSpc>
                <a:spcPct val="110000"/>
              </a:lnSpc>
            </a:pPr>
            <a:r>
              <a:rPr sz="3400" b="1">
                <a:solidFill>
                  <a:srgbClr val="FCFCFB"/>
                </a:solidFill>
                <a:latin typeface="Calibri"/>
              </a:rPr>
              <a:t>Les modèles</a:t>
            </a:r>
          </a:p>
        </p:txBody>
      </p:sp>
      <p:sp>
        <p:nvSpPr>
          <p:cNvPr id="4" name="TextBox 3"/>
          <p:cNvSpPr txBox="1"/>
          <p:nvPr/>
        </p:nvSpPr>
        <p:spPr>
          <a:xfrm>
            <a:off x="684000" y="4104000"/>
            <a:ext cx="9360000" cy="900000"/>
          </a:xfrm>
          <a:prstGeom prst="rect">
            <a:avLst/>
          </a:prstGeom>
          <a:noFill/>
        </p:spPr>
        <p:txBody>
          <a:bodyPr wrap="square">
            <a:spAutoFit/>
          </a:bodyPr>
          <a:lstStyle/>
          <a:p>
            <a:pPr>
              <a:lnSpc>
                <a:spcPct val="135000"/>
              </a:lnSpc>
            </a:pPr>
            <a:r>
              <a:rPr sz="1600" b="0">
                <a:solidFill>
                  <a:srgbClr val="C3C2B7"/>
                </a:solidFill>
                <a:latin typeface="Calibri"/>
              </a:rPr>
              <a:t>Six modèles, et deux conclusions contre-intuitives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Contre quoi se bat-on ?</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Sans référence, un lift de 73× ne veut rien dire.</a:t>
            </a:r>
          </a:p>
        </p:txBody>
      </p:sp>
      <p:graphicFrame>
        <p:nvGraphicFramePr>
          <p:cNvPr id="5" name="Table 4"/>
          <p:cNvGraphicFramePr>
            <a:graphicFrameLocks noGrp="1"/>
          </p:cNvGraphicFramePr>
          <p:nvPr/>
        </p:nvGraphicFramePr>
        <p:xfrm>
          <a:off x="684000" y="1944000"/>
          <a:ext cx="9000000" cy="2376000"/>
        </p:xfrm>
        <a:graphic>
          <a:graphicData uri="http://schemas.openxmlformats.org/drawingml/2006/table">
            <a:tbl>
              <a:tblPr firstRow="1" bandRow="1">
                <a:tableStyleId>{5C22544A-7EE6-4342-B048-85BDC9FD1C3A}</a:tableStyleId>
              </a:tblPr>
              <a:tblGrid>
                <a:gridCol w="5400000"/>
                <a:gridCol w="1800000"/>
                <a:gridCol w="1800000"/>
              </a:tblGrid>
              <a:tr h="396000">
                <a:tc>
                  <a:txBody>
                    <a:bodyPr/>
                    <a:lstStyle/>
                    <a:p>
                      <a:r>
                        <a:rPr sz="1300" b="1">
                          <a:solidFill>
                            <a:srgbClr val="FCFCFB"/>
                          </a:solidFill>
                          <a:latin typeface="Calibri"/>
                        </a:rPr>
                        <a:t>Prédicteur, sans aucun apprentissage</a:t>
                      </a:r>
                    </a:p>
                  </a:txBody>
                  <a:tcPr>
                    <a:solidFill>
                      <a:srgbClr val="0B0B0B"/>
                    </a:solidFill>
                  </a:tcPr>
                </a:tc>
                <a:tc>
                  <a:txBody>
                    <a:bodyPr/>
                    <a:lstStyle/>
                    <a:p>
                      <a:r>
                        <a:rPr sz="1300" b="1">
                          <a:solidFill>
                            <a:srgbClr val="FCFCFB"/>
                          </a:solidFill>
                          <a:latin typeface="Calibri"/>
                        </a:rPr>
                        <a:t>PR-AUC</a:t>
                      </a:r>
                    </a:p>
                  </a:txBody>
                  <a:tcPr>
                    <a:solidFill>
                      <a:srgbClr val="0B0B0B"/>
                    </a:solidFill>
                  </a:tcPr>
                </a:tc>
                <a:tc>
                  <a:txBody>
                    <a:bodyPr/>
                    <a:lstStyle/>
                    <a:p>
                      <a:r>
                        <a:rPr sz="1300" b="1">
                          <a:solidFill>
                            <a:srgbClr val="FCFCFB"/>
                          </a:solidFill>
                          <a:latin typeface="Calibri"/>
                        </a:rPr>
                        <a:t>lift</a:t>
                      </a:r>
                    </a:p>
                  </a:txBody>
                  <a:tcPr>
                    <a:solidFill>
                      <a:srgbClr val="0B0B0B"/>
                    </a:solidFill>
                  </a:tcPr>
                </a:tc>
              </a:tr>
              <a:tr h="396000">
                <a:tc>
                  <a:txBody>
                    <a:bodyPr/>
                    <a:lstStyle/>
                    <a:p>
                      <a:r>
                        <a:rPr sz="1300" b="0">
                          <a:solidFill>
                            <a:srgbClr val="6B6963"/>
                          </a:solidFill>
                          <a:latin typeface="Calibri"/>
                        </a:rPr>
                        <a:t>0 · hasard</a:t>
                      </a:r>
                    </a:p>
                  </a:txBody>
                  <a:tcPr>
                    <a:solidFill>
                      <a:srgbClr val="FCFCFB"/>
                    </a:solidFill>
                  </a:tcPr>
                </a:tc>
                <a:tc>
                  <a:txBody>
                    <a:bodyPr/>
                    <a:lstStyle/>
                    <a:p>
                      <a:r>
                        <a:rPr sz="1300" b="0">
                          <a:solidFill>
                            <a:srgbClr val="6B6963"/>
                          </a:solidFill>
                          <a:latin typeface="Calibri"/>
                        </a:rPr>
                        <a:t>0.0002</a:t>
                      </a:r>
                    </a:p>
                  </a:txBody>
                  <a:tcPr>
                    <a:solidFill>
                      <a:srgbClr val="FCFCFB"/>
                    </a:solidFill>
                  </a:tcPr>
                </a:tc>
                <a:tc>
                  <a:txBody>
                    <a:bodyPr/>
                    <a:lstStyle/>
                    <a:p>
                      <a:r>
                        <a:rPr sz="1300" b="0">
                          <a:solidFill>
                            <a:srgbClr val="6B6963"/>
                          </a:solidFill>
                          <a:latin typeface="Calibri"/>
                        </a:rPr>
                        <a:t>×1.0</a:t>
                      </a:r>
                    </a:p>
                  </a:txBody>
                  <a:tcPr>
                    <a:solidFill>
                      <a:srgbClr val="FCFCFB"/>
                    </a:solidFill>
                  </a:tcPr>
                </a:tc>
              </a:tr>
              <a:tr h="396000">
                <a:tc>
                  <a:txBody>
                    <a:bodyPr/>
                    <a:lstStyle/>
                    <a:p>
                      <a:r>
                        <a:rPr sz="1300" b="0">
                          <a:solidFill>
                            <a:srgbClr val="6B6963"/>
                          </a:solidFill>
                          <a:latin typeface="Calibri"/>
                        </a:rPr>
                        <a:t>1 · historique commune (spatial)</a:t>
                      </a:r>
                    </a:p>
                  </a:txBody>
                  <a:tcPr>
                    <a:solidFill>
                      <a:srgbClr val="FCFCFB"/>
                    </a:solidFill>
                  </a:tcPr>
                </a:tc>
                <a:tc>
                  <a:txBody>
                    <a:bodyPr/>
                    <a:lstStyle/>
                    <a:p>
                      <a:r>
                        <a:rPr sz="1300" b="0">
                          <a:solidFill>
                            <a:srgbClr val="6B6963"/>
                          </a:solidFill>
                          <a:latin typeface="Calibri"/>
                        </a:rPr>
                        <a:t>0.0047</a:t>
                      </a:r>
                    </a:p>
                  </a:txBody>
                  <a:tcPr>
                    <a:solidFill>
                      <a:srgbClr val="FCFCFB"/>
                    </a:solidFill>
                  </a:tcPr>
                </a:tc>
                <a:tc>
                  <a:txBody>
                    <a:bodyPr/>
                    <a:lstStyle/>
                    <a:p>
                      <a:r>
                        <a:rPr sz="1300" b="0">
                          <a:solidFill>
                            <a:srgbClr val="6B6963"/>
                          </a:solidFill>
                          <a:latin typeface="Calibri"/>
                        </a:rPr>
                        <a:t>×19.4</a:t>
                      </a:r>
                    </a:p>
                  </a:txBody>
                  <a:tcPr>
                    <a:solidFill>
                      <a:srgbClr val="FCFCFB"/>
                    </a:solidFill>
                  </a:tcPr>
                </a:tc>
              </a:tr>
              <a:tr h="396000">
                <a:tc>
                  <a:txBody>
                    <a:bodyPr/>
                    <a:lstStyle/>
                    <a:p>
                      <a:r>
                        <a:rPr sz="1300" b="0">
                          <a:solidFill>
                            <a:srgbClr val="6B6963"/>
                          </a:solidFill>
                          <a:latin typeface="Calibri"/>
                        </a:rPr>
                        <a:t>2 · danger EFFIS (météo)</a:t>
                      </a:r>
                    </a:p>
                  </a:txBody>
                  <a:tcPr>
                    <a:solidFill>
                      <a:srgbClr val="FCFCFB"/>
                    </a:solidFill>
                  </a:tcPr>
                </a:tc>
                <a:tc>
                  <a:txBody>
                    <a:bodyPr/>
                    <a:lstStyle/>
                    <a:p>
                      <a:r>
                        <a:rPr sz="1300" b="0">
                          <a:solidFill>
                            <a:srgbClr val="6B6963"/>
                          </a:solidFill>
                          <a:latin typeface="Calibri"/>
                        </a:rPr>
                        <a:t>0.0012</a:t>
                      </a:r>
                    </a:p>
                  </a:txBody>
                  <a:tcPr>
                    <a:solidFill>
                      <a:srgbClr val="FCFCFB"/>
                    </a:solidFill>
                  </a:tcPr>
                </a:tc>
                <a:tc>
                  <a:txBody>
                    <a:bodyPr/>
                    <a:lstStyle/>
                    <a:p>
                      <a:r>
                        <a:rPr sz="1300" b="0">
                          <a:solidFill>
                            <a:srgbClr val="6B6963"/>
                          </a:solidFill>
                          <a:latin typeface="Calibri"/>
                        </a:rPr>
                        <a:t>×5.1</a:t>
                      </a:r>
                    </a:p>
                  </a:txBody>
                  <a:tcPr>
                    <a:solidFill>
                      <a:srgbClr val="FCFCFB"/>
                    </a:solidFill>
                  </a:tcPr>
                </a:tc>
              </a:tr>
              <a:tr h="396000">
                <a:tc>
                  <a:txBody>
                    <a:bodyPr/>
                    <a:lstStyle/>
                    <a:p>
                      <a:r>
                        <a:rPr sz="1300" b="0">
                          <a:solidFill>
                            <a:srgbClr val="6B6963"/>
                          </a:solidFill>
                          <a:latin typeface="Calibri"/>
                        </a:rPr>
                        <a:t>3 · historique × EFFIS</a:t>
                      </a:r>
                    </a:p>
                  </a:txBody>
                  <a:tcPr>
                    <a:solidFill>
                      <a:srgbClr val="FCFCFB"/>
                    </a:solidFill>
                  </a:tcPr>
                </a:tc>
                <a:tc>
                  <a:txBody>
                    <a:bodyPr/>
                    <a:lstStyle/>
                    <a:p>
                      <a:r>
                        <a:rPr sz="1300" b="0">
                          <a:solidFill>
                            <a:srgbClr val="6B6963"/>
                          </a:solidFill>
                          <a:latin typeface="Calibri"/>
                        </a:rPr>
                        <a:t>0.0101</a:t>
                      </a:r>
                    </a:p>
                  </a:txBody>
                  <a:tcPr>
                    <a:solidFill>
                      <a:srgbClr val="FCFCFB"/>
                    </a:solidFill>
                  </a:tcPr>
                </a:tc>
                <a:tc>
                  <a:txBody>
                    <a:bodyPr/>
                    <a:lstStyle/>
                    <a:p>
                      <a:r>
                        <a:rPr sz="1300" b="0">
                          <a:solidFill>
                            <a:srgbClr val="6B6963"/>
                          </a:solidFill>
                          <a:latin typeface="Calibri"/>
                        </a:rPr>
                        <a:t>×42.1</a:t>
                      </a:r>
                    </a:p>
                  </a:txBody>
                  <a:tcPr>
                    <a:solidFill>
                      <a:srgbClr val="FCFCFB"/>
                    </a:solidFill>
                  </a:tcPr>
                </a:tc>
              </a:tr>
              <a:tr h="396000">
                <a:tc>
                  <a:txBody>
                    <a:bodyPr/>
                    <a:lstStyle/>
                    <a:p>
                      <a:r>
                        <a:rPr sz="1300" b="1">
                          <a:solidFill>
                            <a:srgbClr val="0B0B0B"/>
                          </a:solidFill>
                          <a:latin typeface="Calibri"/>
                        </a:rPr>
                        <a:t>le modèle déployé, mesuré sur le test</a:t>
                      </a:r>
                    </a:p>
                  </a:txBody>
                  <a:tcPr>
                    <a:solidFill>
                      <a:srgbClr val="F2F1EC"/>
                    </a:solidFill>
                  </a:tcPr>
                </a:tc>
                <a:tc>
                  <a:txBody>
                    <a:bodyPr/>
                    <a:lstStyle/>
                    <a:p>
                      <a:r>
                        <a:rPr sz="1300" b="1">
                          <a:solidFill>
                            <a:srgbClr val="0B0B0B"/>
                          </a:solidFill>
                          <a:latin typeface="Calibri"/>
                        </a:rPr>
                        <a:t>0.0106</a:t>
                      </a:r>
                    </a:p>
                  </a:txBody>
                  <a:tcPr>
                    <a:solidFill>
                      <a:srgbClr val="F2F1EC"/>
                    </a:solidFill>
                  </a:tcPr>
                </a:tc>
                <a:tc>
                  <a:txBody>
                    <a:bodyPr/>
                    <a:lstStyle/>
                    <a:p>
                      <a:r>
                        <a:rPr sz="1300" b="1">
                          <a:solidFill>
                            <a:srgbClr val="0B0B0B"/>
                          </a:solidFill>
                          <a:latin typeface="Calibri"/>
                        </a:rPr>
                        <a:t>×63.7</a:t>
                      </a:r>
                    </a:p>
                  </a:txBody>
                  <a:tcPr>
                    <a:solidFill>
                      <a:srgbClr val="F2F1EC"/>
                    </a:solidFill>
                  </a:tcPr>
                </a:tc>
              </a:tr>
            </a:tbl>
          </a:graphicData>
        </a:graphic>
      </p:graphicFrame>
      <p:sp>
        <p:nvSpPr>
          <p:cNvPr id="6" name="Rectangle 5"/>
          <p:cNvSpPr/>
          <p:nvPr/>
        </p:nvSpPr>
        <p:spPr>
          <a:xfrm>
            <a:off x="684000" y="4608000"/>
            <a:ext cx="39600" cy="1080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4644000"/>
            <a:ext cx="10548000" cy="1080000"/>
          </a:xfrm>
          <a:prstGeom prst="rect">
            <a:avLst/>
          </a:prstGeom>
          <a:noFill/>
        </p:spPr>
        <p:txBody>
          <a:bodyPr wrap="square">
            <a:spAutoFit/>
          </a:bodyPr>
          <a:lstStyle/>
          <a:p>
            <a:pPr>
              <a:lnSpc>
                <a:spcPct val="130000"/>
              </a:lnSpc>
            </a:pPr>
            <a:r>
              <a:rPr sz="1500" b="0">
                <a:solidFill>
                  <a:srgbClr val="0B0B0B"/>
                </a:solidFill>
                <a:latin typeface="Calibri"/>
              </a:rPr>
              <a:t>L'historique spatial seul vaut déjà ×19, la météo seule ×5, et leur croisement ×42.</a:t>
            </a:r>
          </a:p>
          <a:p>
            <a:pPr>
              <a:lnSpc>
                <a:spcPct val="130000"/>
              </a:lnSpc>
            </a:pPr>
            <a:r>
              <a:rPr sz="1500" b="0">
                <a:solidFill>
                  <a:srgbClr val="0B0B0B"/>
                </a:solidFill>
                <a:latin typeface="Calibri"/>
              </a:rPr>
              <a:t>C'EST LA BARRE À BATTRE — pas le hasard. Un modèle à ×30 serait moins bon qu'une règle de trois.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Du v1 au v3 : donner un risque aux communes sans histoire</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Le v1 tirait 54,6 % de son importance de l'historique de la commune. Il disait surtout : « ce qui a brûlé rebrûlera ».</a:t>
            </a:r>
          </a:p>
        </p:txBody>
      </p:sp>
      <p:pic>
        <p:nvPicPr>
          <p:cNvPr id="5" name="Picture 4" descr="02_le-lissage-bayesien-rendre-une-estimation-aux-communes-sans.png"/>
          <p:cNvPicPr>
            <a:picLocks noChangeAspect="1"/>
          </p:cNvPicPr>
          <p:nvPr/>
        </p:nvPicPr>
        <p:blipFill>
          <a:blip r:embed="rId2"/>
          <a:stretch>
            <a:fillRect/>
          </a:stretch>
        </p:blipFill>
        <p:spPr>
          <a:xfrm>
            <a:off x="684000" y="2584441"/>
            <a:ext cx="6659999" cy="2499116"/>
          </a:xfrm>
          <a:prstGeom prst="rect">
            <a:avLst/>
          </a:prstGeom>
        </p:spPr>
      </p:pic>
      <p:sp>
        <p:nvSpPr>
          <p:cNvPr id="6" name="TextBox 5"/>
          <p:cNvSpPr txBox="1"/>
          <p:nvPr/>
        </p:nvSpPr>
        <p:spPr>
          <a:xfrm>
            <a:off x="7668000" y="1944000"/>
            <a:ext cx="3924000" cy="439200"/>
          </a:xfrm>
          <a:prstGeom prst="rect">
            <a:avLst/>
          </a:prstGeom>
          <a:noFill/>
        </p:spPr>
        <p:txBody>
          <a:bodyPr wrap="square">
            <a:spAutoFit/>
          </a:bodyPr>
          <a:lstStyle/>
          <a:p>
            <a:pPr>
              <a:lnSpc>
                <a:spcPct val="125000"/>
              </a:lnSpc>
            </a:pPr>
            <a:r>
              <a:rPr sz="1300" b="1">
                <a:solidFill>
                  <a:srgbClr val="0B0B0B"/>
                </a:solidFill>
                <a:latin typeface="Calibri"/>
              </a:rPr>
              <a:t>Le trou</a:t>
            </a:r>
          </a:p>
        </p:txBody>
      </p:sp>
      <p:sp>
        <p:nvSpPr>
          <p:cNvPr id="7" name="TextBox 6"/>
          <p:cNvSpPr txBox="1"/>
          <p:nvPr/>
        </p:nvSpPr>
        <p:spPr>
          <a:xfrm>
            <a:off x="7668000" y="2383200"/>
            <a:ext cx="3924000" cy="439200"/>
          </a:xfrm>
          <a:prstGeom prst="rect">
            <a:avLst/>
          </a:prstGeom>
          <a:noFill/>
        </p:spPr>
        <p:txBody>
          <a:bodyPr wrap="square">
            <a:spAutoFit/>
          </a:bodyPr>
          <a:lstStyle/>
          <a:p>
            <a:pPr>
              <a:lnSpc>
                <a:spcPct val="125000"/>
              </a:lnSpc>
            </a:pPr>
            <a:r>
              <a:rPr sz="1300" b="0">
                <a:solidFill>
                  <a:srgbClr val="6B6963"/>
                </a:solidFill>
                <a:latin typeface="Calibri"/>
              </a:rPr>
              <a:t>— Une commune qui n'a jamais brûlé gardait un score bas, même entourée de communes qui brûlent chaque été.</a:t>
            </a:r>
          </a:p>
        </p:txBody>
      </p:sp>
      <p:sp>
        <p:nvSpPr>
          <p:cNvPr id="8" name="TextBox 7"/>
          <p:cNvSpPr txBox="1"/>
          <p:nvPr/>
        </p:nvSpPr>
        <p:spPr>
          <a:xfrm>
            <a:off x="7668000" y="2822400"/>
            <a:ext cx="3924000" cy="439200"/>
          </a:xfrm>
          <a:prstGeom prst="rect">
            <a:avLst/>
          </a:prstGeom>
          <a:noFill/>
        </p:spPr>
        <p:txBody>
          <a:bodyPr wrap="square">
            <a:spAutoFit/>
          </a:bodyPr>
          <a:lstStyle/>
          <a:p>
            <a:pPr>
              <a:lnSpc>
                <a:spcPct val="125000"/>
              </a:lnSpc>
            </a:pPr>
            <a:r>
              <a:rPr sz="1300" b="1">
                <a:solidFill>
                  <a:srgbClr val="0B0B0B"/>
                </a:solidFill>
                <a:latin typeface="Calibri"/>
              </a:rPr>
              <a:t>La parade</a:t>
            </a:r>
          </a:p>
        </p:txBody>
      </p:sp>
      <p:sp>
        <p:nvSpPr>
          <p:cNvPr id="9" name="TextBox 8"/>
          <p:cNvSpPr txBox="1"/>
          <p:nvPr/>
        </p:nvSpPr>
        <p:spPr>
          <a:xfrm>
            <a:off x="7668000" y="3261600"/>
            <a:ext cx="3924000" cy="439200"/>
          </a:xfrm>
          <a:prstGeom prst="rect">
            <a:avLst/>
          </a:prstGeom>
          <a:noFill/>
        </p:spPr>
        <p:txBody>
          <a:bodyPr wrap="square">
            <a:spAutoFit/>
          </a:bodyPr>
          <a:lstStyle/>
          <a:p>
            <a:pPr>
              <a:lnSpc>
                <a:spcPct val="125000"/>
              </a:lnSpc>
            </a:pPr>
            <a:r>
              <a:rPr sz="1300" b="0">
                <a:solidFill>
                  <a:srgbClr val="6B6963"/>
                </a:solidFill>
                <a:latin typeface="Calibri"/>
              </a:rPr>
              <a:t>— Regrouper les communes qui se ressemblent PHYSIQUEMENT — 30 groupes formés sans jamais regarder le feu — puis faire retomber chaque commune vers le taux de son groupe, à proportion de ce qu'on sait d'elle.</a:t>
            </a:r>
          </a:p>
        </p:txBody>
      </p:sp>
      <p:sp>
        <p:nvSpPr>
          <p:cNvPr id="10" name="TextBox 9"/>
          <p:cNvSpPr txBox="1"/>
          <p:nvPr/>
        </p:nvSpPr>
        <p:spPr>
          <a:xfrm>
            <a:off x="7668000" y="3700800"/>
            <a:ext cx="3924000" cy="439200"/>
          </a:xfrm>
          <a:prstGeom prst="rect">
            <a:avLst/>
          </a:prstGeom>
          <a:noFill/>
        </p:spPr>
        <p:txBody>
          <a:bodyPr wrap="square">
            <a:spAutoFit/>
          </a:bodyPr>
          <a:lstStyle/>
          <a:p>
            <a:pPr>
              <a:lnSpc>
                <a:spcPct val="125000"/>
              </a:lnSpc>
            </a:pPr>
            <a:r>
              <a:rPr sz="1300" b="1">
                <a:solidFill>
                  <a:srgbClr val="0B0B0B"/>
                </a:solidFill>
                <a:latin typeface="Calibri"/>
              </a:rPr>
              <a:t>Le gain, mesuré</a:t>
            </a:r>
          </a:p>
        </p:txBody>
      </p:sp>
      <p:sp>
        <p:nvSpPr>
          <p:cNvPr id="11" name="TextBox 10"/>
          <p:cNvSpPr txBox="1"/>
          <p:nvPr/>
        </p:nvSpPr>
        <p:spPr>
          <a:xfrm>
            <a:off x="7668000" y="4140000"/>
            <a:ext cx="3924000" cy="439200"/>
          </a:xfrm>
          <a:prstGeom prst="rect">
            <a:avLst/>
          </a:prstGeom>
          <a:noFill/>
        </p:spPr>
        <p:txBody>
          <a:bodyPr wrap="square">
            <a:spAutoFit/>
          </a:bodyPr>
          <a:lstStyle/>
          <a:p>
            <a:pPr>
              <a:lnSpc>
                <a:spcPct val="125000"/>
              </a:lnSpc>
            </a:pPr>
            <a:r>
              <a:rPr sz="1300" b="0">
                <a:solidFill>
                  <a:srgbClr val="6B6963"/>
                </a:solidFill>
                <a:latin typeface="Calibri"/>
              </a:rPr>
              <a:t>— +0,83 % de PR-AUC. Réel, mais modeste — et le dire est aussi un résultat.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Les six modèles, sur la même validation</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38 068 464 communes-jours, 9 176 feux, taux 0,0241 %.</a:t>
            </a:r>
          </a:p>
        </p:txBody>
      </p:sp>
      <p:graphicFrame>
        <p:nvGraphicFramePr>
          <p:cNvPr id="5" name="Table 4"/>
          <p:cNvGraphicFramePr>
            <a:graphicFrameLocks noGrp="1"/>
          </p:cNvGraphicFramePr>
          <p:nvPr/>
        </p:nvGraphicFramePr>
        <p:xfrm>
          <a:off x="684000" y="1944000"/>
          <a:ext cx="8280000" cy="2376000"/>
        </p:xfrm>
        <a:graphic>
          <a:graphicData uri="http://schemas.openxmlformats.org/drawingml/2006/table">
            <a:tbl>
              <a:tblPr firstRow="1" bandRow="1">
                <a:tableStyleId>{5C22544A-7EE6-4342-B048-85BDC9FD1C3A}</a:tableStyleId>
              </a:tblPr>
              <a:tblGrid>
                <a:gridCol w="3420000"/>
                <a:gridCol w="1620000"/>
                <a:gridCol w="1620000"/>
                <a:gridCol w="1620000"/>
              </a:tblGrid>
              <a:tr h="396000">
                <a:tc>
                  <a:txBody>
                    <a:bodyPr/>
                    <a:lstStyle/>
                    <a:p>
                      <a:r>
                        <a:rPr sz="1300" b="1">
                          <a:solidFill>
                            <a:srgbClr val="FCFCFB"/>
                          </a:solidFill>
                          <a:latin typeface="Calibri"/>
                        </a:rPr>
                        <a:t>Modèle</a:t>
                      </a:r>
                    </a:p>
                  </a:txBody>
                  <a:tcPr>
                    <a:solidFill>
                      <a:srgbClr val="0B0B0B"/>
                    </a:solidFill>
                  </a:tcPr>
                </a:tc>
                <a:tc>
                  <a:txBody>
                    <a:bodyPr/>
                    <a:lstStyle/>
                    <a:p>
                      <a:r>
                        <a:rPr sz="1300" b="1">
                          <a:solidFill>
                            <a:srgbClr val="FCFCFB"/>
                          </a:solidFill>
                          <a:latin typeface="Calibri"/>
                        </a:rPr>
                        <a:t>PR-AUC</a:t>
                      </a:r>
                    </a:p>
                  </a:txBody>
                  <a:tcPr>
                    <a:solidFill>
                      <a:srgbClr val="0B0B0B"/>
                    </a:solidFill>
                  </a:tcPr>
                </a:tc>
                <a:tc>
                  <a:txBody>
                    <a:bodyPr/>
                    <a:lstStyle/>
                    <a:p>
                      <a:r>
                        <a:rPr sz="1300" b="1">
                          <a:solidFill>
                            <a:srgbClr val="FCFCFB"/>
                          </a:solidFill>
                          <a:latin typeface="Calibri"/>
                        </a:rPr>
                        <a:t>lift</a:t>
                      </a:r>
                    </a:p>
                  </a:txBody>
                  <a:tcPr>
                    <a:solidFill>
                      <a:srgbClr val="0B0B0B"/>
                    </a:solidFill>
                  </a:tcPr>
                </a:tc>
                <a:tc>
                  <a:txBody>
                    <a:bodyPr/>
                    <a:lstStyle/>
                    <a:p>
                      <a:r>
                        <a:rPr sz="1300" b="1">
                          <a:solidFill>
                            <a:srgbClr val="FCFCFB"/>
                          </a:solidFill>
                          <a:latin typeface="Calibri"/>
                        </a:rPr>
                        <a:t>vs XGBoost v3</a:t>
                      </a:r>
                    </a:p>
                  </a:txBody>
                  <a:tcPr>
                    <a:solidFill>
                      <a:srgbClr val="0B0B0B"/>
                    </a:solidFill>
                  </a:tcPr>
                </a:tc>
              </a:tr>
              <a:tr h="396000">
                <a:tc>
                  <a:txBody>
                    <a:bodyPr/>
                    <a:lstStyle/>
                    <a:p>
                      <a:r>
                        <a:rPr sz="1300" b="1">
                          <a:solidFill>
                            <a:srgbClr val="0B0B0B"/>
                          </a:solidFill>
                          <a:latin typeface="Calibri"/>
                        </a:rPr>
                        <a:t>XGBoost v3</a:t>
                      </a:r>
                    </a:p>
                  </a:txBody>
                  <a:tcPr>
                    <a:solidFill>
                      <a:srgbClr val="F2F1EC"/>
                    </a:solidFill>
                  </a:tcPr>
                </a:tc>
                <a:tc>
                  <a:txBody>
                    <a:bodyPr/>
                    <a:lstStyle/>
                    <a:p>
                      <a:r>
                        <a:rPr sz="1300" b="1">
                          <a:solidFill>
                            <a:srgbClr val="0B0B0B"/>
                          </a:solidFill>
                          <a:latin typeface="Calibri"/>
                        </a:rPr>
                        <a:t>0.0177</a:t>
                      </a:r>
                    </a:p>
                  </a:txBody>
                  <a:tcPr>
                    <a:solidFill>
                      <a:srgbClr val="F2F1EC"/>
                    </a:solidFill>
                  </a:tcPr>
                </a:tc>
                <a:tc>
                  <a:txBody>
                    <a:bodyPr/>
                    <a:lstStyle/>
                    <a:p>
                      <a:r>
                        <a:rPr sz="1300" b="1">
                          <a:solidFill>
                            <a:srgbClr val="0B0B0B"/>
                          </a:solidFill>
                          <a:latin typeface="Calibri"/>
                        </a:rPr>
                        <a:t>×73.4</a:t>
                      </a:r>
                    </a:p>
                  </a:txBody>
                  <a:tcPr>
                    <a:solidFill>
                      <a:srgbClr val="F2F1EC"/>
                    </a:solidFill>
                  </a:tcPr>
                </a:tc>
                <a:tc>
                  <a:txBody>
                    <a:bodyPr/>
                    <a:lstStyle/>
                    <a:p>
                      <a:r>
                        <a:rPr sz="1300" b="1">
                          <a:solidFill>
                            <a:srgbClr val="0B0B0B"/>
                          </a:solidFill>
                          <a:latin typeface="Calibri"/>
                        </a:rPr>
                        <a:t>référence</a:t>
                      </a:r>
                    </a:p>
                  </a:txBody>
                  <a:tcPr>
                    <a:solidFill>
                      <a:srgbClr val="F2F1EC"/>
                    </a:solidFill>
                  </a:tcPr>
                </a:tc>
              </a:tr>
              <a:tr h="396000">
                <a:tc>
                  <a:txBody>
                    <a:bodyPr/>
                    <a:lstStyle/>
                    <a:p>
                      <a:r>
                        <a:rPr sz="1300" b="0">
                          <a:solidFill>
                            <a:srgbClr val="6B6963"/>
                          </a:solidFill>
                          <a:latin typeface="Calibri"/>
                        </a:rPr>
                        <a:t>DART</a:t>
                      </a:r>
                    </a:p>
                  </a:txBody>
                  <a:tcPr>
                    <a:solidFill>
                      <a:srgbClr val="FCFCFB"/>
                    </a:solidFill>
                  </a:tcPr>
                </a:tc>
                <a:tc>
                  <a:txBody>
                    <a:bodyPr/>
                    <a:lstStyle/>
                    <a:p>
                      <a:r>
                        <a:rPr sz="1300" b="0">
                          <a:solidFill>
                            <a:srgbClr val="6B6963"/>
                          </a:solidFill>
                          <a:latin typeface="Calibri"/>
                        </a:rPr>
                        <a:t>0.0174</a:t>
                      </a:r>
                    </a:p>
                  </a:txBody>
                  <a:tcPr>
                    <a:solidFill>
                      <a:srgbClr val="FCFCFB"/>
                    </a:solidFill>
                  </a:tcPr>
                </a:tc>
                <a:tc>
                  <a:txBody>
                    <a:bodyPr/>
                    <a:lstStyle/>
                    <a:p>
                      <a:r>
                        <a:rPr sz="1300" b="0">
                          <a:solidFill>
                            <a:srgbClr val="6B6963"/>
                          </a:solidFill>
                          <a:latin typeface="Calibri"/>
                        </a:rPr>
                        <a:t>×72.0</a:t>
                      </a:r>
                    </a:p>
                  </a:txBody>
                  <a:tcPr>
                    <a:solidFill>
                      <a:srgbClr val="FCFCFB"/>
                    </a:solidFill>
                  </a:tcPr>
                </a:tc>
                <a:tc>
                  <a:txBody>
                    <a:bodyPr/>
                    <a:lstStyle/>
                    <a:p>
                      <a:r>
                        <a:rPr sz="1300" b="0">
                          <a:solidFill>
                            <a:srgbClr val="6B6963"/>
                          </a:solidFill>
                          <a:latin typeface="Calibri"/>
                        </a:rPr>
                        <a:t>-1.8 %</a:t>
                      </a:r>
                    </a:p>
                  </a:txBody>
                  <a:tcPr>
                    <a:solidFill>
                      <a:srgbClr val="FCFCFB"/>
                    </a:solidFill>
                  </a:tcPr>
                </a:tc>
              </a:tr>
              <a:tr h="396000">
                <a:tc>
                  <a:txBody>
                    <a:bodyPr/>
                    <a:lstStyle/>
                    <a:p>
                      <a:r>
                        <a:rPr sz="1300" b="0">
                          <a:solidFill>
                            <a:srgbClr val="6B6963"/>
                          </a:solidFill>
                          <a:latin typeface="Calibri"/>
                        </a:rPr>
                        <a:t>MLP</a:t>
                      </a:r>
                    </a:p>
                  </a:txBody>
                  <a:tcPr>
                    <a:solidFill>
                      <a:srgbClr val="FCFCFB"/>
                    </a:solidFill>
                  </a:tcPr>
                </a:tc>
                <a:tc>
                  <a:txBody>
                    <a:bodyPr/>
                    <a:lstStyle/>
                    <a:p>
                      <a:r>
                        <a:rPr sz="1300" b="0">
                          <a:solidFill>
                            <a:srgbClr val="6B6963"/>
                          </a:solidFill>
                          <a:latin typeface="Calibri"/>
                        </a:rPr>
                        <a:t>0.0173</a:t>
                      </a:r>
                    </a:p>
                  </a:txBody>
                  <a:tcPr>
                    <a:solidFill>
                      <a:srgbClr val="FCFCFB"/>
                    </a:solidFill>
                  </a:tcPr>
                </a:tc>
                <a:tc>
                  <a:txBody>
                    <a:bodyPr/>
                    <a:lstStyle/>
                    <a:p>
                      <a:r>
                        <a:rPr sz="1300" b="0">
                          <a:solidFill>
                            <a:srgbClr val="6B6963"/>
                          </a:solidFill>
                          <a:latin typeface="Calibri"/>
                        </a:rPr>
                        <a:t>×71.9</a:t>
                      </a:r>
                    </a:p>
                  </a:txBody>
                  <a:tcPr>
                    <a:solidFill>
                      <a:srgbClr val="FCFCFB"/>
                    </a:solidFill>
                  </a:tcPr>
                </a:tc>
                <a:tc>
                  <a:txBody>
                    <a:bodyPr/>
                    <a:lstStyle/>
                    <a:p>
                      <a:r>
                        <a:rPr sz="1300" b="0">
                          <a:solidFill>
                            <a:srgbClr val="6B6963"/>
                          </a:solidFill>
                          <a:latin typeface="Calibri"/>
                        </a:rPr>
                        <a:t>-1.9 %</a:t>
                      </a:r>
                    </a:p>
                  </a:txBody>
                  <a:tcPr>
                    <a:solidFill>
                      <a:srgbClr val="FCFCFB"/>
                    </a:solidFill>
                  </a:tcPr>
                </a:tc>
              </a:tr>
              <a:tr h="396000">
                <a:tc>
                  <a:txBody>
                    <a:bodyPr/>
                    <a:lstStyle/>
                    <a:p>
                      <a:r>
                        <a:rPr sz="1300" b="0">
                          <a:solidFill>
                            <a:srgbClr val="6B6963"/>
                          </a:solidFill>
                          <a:latin typeface="Calibri"/>
                        </a:rPr>
                        <a:t>XGBoost C</a:t>
                      </a:r>
                    </a:p>
                  </a:txBody>
                  <a:tcPr>
                    <a:solidFill>
                      <a:srgbClr val="FCFCFB"/>
                    </a:solidFill>
                  </a:tcPr>
                </a:tc>
                <a:tc>
                  <a:txBody>
                    <a:bodyPr/>
                    <a:lstStyle/>
                    <a:p>
                      <a:r>
                        <a:rPr sz="1300" b="0">
                          <a:solidFill>
                            <a:srgbClr val="6B6963"/>
                          </a:solidFill>
                          <a:latin typeface="Calibri"/>
                        </a:rPr>
                        <a:t>0.0112</a:t>
                      </a:r>
                    </a:p>
                  </a:txBody>
                  <a:tcPr>
                    <a:solidFill>
                      <a:srgbClr val="FCFCFB"/>
                    </a:solidFill>
                  </a:tcPr>
                </a:tc>
                <a:tc>
                  <a:txBody>
                    <a:bodyPr/>
                    <a:lstStyle/>
                    <a:p>
                      <a:r>
                        <a:rPr sz="1300" b="0">
                          <a:solidFill>
                            <a:srgbClr val="6B6963"/>
                          </a:solidFill>
                          <a:latin typeface="Calibri"/>
                        </a:rPr>
                        <a:t>×46.4</a:t>
                      </a:r>
                    </a:p>
                  </a:txBody>
                  <a:tcPr>
                    <a:solidFill>
                      <a:srgbClr val="FCFCFB"/>
                    </a:solidFill>
                  </a:tcPr>
                </a:tc>
                <a:tc>
                  <a:txBody>
                    <a:bodyPr/>
                    <a:lstStyle/>
                    <a:p>
                      <a:r>
                        <a:rPr sz="1300" b="0">
                          <a:solidFill>
                            <a:srgbClr val="6B6963"/>
                          </a:solidFill>
                          <a:latin typeface="Calibri"/>
                        </a:rPr>
                        <a:t>-36.8 %</a:t>
                      </a:r>
                    </a:p>
                  </a:txBody>
                  <a:tcPr>
                    <a:solidFill>
                      <a:srgbClr val="FCFCFB"/>
                    </a:solidFill>
                  </a:tcPr>
                </a:tc>
              </a:tr>
              <a:tr h="396000">
                <a:tc>
                  <a:txBody>
                    <a:bodyPr/>
                    <a:lstStyle/>
                    <a:p>
                      <a:r>
                        <a:rPr sz="1300" b="0">
                          <a:solidFill>
                            <a:srgbClr val="6B6963"/>
                          </a:solidFill>
                          <a:latin typeface="Calibri"/>
                        </a:rPr>
                        <a:t>LSTM</a:t>
                      </a:r>
                    </a:p>
                  </a:txBody>
                  <a:tcPr>
                    <a:solidFill>
                      <a:srgbClr val="FCFCFB"/>
                    </a:solidFill>
                  </a:tcPr>
                </a:tc>
                <a:tc>
                  <a:txBody>
                    <a:bodyPr/>
                    <a:lstStyle/>
                    <a:p>
                      <a:r>
                        <a:rPr sz="1300" b="0">
                          <a:solidFill>
                            <a:srgbClr val="6B6963"/>
                          </a:solidFill>
                          <a:latin typeface="Calibri"/>
                        </a:rPr>
                        <a:t>0.0085</a:t>
                      </a:r>
                    </a:p>
                  </a:txBody>
                  <a:tcPr>
                    <a:solidFill>
                      <a:srgbClr val="FCFCFB"/>
                    </a:solidFill>
                  </a:tcPr>
                </a:tc>
                <a:tc>
                  <a:txBody>
                    <a:bodyPr/>
                    <a:lstStyle/>
                    <a:p>
                      <a:r>
                        <a:rPr sz="1300" b="0">
                          <a:solidFill>
                            <a:srgbClr val="6B6963"/>
                          </a:solidFill>
                          <a:latin typeface="Calibri"/>
                        </a:rPr>
                        <a:t>×35.4</a:t>
                      </a:r>
                    </a:p>
                  </a:txBody>
                  <a:tcPr>
                    <a:solidFill>
                      <a:srgbClr val="FCFCFB"/>
                    </a:solidFill>
                  </a:tcPr>
                </a:tc>
                <a:tc>
                  <a:txBody>
                    <a:bodyPr/>
                    <a:lstStyle/>
                    <a:p>
                      <a:r>
                        <a:rPr sz="1300" b="0">
                          <a:solidFill>
                            <a:srgbClr val="6B6963"/>
                          </a:solidFill>
                          <a:latin typeface="Calibri"/>
                        </a:rPr>
                        <a:t>-51.7 %</a:t>
                      </a:r>
                    </a:p>
                  </a:txBody>
                  <a:tcPr>
                    <a:solidFill>
                      <a:srgbClr val="FCFCFB"/>
                    </a:solidFill>
                  </a:tcPr>
                </a:tc>
              </a:tr>
            </a:tbl>
          </a:graphicData>
        </a:graphic>
      </p:graphicFrame>
      <p:sp>
        <p:nvSpPr>
          <p:cNvPr id="6" name="TextBox 5"/>
          <p:cNvSpPr txBox="1"/>
          <p:nvPr/>
        </p:nvSpPr>
        <p:spPr>
          <a:xfrm>
            <a:off x="684000" y="4572000"/>
            <a:ext cx="10800000" cy="503999"/>
          </a:xfrm>
          <a:prstGeom prst="rect">
            <a:avLst/>
          </a:prstGeom>
          <a:noFill/>
        </p:spPr>
        <p:txBody>
          <a:bodyPr wrap="square">
            <a:spAutoFit/>
          </a:bodyPr>
          <a:lstStyle/>
          <a:p>
            <a:pPr>
              <a:lnSpc>
                <a:spcPct val="125000"/>
              </a:lnSpc>
            </a:pPr>
            <a:r>
              <a:rPr sz="1400" b="0">
                <a:solidFill>
                  <a:srgbClr val="6B6963"/>
                </a:solidFill>
                <a:latin typeface="Calibri"/>
              </a:rPr>
              <a:t>L'ensemble v3 + MLP monte à 0.0180 (×74.9) — au prix de deux modèles à faire tourner en production.</a:t>
            </a:r>
          </a:p>
        </p:txBody>
      </p:sp>
      <p:sp>
        <p:nvSpPr>
          <p:cNvPr id="7" name="Rectangle 6"/>
          <p:cNvSpPr/>
          <p:nvPr/>
        </p:nvSpPr>
        <p:spPr>
          <a:xfrm>
            <a:off x="684000" y="5112000"/>
            <a:ext cx="39600" cy="7920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2000" y="5148000"/>
            <a:ext cx="10548000" cy="792000"/>
          </a:xfrm>
          <a:prstGeom prst="rect">
            <a:avLst/>
          </a:prstGeom>
          <a:noFill/>
        </p:spPr>
        <p:txBody>
          <a:bodyPr wrap="square">
            <a:spAutoFit/>
          </a:bodyPr>
          <a:lstStyle/>
          <a:p>
            <a:pPr>
              <a:lnSpc>
                <a:spcPct val="130000"/>
              </a:lnSpc>
            </a:pPr>
            <a:r>
              <a:rPr sz="1600" b="0">
                <a:solidFill>
                  <a:srgbClr val="0B0B0B"/>
                </a:solidFill>
                <a:latin typeface="Calibri"/>
              </a:rPr>
              <a:t>AUCUN de ces écarts n'a été retenu sans intervalle de confiance. Diapositive suivante.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Ces écarts survivent-ils au bruit ?</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Bootstrap apparié, 200 répliques, rééchantillonnage des 34 734 COMMUNES — pas des lignes.</a:t>
            </a:r>
          </a:p>
        </p:txBody>
      </p:sp>
      <p:pic>
        <p:nvPicPr>
          <p:cNvPr id="5" name="Picture 4" descr="modeles.png"/>
          <p:cNvPicPr>
            <a:picLocks noChangeAspect="1"/>
          </p:cNvPicPr>
          <p:nvPr/>
        </p:nvPicPr>
        <p:blipFill>
          <a:blip r:embed="rId2"/>
          <a:stretch>
            <a:fillRect/>
          </a:stretch>
        </p:blipFill>
        <p:spPr>
          <a:xfrm>
            <a:off x="1646958" y="1944000"/>
            <a:ext cx="8874082" cy="2951999"/>
          </a:xfrm>
          <a:prstGeom prst="rect">
            <a:avLst/>
          </a:prstGeom>
        </p:spPr>
      </p:pic>
      <p:sp>
        <p:nvSpPr>
          <p:cNvPr id="6" name="Rectangle 5"/>
          <p:cNvSpPr/>
          <p:nvPr/>
        </p:nvSpPr>
        <p:spPr>
          <a:xfrm>
            <a:off x="684000" y="5112000"/>
            <a:ext cx="39600" cy="13680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5148000"/>
            <a:ext cx="10548000" cy="1368000"/>
          </a:xfrm>
          <a:prstGeom prst="rect">
            <a:avLst/>
          </a:prstGeom>
          <a:noFill/>
        </p:spPr>
        <p:txBody>
          <a:bodyPr wrap="square">
            <a:spAutoFit/>
          </a:bodyPr>
          <a:lstStyle/>
          <a:p>
            <a:pPr>
              <a:lnSpc>
                <a:spcPct val="130000"/>
              </a:lnSpc>
            </a:pPr>
            <a:r>
              <a:rPr sz="1500" b="0">
                <a:solidFill>
                  <a:srgbClr val="0B0B0B"/>
                </a:solidFill>
                <a:latin typeface="Calibri"/>
              </a:rPr>
              <a:t>LE RÉSULTAT LE PLUS UTILE DU PROJET EST UN RÉSULTAT NÉGATIF.</a:t>
            </a:r>
          </a:p>
          <a:p>
            <a:pPr>
              <a:lnSpc>
                <a:spcPct val="130000"/>
              </a:lnSpc>
            </a:pPr>
            <a:r>
              <a:rPr sz="1500" b="0">
                <a:solidFill>
                  <a:srgbClr val="0B0B0B"/>
                </a:solidFill>
                <a:latin typeface="Calibri"/>
              </a:rPr>
              <a:t>DART et le MLP paraissaient 1.8 % et 1.9 % moins bons. Leurs intervalles TRAVERSENT ZÉRO : les trois modèles sont indiscernables. Annoncer « XGBoost bat le MLP » aurait été une conclusion inventée à partir du bruit.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 Pour le temps, prends un LSTM »</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Le réflexe standard. On l'a construit, optimisé, et mesuré.</a:t>
            </a:r>
          </a:p>
        </p:txBody>
      </p:sp>
      <p:graphicFrame>
        <p:nvGraphicFramePr>
          <p:cNvPr id="5" name="Table 4"/>
          <p:cNvGraphicFramePr>
            <a:graphicFrameLocks noGrp="1"/>
          </p:cNvGraphicFramePr>
          <p:nvPr/>
        </p:nvGraphicFramePr>
        <p:xfrm>
          <a:off x="684000" y="1944000"/>
          <a:ext cx="4680000" cy="2736000"/>
        </p:xfrm>
        <a:graphic>
          <a:graphicData uri="http://schemas.openxmlformats.org/drawingml/2006/table">
            <a:tbl>
              <a:tblPr firstRow="1" bandRow="1">
                <a:tableStyleId>{5C22544A-7EE6-4342-B048-85BDC9FD1C3A}</a:tableStyleId>
              </a:tblPr>
              <a:tblGrid>
                <a:gridCol w="2700000"/>
                <a:gridCol w="1980000"/>
              </a:tblGrid>
              <a:tr h="342000">
                <a:tc>
                  <a:txBody>
                    <a:bodyPr/>
                    <a:lstStyle/>
                    <a:p>
                      <a:r>
                        <a:rPr sz="1200" b="1">
                          <a:solidFill>
                            <a:srgbClr val="FCFCFB"/>
                          </a:solidFill>
                          <a:latin typeface="Calibri"/>
                        </a:rPr>
                        <a:t>Hyperparamètre</a:t>
                      </a:r>
                    </a:p>
                  </a:txBody>
                  <a:tcPr>
                    <a:solidFill>
                      <a:srgbClr val="0B0B0B"/>
                    </a:solidFill>
                  </a:tcPr>
                </a:tc>
                <a:tc>
                  <a:txBody>
                    <a:bodyPr/>
                    <a:lstStyle/>
                    <a:p>
                      <a:r>
                        <a:rPr sz="1200" b="1">
                          <a:solidFill>
                            <a:srgbClr val="FCFCFB"/>
                          </a:solidFill>
                          <a:latin typeface="Calibri"/>
                        </a:rPr>
                        <a:t>Valeur retenue</a:t>
                      </a:r>
                    </a:p>
                  </a:txBody>
                  <a:tcPr>
                    <a:solidFill>
                      <a:srgbClr val="0B0B0B"/>
                    </a:solidFill>
                  </a:tcPr>
                </a:tc>
              </a:tr>
              <a:tr h="342000">
                <a:tc>
                  <a:txBody>
                    <a:bodyPr/>
                    <a:lstStyle/>
                    <a:p>
                      <a:r>
                        <a:rPr sz="1200" b="0">
                          <a:solidFill>
                            <a:srgbClr val="6B6963"/>
                          </a:solidFill>
                          <a:latin typeface="Calibri"/>
                        </a:rPr>
                        <a:t>cache</a:t>
                      </a:r>
                    </a:p>
                  </a:txBody>
                  <a:tcPr>
                    <a:solidFill>
                      <a:srgbClr val="FCFCFB"/>
                    </a:solidFill>
                  </a:tcPr>
                </a:tc>
                <a:tc>
                  <a:txBody>
                    <a:bodyPr/>
                    <a:lstStyle/>
                    <a:p>
                      <a:r>
                        <a:rPr sz="1200" b="0">
                          <a:solidFill>
                            <a:srgbClr val="6B6963"/>
                          </a:solidFill>
                          <a:latin typeface="Calibri"/>
                        </a:rPr>
                        <a:t>32</a:t>
                      </a:r>
                    </a:p>
                  </a:txBody>
                  <a:tcPr>
                    <a:solidFill>
                      <a:srgbClr val="FCFCFB"/>
                    </a:solidFill>
                  </a:tcPr>
                </a:tc>
              </a:tr>
              <a:tr h="342000">
                <a:tc>
                  <a:txBody>
                    <a:bodyPr/>
                    <a:lstStyle/>
                    <a:p>
                      <a:r>
                        <a:rPr sz="1200" b="0">
                          <a:solidFill>
                            <a:srgbClr val="6B6963"/>
                          </a:solidFill>
                          <a:latin typeface="Calibri"/>
                        </a:rPr>
                        <a:t>couches</a:t>
                      </a:r>
                    </a:p>
                  </a:txBody>
                  <a:tcPr>
                    <a:solidFill>
                      <a:srgbClr val="FCFCFB"/>
                    </a:solidFill>
                  </a:tcPr>
                </a:tc>
                <a:tc>
                  <a:txBody>
                    <a:bodyPr/>
                    <a:lstStyle/>
                    <a:p>
                      <a:r>
                        <a:rPr sz="1200" b="0">
                          <a:solidFill>
                            <a:srgbClr val="6B6963"/>
                          </a:solidFill>
                          <a:latin typeface="Calibri"/>
                        </a:rPr>
                        <a:t>2</a:t>
                      </a:r>
                    </a:p>
                  </a:txBody>
                  <a:tcPr>
                    <a:solidFill>
                      <a:srgbClr val="FCFCFB"/>
                    </a:solidFill>
                  </a:tcPr>
                </a:tc>
              </a:tr>
              <a:tr h="342000">
                <a:tc>
                  <a:txBody>
                    <a:bodyPr/>
                    <a:lstStyle/>
                    <a:p>
                      <a:r>
                        <a:rPr sz="1200" b="0">
                          <a:solidFill>
                            <a:srgbClr val="6B6963"/>
                          </a:solidFill>
                          <a:latin typeface="Calibri"/>
                        </a:rPr>
                        <a:t>dropout</a:t>
                      </a:r>
                    </a:p>
                  </a:txBody>
                  <a:tcPr>
                    <a:solidFill>
                      <a:srgbClr val="FCFCFB"/>
                    </a:solidFill>
                  </a:tcPr>
                </a:tc>
                <a:tc>
                  <a:txBody>
                    <a:bodyPr/>
                    <a:lstStyle/>
                    <a:p>
                      <a:r>
                        <a:rPr sz="1200" b="0">
                          <a:solidFill>
                            <a:srgbClr val="6B6963"/>
                          </a:solidFill>
                          <a:latin typeface="Calibri"/>
                        </a:rPr>
                        <a:t>0.17875</a:t>
                      </a:r>
                    </a:p>
                  </a:txBody>
                  <a:tcPr>
                    <a:solidFill>
                      <a:srgbClr val="FCFCFB"/>
                    </a:solidFill>
                  </a:tcPr>
                </a:tc>
              </a:tr>
              <a:tr h="342000">
                <a:tc>
                  <a:txBody>
                    <a:bodyPr/>
                    <a:lstStyle/>
                    <a:p>
                      <a:r>
                        <a:rPr sz="1200" b="0">
                          <a:solidFill>
                            <a:srgbClr val="6B6963"/>
                          </a:solidFill>
                          <a:latin typeface="Calibri"/>
                        </a:rPr>
                        <a:t>tete</a:t>
                      </a:r>
                    </a:p>
                  </a:txBody>
                  <a:tcPr>
                    <a:solidFill>
                      <a:srgbClr val="FCFCFB"/>
                    </a:solidFill>
                  </a:tcPr>
                </a:tc>
                <a:tc>
                  <a:txBody>
                    <a:bodyPr/>
                    <a:lstStyle/>
                    <a:p>
                      <a:r>
                        <a:rPr sz="1200" b="0">
                          <a:solidFill>
                            <a:srgbClr val="6B6963"/>
                          </a:solidFill>
                          <a:latin typeface="Calibri"/>
                        </a:rPr>
                        <a:t>256</a:t>
                      </a:r>
                    </a:p>
                  </a:txBody>
                  <a:tcPr>
                    <a:solidFill>
                      <a:srgbClr val="FCFCFB"/>
                    </a:solidFill>
                  </a:tcPr>
                </a:tc>
              </a:tr>
              <a:tr h="342000">
                <a:tc>
                  <a:txBody>
                    <a:bodyPr/>
                    <a:lstStyle/>
                    <a:p>
                      <a:r>
                        <a:rPr sz="1200" b="0">
                          <a:solidFill>
                            <a:srgbClr val="6B6963"/>
                          </a:solidFill>
                          <a:latin typeface="Calibri"/>
                        </a:rPr>
                        <a:t>lr</a:t>
                      </a:r>
                    </a:p>
                  </a:txBody>
                  <a:tcPr>
                    <a:solidFill>
                      <a:srgbClr val="FCFCFB"/>
                    </a:solidFill>
                  </a:tcPr>
                </a:tc>
                <a:tc>
                  <a:txBody>
                    <a:bodyPr/>
                    <a:lstStyle/>
                    <a:p>
                      <a:r>
                        <a:rPr sz="1200" b="0">
                          <a:solidFill>
                            <a:srgbClr val="6B6963"/>
                          </a:solidFill>
                          <a:latin typeface="Calibri"/>
                        </a:rPr>
                        <a:t>0.00078249</a:t>
                      </a:r>
                    </a:p>
                  </a:txBody>
                  <a:tcPr>
                    <a:solidFill>
                      <a:srgbClr val="FCFCFB"/>
                    </a:solidFill>
                  </a:tcPr>
                </a:tc>
              </a:tr>
              <a:tr h="342000">
                <a:tc>
                  <a:txBody>
                    <a:bodyPr/>
                    <a:lstStyle/>
                    <a:p>
                      <a:r>
                        <a:rPr sz="1200" b="0">
                          <a:solidFill>
                            <a:srgbClr val="6B6963"/>
                          </a:solidFill>
                          <a:latin typeface="Calibri"/>
                        </a:rPr>
                        <a:t>poids_l2</a:t>
                      </a:r>
                    </a:p>
                  </a:txBody>
                  <a:tcPr>
                    <a:solidFill>
                      <a:srgbClr val="FCFCFB"/>
                    </a:solidFill>
                  </a:tcPr>
                </a:tc>
                <a:tc>
                  <a:txBody>
                    <a:bodyPr/>
                    <a:lstStyle/>
                    <a:p>
                      <a:r>
                        <a:rPr sz="1200" b="0">
                          <a:solidFill>
                            <a:srgbClr val="6B6963"/>
                          </a:solidFill>
                          <a:latin typeface="Calibri"/>
                        </a:rPr>
                        <a:t>1.1515e-07</a:t>
                      </a:r>
                    </a:p>
                  </a:txBody>
                  <a:tcPr>
                    <a:solidFill>
                      <a:srgbClr val="FCFCFB"/>
                    </a:solidFill>
                  </a:tcPr>
                </a:tc>
              </a:tr>
              <a:tr h="342000">
                <a:tc>
                  <a:txBody>
                    <a:bodyPr/>
                    <a:lstStyle/>
                    <a:p>
                      <a:r>
                        <a:rPr sz="1200" b="0">
                          <a:solidFill>
                            <a:srgbClr val="6B6963"/>
                          </a:solidFill>
                          <a:latin typeface="Calibri"/>
                        </a:rPr>
                        <a:t>taille_lot</a:t>
                      </a:r>
                    </a:p>
                  </a:txBody>
                  <a:tcPr>
                    <a:solidFill>
                      <a:srgbClr val="FCFCFB"/>
                    </a:solidFill>
                  </a:tcPr>
                </a:tc>
                <a:tc>
                  <a:txBody>
                    <a:bodyPr/>
                    <a:lstStyle/>
                    <a:p>
                      <a:r>
                        <a:rPr sz="1200" b="0">
                          <a:solidFill>
                            <a:srgbClr val="6B6963"/>
                          </a:solidFill>
                          <a:latin typeface="Calibri"/>
                        </a:rPr>
                        <a:t>2048</a:t>
                      </a:r>
                    </a:p>
                  </a:txBody>
                  <a:tcPr>
                    <a:solidFill>
                      <a:srgbClr val="FCFCFB"/>
                    </a:solidFill>
                  </a:tcPr>
                </a:tc>
              </a:tr>
            </a:tbl>
          </a:graphicData>
        </a:graphic>
      </p:graphicFrame>
      <p:sp>
        <p:nvSpPr>
          <p:cNvPr id="6" name="TextBox 5"/>
          <p:cNvSpPr txBox="1"/>
          <p:nvPr/>
        </p:nvSpPr>
        <p:spPr>
          <a:xfrm>
            <a:off x="684000" y="4932000"/>
            <a:ext cx="5400000" cy="864000"/>
          </a:xfrm>
          <a:prstGeom prst="rect">
            <a:avLst/>
          </a:prstGeom>
          <a:noFill/>
        </p:spPr>
        <p:txBody>
          <a:bodyPr wrap="square">
            <a:spAutoFit/>
          </a:bodyPr>
          <a:lstStyle/>
          <a:p>
            <a:pPr>
              <a:lnSpc>
                <a:spcPct val="125000"/>
              </a:lnSpc>
            </a:pPr>
            <a:r>
              <a:rPr sz="1500" b="0">
                <a:solidFill>
                  <a:srgbClr val="6B6963"/>
                </a:solidFill>
                <a:latin typeface="Calibri"/>
              </a:rPr>
              <a:t>25 essais Optuna, arrêt précoce à l'époque 21.</a:t>
            </a:r>
          </a:p>
          <a:p>
            <a:pPr>
              <a:lnSpc>
                <a:spcPct val="125000"/>
              </a:lnSpc>
            </a:pPr>
            <a:r>
              <a:rPr sz="1500" b="0">
                <a:solidFill>
                  <a:srgbClr val="6B6963"/>
                </a:solidFill>
                <a:latin typeface="Calibri"/>
              </a:rPr>
              <a:t>L'objection « il n'a pas été fine-tuné » ne tient pas.</a:t>
            </a:r>
          </a:p>
        </p:txBody>
      </p:sp>
      <p:sp>
        <p:nvSpPr>
          <p:cNvPr id="7" name="TextBox 6"/>
          <p:cNvSpPr txBox="1"/>
          <p:nvPr/>
        </p:nvSpPr>
        <p:spPr>
          <a:xfrm>
            <a:off x="6660000" y="2232000"/>
            <a:ext cx="4860000" cy="1224000"/>
          </a:xfrm>
          <a:prstGeom prst="rect">
            <a:avLst/>
          </a:prstGeom>
          <a:noFill/>
        </p:spPr>
        <p:txBody>
          <a:bodyPr wrap="square">
            <a:spAutoFit/>
          </a:bodyPr>
          <a:lstStyle/>
          <a:p>
            <a:pPr>
              <a:lnSpc>
                <a:spcPct val="100000"/>
              </a:lnSpc>
            </a:pPr>
            <a:r>
              <a:rPr sz="6200" b="1">
                <a:solidFill>
                  <a:srgbClr val="E34948"/>
                </a:solidFill>
                <a:latin typeface="Calibri"/>
              </a:rPr>
              <a:t>-23.6 %</a:t>
            </a:r>
          </a:p>
        </p:txBody>
      </p:sp>
      <p:sp>
        <p:nvSpPr>
          <p:cNvPr id="8" name="TextBox 7"/>
          <p:cNvSpPr txBox="1"/>
          <p:nvPr/>
        </p:nvSpPr>
        <p:spPr>
          <a:xfrm>
            <a:off x="6660000" y="3564000"/>
            <a:ext cx="4860000" cy="864000"/>
          </a:xfrm>
          <a:prstGeom prst="rect">
            <a:avLst/>
          </a:prstGeom>
          <a:noFill/>
        </p:spPr>
        <p:txBody>
          <a:bodyPr wrap="square">
            <a:spAutoFit/>
          </a:bodyPr>
          <a:lstStyle/>
          <a:p>
            <a:pPr>
              <a:lnSpc>
                <a:spcPct val="125000"/>
              </a:lnSpc>
            </a:pPr>
            <a:r>
              <a:rPr sz="1600" b="0">
                <a:solidFill>
                  <a:srgbClr val="6B6963"/>
                </a:solidFill>
                <a:latin typeface="Calibri"/>
              </a:rPr>
              <a:t>contre le modèle C, à information égale</a:t>
            </a:r>
          </a:p>
          <a:p>
            <a:pPr>
              <a:lnSpc>
                <a:spcPct val="125000"/>
              </a:lnSpc>
            </a:pPr>
            <a:r>
              <a:rPr sz="1600" b="0">
                <a:solidFill>
                  <a:srgbClr val="6B6963"/>
                </a:solidFill>
                <a:latin typeface="Calibri"/>
              </a:rPr>
              <a:t>intervalle [-33.5 ; -17.3] — loin de zéro</a:t>
            </a:r>
          </a:p>
        </p:txBody>
      </p:sp>
      <p:sp>
        <p:nvSpPr>
          <p:cNvPr id="9" name="Rectangle 8"/>
          <p:cNvSpPr/>
          <p:nvPr/>
        </p:nvSpPr>
        <p:spPr>
          <a:xfrm>
            <a:off x="6660000" y="4644000"/>
            <a:ext cx="39600" cy="1728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4680000"/>
            <a:ext cx="4608000" cy="1728000"/>
          </a:xfrm>
          <a:prstGeom prst="rect">
            <a:avLst/>
          </a:prstGeom>
          <a:noFill/>
        </p:spPr>
        <p:txBody>
          <a:bodyPr wrap="square">
            <a:spAutoFit/>
          </a:bodyPr>
          <a:lstStyle/>
          <a:p>
            <a:pPr>
              <a:lnSpc>
                <a:spcPct val="130000"/>
              </a:lnSpc>
            </a:pPr>
            <a:r>
              <a:rPr sz="1400" b="0">
                <a:solidFill>
                  <a:srgbClr val="0B0B0B"/>
                </a:solidFill>
                <a:latin typeface="Calibri"/>
              </a:rPr>
              <a:t>LA COMPARAISON LOYALE N'EST PAS CELLE QU'ON CROIT</a:t>
            </a:r>
          </a:p>
          <a:p>
            <a:pPr>
              <a:lnSpc>
                <a:spcPct val="130000"/>
              </a:lnSpc>
            </a:pPr>
            <a:r>
              <a:rPr sz="1400" b="0">
                <a:solidFill>
                  <a:srgbClr val="0B0B0B"/>
                </a:solidFill>
                <a:latin typeface="Calibri"/>
              </a:rPr>
              <a:t>XGBoost v3 voit l'historique des feux — 29 % de ses importances. Le LSTM n'en voit rien. Les opposer mesurerait le prix de l'information retirée, pas la valeur de la séquence. La seule référence à jeu d'information égal est le modèle 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Pourquoi il perd — l'explication est physique</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Un LSTM sert quand l'ordre de la séquence porte une information qu'aucun résumé ne capture. Ici, ce résumé existe déjà.</a:t>
            </a:r>
          </a:p>
        </p:txBody>
      </p:sp>
      <p:sp>
        <p:nvSpPr>
          <p:cNvPr id="5" name="Rectangle 4"/>
          <p:cNvSpPr/>
          <p:nvPr/>
        </p:nvSpPr>
        <p:spPr>
          <a:xfrm>
            <a:off x="684000" y="1944000"/>
            <a:ext cx="39600" cy="2015999"/>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2000" y="1980000"/>
            <a:ext cx="10548000" cy="2015999"/>
          </a:xfrm>
          <a:prstGeom prst="rect">
            <a:avLst/>
          </a:prstGeom>
          <a:noFill/>
        </p:spPr>
        <p:txBody>
          <a:bodyPr wrap="square">
            <a:spAutoFit/>
          </a:bodyPr>
          <a:lstStyle/>
          <a:p>
            <a:pPr>
              <a:lnSpc>
                <a:spcPct val="130000"/>
              </a:lnSpc>
            </a:pPr>
            <a:r>
              <a:rPr sz="1600" b="0">
                <a:solidFill>
                  <a:srgbClr val="0B0B0B"/>
                </a:solidFill>
                <a:latin typeface="Calibri"/>
              </a:rPr>
              <a:t>Les indices DC, DMC et BUI du système canadien SONT des états récursifs.</a:t>
            </a:r>
          </a:p>
          <a:p>
            <a:pPr>
              <a:lnSpc>
                <a:spcPct val="130000"/>
              </a:lnSpc>
            </a:pPr>
            <a:r>
              <a:rPr sz="1600" b="0">
                <a:solidFill>
                  <a:srgbClr val="0B0B0B"/>
                </a:solidFill>
                <a:latin typeface="Calibri"/>
              </a:rPr>
              <a:t>Le Drought Code est une moyenne exponentielle de la météo passée, avec une constante de temps de 52 jours ; le Duff Moisture Code, de 15 jours.</a:t>
            </a:r>
          </a:p>
          <a:p>
            <a:pPr>
              <a:lnSpc>
                <a:spcPct val="130000"/>
              </a:lnSpc>
            </a:pPr>
            <a:r>
              <a:rPr sz="1600" b="0">
                <a:solidFill>
                  <a:srgbClr val="0B0B0B"/>
                </a:solidFill>
                <a:latin typeface="Calibri"/>
              </a:rPr>
              <a:t>C'est exactement la forme d'une cellule récurrente — sauf que ses coefficients ont été calibrés par cinquante ans de science du feu, plutôt qu'estimés sur 9 176 exemples positifs.</a:t>
            </a:r>
          </a:p>
        </p:txBody>
      </p:sp>
      <p:sp>
        <p:nvSpPr>
          <p:cNvPr id="7" name="TextBox 6"/>
          <p:cNvSpPr txBox="1"/>
          <p:nvPr/>
        </p:nvSpPr>
        <p:spPr>
          <a:xfrm>
            <a:off x="684000" y="4068000"/>
            <a:ext cx="10800000" cy="503999"/>
          </a:xfrm>
          <a:prstGeom prst="rect">
            <a:avLst/>
          </a:prstGeom>
          <a:noFill/>
        </p:spPr>
        <p:txBody>
          <a:bodyPr wrap="square">
            <a:spAutoFit/>
          </a:bodyPr>
          <a:lstStyle/>
          <a:p>
            <a:pPr>
              <a:lnSpc>
                <a:spcPct val="125000"/>
              </a:lnSpc>
            </a:pPr>
            <a:r>
              <a:rPr sz="2000" b="1">
                <a:solidFill>
                  <a:srgbClr val="0B0B0B"/>
                </a:solidFill>
                <a:latin typeface="Calibri"/>
              </a:rPr>
              <a:t>Le CEMS livre déjà l'état caché que le LSTM devrait réapprendre.</a:t>
            </a:r>
          </a:p>
        </p:txBody>
      </p:sp>
      <p:sp>
        <p:nvSpPr>
          <p:cNvPr id="8" name="TextBox 7"/>
          <p:cNvSpPr txBox="1"/>
          <p:nvPr/>
        </p:nvSpPr>
        <p:spPr>
          <a:xfrm>
            <a:off x="684000" y="4608000"/>
            <a:ext cx="10800000" cy="413999"/>
          </a:xfrm>
          <a:prstGeom prst="rect">
            <a:avLst/>
          </a:prstGeom>
          <a:noFill/>
        </p:spPr>
        <p:txBody>
          <a:bodyPr wrap="square">
            <a:spAutoFit/>
          </a:bodyPr>
          <a:lstStyle/>
          <a:p>
            <a:pPr>
              <a:lnSpc>
                <a:spcPct val="125000"/>
              </a:lnSpc>
            </a:pPr>
            <a:r>
              <a:rPr sz="1500" b="1">
                <a:solidFill>
                  <a:srgbClr val="0B0B0B"/>
                </a:solidFill>
                <a:latin typeface="Calibri"/>
              </a:rPr>
              <a:t>Trois observations indépendantes convergent</a:t>
            </a:r>
          </a:p>
        </p:txBody>
      </p:sp>
      <p:sp>
        <p:nvSpPr>
          <p:cNvPr id="9" name="TextBox 8"/>
          <p:cNvSpPr txBox="1"/>
          <p:nvPr/>
        </p:nvSpPr>
        <p:spPr>
          <a:xfrm>
            <a:off x="684000" y="5022000"/>
            <a:ext cx="10800000" cy="413999"/>
          </a:xfrm>
          <a:prstGeom prst="rect">
            <a:avLst/>
          </a:prstGeom>
          <a:noFill/>
        </p:spPr>
        <p:txBody>
          <a:bodyPr wrap="square">
            <a:spAutoFit/>
          </a:bodyPr>
          <a:lstStyle/>
          <a:p>
            <a:pPr>
              <a:lnSpc>
                <a:spcPct val="125000"/>
              </a:lnSpc>
            </a:pPr>
            <a:r>
              <a:rPr sz="1500" b="0">
                <a:solidFill>
                  <a:srgbClr val="6B6963"/>
                </a:solidFill>
                <a:latin typeface="Calibri"/>
              </a:rPr>
              <a:t>— la PACF montre une autocorrélation épuisée en deux à trois jours ;</a:t>
            </a:r>
          </a:p>
        </p:txBody>
      </p:sp>
      <p:sp>
        <p:nvSpPr>
          <p:cNvPr id="10" name="TextBox 9"/>
          <p:cNvSpPr txBox="1"/>
          <p:nvPr/>
        </p:nvSpPr>
        <p:spPr>
          <a:xfrm>
            <a:off x="684000" y="5436000"/>
            <a:ext cx="10800000" cy="413999"/>
          </a:xfrm>
          <a:prstGeom prst="rect">
            <a:avLst/>
          </a:prstGeom>
          <a:noFill/>
        </p:spPr>
        <p:txBody>
          <a:bodyPr wrap="square">
            <a:spAutoFit/>
          </a:bodyPr>
          <a:lstStyle/>
          <a:p>
            <a:pPr>
              <a:lnSpc>
                <a:spcPct val="125000"/>
              </a:lnSpc>
            </a:pPr>
            <a:r>
              <a:rPr sz="1500" b="0">
                <a:solidFill>
                  <a:srgbClr val="6B6963"/>
                </a:solidFill>
                <a:latin typeface="Calibri"/>
              </a:rPr>
              <a:t>— l'ARIMA sans exogène est inutilisable — r = -0.118, la corrélation est NÉGATIVE ;</a:t>
            </a:r>
          </a:p>
        </p:txBody>
      </p:sp>
      <p:sp>
        <p:nvSpPr>
          <p:cNvPr id="11" name="TextBox 10"/>
          <p:cNvSpPr txBox="1"/>
          <p:nvPr/>
        </p:nvSpPr>
        <p:spPr>
          <a:xfrm>
            <a:off x="684000" y="5850000"/>
            <a:ext cx="10800000" cy="413999"/>
          </a:xfrm>
          <a:prstGeom prst="rect">
            <a:avLst/>
          </a:prstGeom>
          <a:noFill/>
        </p:spPr>
        <p:txBody>
          <a:bodyPr wrap="square">
            <a:spAutoFit/>
          </a:bodyPr>
          <a:lstStyle/>
          <a:p>
            <a:pPr>
              <a:lnSpc>
                <a:spcPct val="125000"/>
              </a:lnSpc>
            </a:pPr>
            <a:r>
              <a:rPr sz="1500" b="0">
                <a:solidFill>
                  <a:srgbClr val="6B6963"/>
                </a:solidFill>
                <a:latin typeface="Calibri"/>
              </a:rPr>
              <a:t>— les trois premières features du modèle C sont part_maquis, danger_effis et erc : le signal dit OÙ il y a du combustible.</a:t>
            </a:r>
          </a:p>
        </p:txBody>
      </p:sp>
      <p:sp>
        <p:nvSpPr>
          <p:cNvPr id="12" name="Rectangle 11"/>
          <p:cNvSpPr/>
          <p:nvPr/>
        </p:nvSpPr>
        <p:spPr>
          <a:xfrm>
            <a:off x="684000" y="6083999"/>
            <a:ext cx="39600" cy="7560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000" y="6120000"/>
            <a:ext cx="10548000" cy="756000"/>
          </a:xfrm>
          <a:prstGeom prst="rect">
            <a:avLst/>
          </a:prstGeom>
          <a:noFill/>
        </p:spPr>
        <p:txBody>
          <a:bodyPr wrap="square">
            <a:spAutoFit/>
          </a:bodyPr>
          <a:lstStyle/>
          <a:p>
            <a:pPr>
              <a:lnSpc>
                <a:spcPct val="130000"/>
              </a:lnSpc>
            </a:pPr>
            <a:r>
              <a:rPr sz="1500" b="0">
                <a:solidFill>
                  <a:srgbClr val="0B0B0B"/>
                </a:solidFill>
                <a:latin typeface="Calibri"/>
              </a:rPr>
              <a:t>Ce n'est pas une prévision de série temporelle. C'est une CLASSIFICATION SPATIO-TEMPORELLE D'ÉVÉNEMENT RARE, sur 34 734 séries parallèles pilotées par un exogène déjà résumé par la physique du domaine.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Le meilleur modèle n'est pas celui qu'on déploie</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C'est la décision la plus contre-intuitive du projet.</a:t>
            </a:r>
          </a:p>
        </p:txBody>
      </p:sp>
      <p:graphicFrame>
        <p:nvGraphicFramePr>
          <p:cNvPr id="5" name="Table 4"/>
          <p:cNvGraphicFramePr>
            <a:graphicFrameLocks noGrp="1"/>
          </p:cNvGraphicFramePr>
          <p:nvPr/>
        </p:nvGraphicFramePr>
        <p:xfrm>
          <a:off x="684000" y="1944000"/>
          <a:ext cx="6840000" cy="1152000"/>
        </p:xfrm>
        <a:graphic>
          <a:graphicData uri="http://schemas.openxmlformats.org/drawingml/2006/table">
            <a:tbl>
              <a:tblPr firstRow="1" bandRow="1">
                <a:tableStyleId>{5C22544A-7EE6-4342-B048-85BDC9FD1C3A}</a:tableStyleId>
              </a:tblPr>
              <a:tblGrid>
                <a:gridCol w="3960000"/>
                <a:gridCol w="1440000"/>
                <a:gridCol w="1440000"/>
              </a:tblGrid>
              <a:tr h="384000">
                <a:tc>
                  <a:txBody>
                    <a:bodyPr/>
                    <a:lstStyle/>
                    <a:p>
                      <a:r>
                        <a:rPr sz="1300" b="1">
                          <a:solidFill>
                            <a:srgbClr val="FCFCFB"/>
                          </a:solidFill>
                          <a:latin typeface="Calibri"/>
                        </a:rPr>
                        <a:t>Sur le test 2023-2025</a:t>
                      </a:r>
                    </a:p>
                  </a:txBody>
                  <a:tcPr>
                    <a:solidFill>
                      <a:srgbClr val="0B0B0B"/>
                    </a:solidFill>
                  </a:tcPr>
                </a:tc>
                <a:tc>
                  <a:txBody>
                    <a:bodyPr/>
                    <a:lstStyle/>
                    <a:p>
                      <a:r>
                        <a:rPr sz="1300" b="1">
                          <a:solidFill>
                            <a:srgbClr val="FCFCFB"/>
                          </a:solidFill>
                          <a:latin typeface="Calibri"/>
                        </a:rPr>
                        <a:t>PR-AUC</a:t>
                      </a:r>
                    </a:p>
                  </a:txBody>
                  <a:tcPr>
                    <a:solidFill>
                      <a:srgbClr val="0B0B0B"/>
                    </a:solidFill>
                  </a:tcPr>
                </a:tc>
                <a:tc>
                  <a:txBody>
                    <a:bodyPr/>
                    <a:lstStyle/>
                    <a:p>
                      <a:r>
                        <a:rPr sz="1300" b="1">
                          <a:solidFill>
                            <a:srgbClr val="FCFCFB"/>
                          </a:solidFill>
                          <a:latin typeface="Calibri"/>
                        </a:rPr>
                        <a:t>lift</a:t>
                      </a:r>
                    </a:p>
                  </a:txBody>
                  <a:tcPr>
                    <a:solidFill>
                      <a:srgbClr val="0B0B0B"/>
                    </a:solidFill>
                  </a:tcPr>
                </a:tc>
              </a:tr>
              <a:tr h="384000">
                <a:tc>
                  <a:txBody>
                    <a:bodyPr/>
                    <a:lstStyle/>
                    <a:p>
                      <a:r>
                        <a:rPr sz="1300" b="0">
                          <a:solidFill>
                            <a:srgbClr val="6B6963"/>
                          </a:solidFill>
                          <a:latin typeface="Calibri"/>
                        </a:rPr>
                        <a:t>XGBoost v3 · 52 features</a:t>
                      </a:r>
                    </a:p>
                  </a:txBody>
                  <a:tcPr>
                    <a:solidFill>
                      <a:srgbClr val="FCFCFB"/>
                    </a:solidFill>
                  </a:tcPr>
                </a:tc>
                <a:tc>
                  <a:txBody>
                    <a:bodyPr/>
                    <a:lstStyle/>
                    <a:p>
                      <a:r>
                        <a:rPr sz="1300" b="0">
                          <a:solidFill>
                            <a:srgbClr val="6B6963"/>
                          </a:solidFill>
                          <a:latin typeface="Calibri"/>
                        </a:rPr>
                        <a:t>0.0156</a:t>
                      </a:r>
                    </a:p>
                  </a:txBody>
                  <a:tcPr>
                    <a:solidFill>
                      <a:srgbClr val="FCFCFB"/>
                    </a:solidFill>
                  </a:tcPr>
                </a:tc>
                <a:tc>
                  <a:txBody>
                    <a:bodyPr/>
                    <a:lstStyle/>
                    <a:p>
                      <a:r>
                        <a:rPr sz="1300" b="0">
                          <a:solidFill>
                            <a:srgbClr val="6B6963"/>
                          </a:solidFill>
                          <a:latin typeface="Calibri"/>
                        </a:rPr>
                        <a:t>×93.8</a:t>
                      </a:r>
                    </a:p>
                  </a:txBody>
                  <a:tcPr>
                    <a:solidFill>
                      <a:srgbClr val="FCFCFB"/>
                    </a:solidFill>
                  </a:tcPr>
                </a:tc>
              </a:tr>
              <a:tr h="384000">
                <a:tc>
                  <a:txBody>
                    <a:bodyPr/>
                    <a:lstStyle/>
                    <a:p>
                      <a:r>
                        <a:rPr sz="1300" b="1">
                          <a:solidFill>
                            <a:srgbClr val="0B0B0B"/>
                          </a:solidFill>
                          <a:latin typeface="Calibri"/>
                        </a:rPr>
                        <a:t>XGBoost C · physique pure, 41 features</a:t>
                      </a:r>
                    </a:p>
                  </a:txBody>
                  <a:tcPr>
                    <a:solidFill>
                      <a:srgbClr val="F2F1EC"/>
                    </a:solidFill>
                  </a:tcPr>
                </a:tc>
                <a:tc>
                  <a:txBody>
                    <a:bodyPr/>
                    <a:lstStyle/>
                    <a:p>
                      <a:r>
                        <a:rPr sz="1300" b="1">
                          <a:solidFill>
                            <a:srgbClr val="0B0B0B"/>
                          </a:solidFill>
                          <a:latin typeface="Calibri"/>
                        </a:rPr>
                        <a:t>0.0106</a:t>
                      </a:r>
                    </a:p>
                  </a:txBody>
                  <a:tcPr>
                    <a:solidFill>
                      <a:srgbClr val="F2F1EC"/>
                    </a:solidFill>
                  </a:tcPr>
                </a:tc>
                <a:tc>
                  <a:txBody>
                    <a:bodyPr/>
                    <a:lstStyle/>
                    <a:p>
                      <a:r>
                        <a:rPr sz="1300" b="1">
                          <a:solidFill>
                            <a:srgbClr val="0B0B0B"/>
                          </a:solidFill>
                          <a:latin typeface="Calibri"/>
                        </a:rPr>
                        <a:t>×63.7</a:t>
                      </a:r>
                    </a:p>
                  </a:txBody>
                  <a:tcPr>
                    <a:solidFill>
                      <a:srgbClr val="F2F1EC"/>
                    </a:solidFill>
                  </a:tcPr>
                </a:tc>
              </a:tr>
            </a:tbl>
          </a:graphicData>
        </a:graphic>
      </p:graphicFrame>
      <p:sp>
        <p:nvSpPr>
          <p:cNvPr id="6" name="TextBox 5"/>
          <p:cNvSpPr txBox="1"/>
          <p:nvPr/>
        </p:nvSpPr>
        <p:spPr>
          <a:xfrm>
            <a:off x="684000" y="3384000"/>
            <a:ext cx="10800000" cy="413999"/>
          </a:xfrm>
          <a:prstGeom prst="rect">
            <a:avLst/>
          </a:prstGeom>
          <a:noFill/>
        </p:spPr>
        <p:txBody>
          <a:bodyPr wrap="square">
            <a:spAutoFit/>
          </a:bodyPr>
          <a:lstStyle/>
          <a:p>
            <a:pPr>
              <a:lnSpc>
                <a:spcPct val="125000"/>
              </a:lnSpc>
            </a:pPr>
            <a:r>
              <a:rPr sz="1450" b="1">
                <a:solidFill>
                  <a:srgbClr val="0B0B0B"/>
                </a:solidFill>
                <a:latin typeface="Calibri"/>
              </a:rPr>
              <a:t>1. La donnée n'existe pas en temps réel.</a:t>
            </a:r>
          </a:p>
        </p:txBody>
      </p:sp>
      <p:sp>
        <p:nvSpPr>
          <p:cNvPr id="7" name="TextBox 6"/>
          <p:cNvSpPr txBox="1"/>
          <p:nvPr/>
        </p:nvSpPr>
        <p:spPr>
          <a:xfrm>
            <a:off x="684000" y="3798000"/>
            <a:ext cx="10800000" cy="413999"/>
          </a:xfrm>
          <a:prstGeom prst="rect">
            <a:avLst/>
          </a:prstGeom>
          <a:noFill/>
        </p:spPr>
        <p:txBody>
          <a:bodyPr wrap="square">
            <a:spAutoFit/>
          </a:bodyPr>
          <a:lstStyle/>
          <a:p>
            <a:pPr>
              <a:lnSpc>
                <a:spcPct val="125000"/>
              </a:lnSpc>
            </a:pPr>
            <a:r>
              <a:rPr sz="1450" b="0">
                <a:solidFill>
                  <a:srgbClr val="6B6963"/>
                </a:solidFill>
                <a:latin typeface="Calibri"/>
              </a:rPr>
              <a:t>— v3 tire 29 % de son importance de l'historique des feux. Or la BDIFF ne publie pas l'année en cours : les feux de 2026 sortiront au printemps 2027. Aujourd'hui, feux_commune_7j vaudrait le décompte d'une semaine de décembre 2025. Pas imprécis : FAUX.</a:t>
            </a:r>
          </a:p>
        </p:txBody>
      </p:sp>
      <p:sp>
        <p:nvSpPr>
          <p:cNvPr id="8" name="TextBox 7"/>
          <p:cNvSpPr txBox="1"/>
          <p:nvPr/>
        </p:nvSpPr>
        <p:spPr>
          <a:xfrm>
            <a:off x="684000" y="4212000"/>
            <a:ext cx="10800000" cy="413999"/>
          </a:xfrm>
          <a:prstGeom prst="rect">
            <a:avLst/>
          </a:prstGeom>
          <a:noFill/>
        </p:spPr>
        <p:txBody>
          <a:bodyPr wrap="square">
            <a:spAutoFit/>
          </a:bodyPr>
          <a:lstStyle/>
          <a:p>
            <a:pPr>
              <a:lnSpc>
                <a:spcPct val="125000"/>
              </a:lnSpc>
            </a:pPr>
            <a:r>
              <a:rPr sz="1450" b="1">
                <a:solidFill>
                  <a:srgbClr val="0B0B0B"/>
                </a:solidFill>
                <a:latin typeface="Calibri"/>
              </a:rPr>
              <a:t>2. En territoire inconnu, elle vaut zéro.</a:t>
            </a:r>
          </a:p>
        </p:txBody>
      </p:sp>
      <p:sp>
        <p:nvSpPr>
          <p:cNvPr id="9" name="TextBox 8"/>
          <p:cNvSpPr txBox="1"/>
          <p:nvPr/>
        </p:nvSpPr>
        <p:spPr>
          <a:xfrm>
            <a:off x="684000" y="4626000"/>
            <a:ext cx="10800000" cy="413999"/>
          </a:xfrm>
          <a:prstGeom prst="rect">
            <a:avLst/>
          </a:prstGeom>
          <a:noFill/>
        </p:spPr>
        <p:txBody>
          <a:bodyPr wrap="square">
            <a:spAutoFit/>
          </a:bodyPr>
          <a:lstStyle/>
          <a:p>
            <a:pPr>
              <a:lnSpc>
                <a:spcPct val="125000"/>
              </a:lnSpc>
            </a:pPr>
            <a:r>
              <a:rPr sz="1450" b="0">
                <a:solidFill>
                  <a:srgbClr val="6B6963"/>
                </a:solidFill>
                <a:latin typeface="Calibri"/>
              </a:rPr>
              <a:t>— Et le modèle lit ce zéro comme « ça n'a jamais brûlé, donc ça ne brûlera pas » — précisément là où le risque nouveau apparaît.</a:t>
            </a:r>
          </a:p>
        </p:txBody>
      </p:sp>
      <p:sp>
        <p:nvSpPr>
          <p:cNvPr id="10" name="TextBox 9"/>
          <p:cNvSpPr txBox="1"/>
          <p:nvPr/>
        </p:nvSpPr>
        <p:spPr>
          <a:xfrm>
            <a:off x="684000" y="5040000"/>
            <a:ext cx="10800000" cy="413999"/>
          </a:xfrm>
          <a:prstGeom prst="rect">
            <a:avLst/>
          </a:prstGeom>
          <a:noFill/>
        </p:spPr>
        <p:txBody>
          <a:bodyPr wrap="square">
            <a:spAutoFit/>
          </a:bodyPr>
          <a:lstStyle/>
          <a:p>
            <a:pPr>
              <a:lnSpc>
                <a:spcPct val="125000"/>
              </a:lnSpc>
            </a:pPr>
            <a:r>
              <a:rPr sz="1450" b="1">
                <a:solidFill>
                  <a:srgbClr val="0B0B0B"/>
                </a:solidFill>
                <a:latin typeface="Calibri"/>
              </a:rPr>
              <a:t>3. Pour 2050, elle est impossible par construction.</a:t>
            </a:r>
          </a:p>
        </p:txBody>
      </p:sp>
      <p:sp>
        <p:nvSpPr>
          <p:cNvPr id="11" name="TextBox 10"/>
          <p:cNvSpPr txBox="1"/>
          <p:nvPr/>
        </p:nvSpPr>
        <p:spPr>
          <a:xfrm>
            <a:off x="684000" y="5454000"/>
            <a:ext cx="10800000" cy="413999"/>
          </a:xfrm>
          <a:prstGeom prst="rect">
            <a:avLst/>
          </a:prstGeom>
          <a:noFill/>
        </p:spPr>
        <p:txBody>
          <a:bodyPr wrap="square">
            <a:spAutoFit/>
          </a:bodyPr>
          <a:lstStyle/>
          <a:p>
            <a:pPr>
              <a:lnSpc>
                <a:spcPct val="125000"/>
              </a:lnSpc>
            </a:pPr>
            <a:r>
              <a:rPr sz="1450" b="0">
                <a:solidFill>
                  <a:srgbClr val="6B6963"/>
                </a:solidFill>
                <a:latin typeface="Calibri"/>
              </a:rPr>
              <a:t>— On ne connaîtra jamais les feux de 2049.</a:t>
            </a:r>
          </a:p>
        </p:txBody>
      </p:sp>
      <p:sp>
        <p:nvSpPr>
          <p:cNvPr id="12" name="Rectangle 11"/>
          <p:cNvSpPr/>
          <p:nvPr/>
        </p:nvSpPr>
        <p:spPr>
          <a:xfrm>
            <a:off x="684000" y="5976000"/>
            <a:ext cx="39600" cy="8640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000" y="6012000"/>
            <a:ext cx="10548000" cy="864000"/>
          </a:xfrm>
          <a:prstGeom prst="rect">
            <a:avLst/>
          </a:prstGeom>
          <a:noFill/>
        </p:spPr>
        <p:txBody>
          <a:bodyPr wrap="square">
            <a:spAutoFit/>
          </a:bodyPr>
          <a:lstStyle/>
          <a:p>
            <a:pPr>
              <a:lnSpc>
                <a:spcPct val="130000"/>
              </a:lnSpc>
            </a:pPr>
            <a:r>
              <a:rPr sz="1500" b="0">
                <a:solidFill>
                  <a:srgbClr val="0B0B0B"/>
                </a:solidFill>
                <a:latin typeface="Calibri"/>
              </a:rPr>
              <a:t>LE CHOIX SE FAIT SUR LA DISPONIBILITÉ DE LA DONNÉE, PAS SUR LA PERFORMANCE.</a:t>
            </a:r>
          </a:p>
          <a:p>
            <a:pPr>
              <a:lnSpc>
                <a:spcPct val="130000"/>
              </a:lnSpc>
            </a:pPr>
            <a:r>
              <a:rPr sz="1500" b="0">
                <a:solidFill>
                  <a:srgbClr val="0B0B0B"/>
                </a:solidFill>
                <a:latin typeface="Calibri"/>
              </a:rPr>
              <a:t>Et ce défaut n'apparaît dans AUCUNE métrique d'entraînement : en validation comme en test, l'historique est toujours là. Il ne se voit qu'en pensant au déploiement.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La preuve : retirer une région entière, puis tester dessus</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Simulation d'un territoire jamais vu — ou d'un climat qui déplace le risque.</a:t>
            </a:r>
          </a:p>
        </p:txBody>
      </p:sp>
      <p:pic>
        <p:nvPicPr>
          <p:cNvPr id="5" name="Picture 4" descr="spatial.png"/>
          <p:cNvPicPr>
            <a:picLocks noChangeAspect="1"/>
          </p:cNvPicPr>
          <p:nvPr/>
        </p:nvPicPr>
        <p:blipFill>
          <a:blip r:embed="rId2"/>
          <a:stretch>
            <a:fillRect/>
          </a:stretch>
        </p:blipFill>
        <p:spPr>
          <a:xfrm>
            <a:off x="2065151" y="1944000"/>
            <a:ext cx="8037696" cy="3168000"/>
          </a:xfrm>
          <a:prstGeom prst="rect">
            <a:avLst/>
          </a:prstGeom>
        </p:spPr>
      </p:pic>
      <p:sp>
        <p:nvSpPr>
          <p:cNvPr id="6" name="Rectangle 5"/>
          <p:cNvSpPr/>
          <p:nvPr/>
        </p:nvSpPr>
        <p:spPr>
          <a:xfrm>
            <a:off x="684000" y="5328000"/>
            <a:ext cx="39600" cy="1224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5364000"/>
            <a:ext cx="10548000" cy="1224000"/>
          </a:xfrm>
          <a:prstGeom prst="rect">
            <a:avLst/>
          </a:prstGeom>
          <a:noFill/>
        </p:spPr>
        <p:txBody>
          <a:bodyPr wrap="square">
            <a:spAutoFit/>
          </a:bodyPr>
          <a:lstStyle/>
          <a:p>
            <a:pPr>
              <a:lnSpc>
                <a:spcPct val="130000"/>
              </a:lnSpc>
            </a:pPr>
            <a:r>
              <a:rPr sz="1500" b="0">
                <a:solidFill>
                  <a:srgbClr val="0B0B0B"/>
                </a:solidFill>
                <a:latin typeface="Calibri"/>
              </a:rPr>
              <a:t>Le modèle physique gagne dans les 9 régions, sans exception : +8,2 % en moyenne pondérée, et jusqu'à +137 % dans le Grand Est.</a:t>
            </a:r>
          </a:p>
          <a:p>
            <a:pPr>
              <a:lnSpc>
                <a:spcPct val="130000"/>
              </a:lnSpc>
            </a:pPr>
            <a:r>
              <a:rPr sz="1500" b="0">
                <a:solidFill>
                  <a:srgbClr val="0B0B0B"/>
                </a:solidFill>
                <a:latin typeface="Calibri"/>
              </a:rPr>
              <a:t>Là où l'historique est le plus pauvre, s'y fier est un HANDICAP. C'est l'argument décisif pour 2050 : le climat va déplacer le risque vers des communes qui n'ont pas de passé.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La calibration, et pourquoi l'app affiche un rang</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Le score brut est 145 fois trop grand — c'est le sous-échantillonnage qui remonte.</a:t>
            </a:r>
          </a:p>
        </p:txBody>
      </p:sp>
      <p:graphicFrame>
        <p:nvGraphicFramePr>
          <p:cNvPr id="5" name="Table 4"/>
          <p:cNvGraphicFramePr>
            <a:graphicFrameLocks noGrp="1"/>
          </p:cNvGraphicFramePr>
          <p:nvPr/>
        </p:nvGraphicFramePr>
        <p:xfrm>
          <a:off x="684000" y="1944000"/>
          <a:ext cx="9000000" cy="1584000"/>
        </p:xfrm>
        <a:graphic>
          <a:graphicData uri="http://schemas.openxmlformats.org/drawingml/2006/table">
            <a:tbl>
              <a:tblPr firstRow="1" bandRow="1">
                <a:tableStyleId>{5C22544A-7EE6-4342-B048-85BDC9FD1C3A}</a:tableStyleId>
              </a:tblPr>
              <a:tblGrid>
                <a:gridCol w="1800000"/>
                <a:gridCol w="1800000"/>
                <a:gridCol w="1800000"/>
                <a:gridCol w="1800000"/>
                <a:gridCol w="1800000"/>
              </a:tblGrid>
              <a:tr h="396000">
                <a:tc>
                  <a:txBody>
                    <a:bodyPr/>
                    <a:lstStyle/>
                    <a:p>
                      <a:r>
                        <a:rPr sz="1300" b="1">
                          <a:solidFill>
                            <a:srgbClr val="FCFCFB"/>
                          </a:solidFill>
                          <a:latin typeface="Calibri"/>
                        </a:rPr>
                        <a:t>Méthode</a:t>
                      </a:r>
                    </a:p>
                  </a:txBody>
                  <a:tcPr>
                    <a:solidFill>
                      <a:srgbClr val="0B0B0B"/>
                    </a:solidFill>
                  </a:tcPr>
                </a:tc>
                <a:tc>
                  <a:txBody>
                    <a:bodyPr/>
                    <a:lstStyle/>
                    <a:p>
                      <a:r>
                        <a:rPr sz="1300" b="1">
                          <a:solidFill>
                            <a:srgbClr val="FCFCFB"/>
                          </a:solidFill>
                          <a:latin typeface="Calibri"/>
                        </a:rPr>
                        <a:t>PR-AUC</a:t>
                      </a:r>
                    </a:p>
                  </a:txBody>
                  <a:tcPr>
                    <a:solidFill>
                      <a:srgbClr val="0B0B0B"/>
                    </a:solidFill>
                  </a:tcPr>
                </a:tc>
                <a:tc>
                  <a:txBody>
                    <a:bodyPr/>
                    <a:lstStyle/>
                    <a:p>
                      <a:r>
                        <a:rPr sz="1300" b="1">
                          <a:solidFill>
                            <a:srgbClr val="FCFCFB"/>
                          </a:solidFill>
                          <a:latin typeface="Calibri"/>
                        </a:rPr>
                        <a:t>p moyen</a:t>
                      </a:r>
                    </a:p>
                  </a:txBody>
                  <a:tcPr>
                    <a:solidFill>
                      <a:srgbClr val="0B0B0B"/>
                    </a:solidFill>
                  </a:tcPr>
                </a:tc>
                <a:tc>
                  <a:txBody>
                    <a:bodyPr/>
                    <a:lstStyle/>
                    <a:p>
                      <a:r>
                        <a:rPr sz="1300" b="1">
                          <a:solidFill>
                            <a:srgbClr val="FCFCFB"/>
                          </a:solidFill>
                          <a:latin typeface="Calibri"/>
                        </a:rPr>
                        <a:t>biais</a:t>
                      </a:r>
                    </a:p>
                  </a:txBody>
                  <a:tcPr>
                    <a:solidFill>
                      <a:srgbClr val="0B0B0B"/>
                    </a:solidFill>
                  </a:tcPr>
                </a:tc>
                <a:tc>
                  <a:txBody>
                    <a:bodyPr/>
                    <a:lstStyle/>
                    <a:p>
                      <a:r>
                        <a:rPr sz="1300" b="1">
                          <a:solidFill>
                            <a:srgbClr val="FCFCFB"/>
                          </a:solidFill>
                          <a:latin typeface="Calibri"/>
                        </a:rPr>
                        <a:t>valeurs distinctes</a:t>
                      </a:r>
                    </a:p>
                  </a:txBody>
                  <a:tcPr>
                    <a:solidFill>
                      <a:srgbClr val="0B0B0B"/>
                    </a:solidFill>
                  </a:tcPr>
                </a:tc>
              </a:tr>
              <a:tr h="396000">
                <a:tc>
                  <a:txBody>
                    <a:bodyPr/>
                    <a:lstStyle/>
                    <a:p>
                      <a:r>
                        <a:rPr sz="1300" b="0">
                          <a:solidFill>
                            <a:srgbClr val="6B6963"/>
                          </a:solidFill>
                          <a:latin typeface="Calibri"/>
                        </a:rPr>
                        <a:t>brut</a:t>
                      </a:r>
                    </a:p>
                  </a:txBody>
                  <a:tcPr>
                    <a:solidFill>
                      <a:srgbClr val="FCFCFB"/>
                    </a:solidFill>
                  </a:tcPr>
                </a:tc>
                <a:tc>
                  <a:txBody>
                    <a:bodyPr/>
                    <a:lstStyle/>
                    <a:p>
                      <a:r>
                        <a:rPr sz="1300" b="0">
                          <a:solidFill>
                            <a:srgbClr val="6B6963"/>
                          </a:solidFill>
                          <a:latin typeface="Calibri"/>
                        </a:rPr>
                        <a:t>0.0164</a:t>
                      </a:r>
                    </a:p>
                  </a:txBody>
                  <a:tcPr>
                    <a:solidFill>
                      <a:srgbClr val="FCFCFB"/>
                    </a:solidFill>
                  </a:tcPr>
                </a:tc>
                <a:tc>
                  <a:txBody>
                    <a:bodyPr/>
                    <a:lstStyle/>
                    <a:p>
                      <a:r>
                        <a:rPr sz="1300" b="0">
                          <a:solidFill>
                            <a:srgbClr val="6B6963"/>
                          </a:solidFill>
                          <a:latin typeface="Calibri"/>
                        </a:rPr>
                        <a:t>4.83e-02</a:t>
                      </a:r>
                    </a:p>
                  </a:txBody>
                  <a:tcPr>
                    <a:solidFill>
                      <a:srgbClr val="FCFCFB"/>
                    </a:solidFill>
                  </a:tcPr>
                </a:tc>
                <a:tc>
                  <a:txBody>
                    <a:bodyPr/>
                    <a:lstStyle/>
                    <a:p>
                      <a:r>
                        <a:rPr sz="1300" b="0">
                          <a:solidFill>
                            <a:srgbClr val="6B6963"/>
                          </a:solidFill>
                          <a:latin typeface="Calibri"/>
                        </a:rPr>
                        <a:t>×144.71</a:t>
                      </a:r>
                    </a:p>
                  </a:txBody>
                  <a:tcPr>
                    <a:solidFill>
                      <a:srgbClr val="FCFCFB"/>
                    </a:solidFill>
                  </a:tcPr>
                </a:tc>
                <a:tc>
                  <a:txBody>
                    <a:bodyPr/>
                    <a:lstStyle/>
                    <a:p>
                      <a:r>
                        <a:rPr sz="1300" b="0">
                          <a:solidFill>
                            <a:srgbClr val="6B6963"/>
                          </a:solidFill>
                          <a:latin typeface="Calibri"/>
                        </a:rPr>
                        <a:t>8 977 696</a:t>
                      </a:r>
                    </a:p>
                  </a:txBody>
                  <a:tcPr>
                    <a:solidFill>
                      <a:srgbClr val="FCFCFB"/>
                    </a:solidFill>
                  </a:tcPr>
                </a:tc>
              </a:tr>
              <a:tr h="396000">
                <a:tc>
                  <a:txBody>
                    <a:bodyPr/>
                    <a:lstStyle/>
                    <a:p>
                      <a:r>
                        <a:rPr sz="1300" b="1">
                          <a:solidFill>
                            <a:srgbClr val="0B0B0B"/>
                          </a:solidFill>
                          <a:latin typeface="Calibri"/>
                        </a:rPr>
                        <a:t>platt</a:t>
                      </a:r>
                    </a:p>
                  </a:txBody>
                  <a:tcPr>
                    <a:solidFill>
                      <a:srgbClr val="F2F1EC"/>
                    </a:solidFill>
                  </a:tcPr>
                </a:tc>
                <a:tc>
                  <a:txBody>
                    <a:bodyPr/>
                    <a:lstStyle/>
                    <a:p>
                      <a:r>
                        <a:rPr sz="1300" b="1">
                          <a:solidFill>
                            <a:srgbClr val="0B0B0B"/>
                          </a:solidFill>
                          <a:latin typeface="Calibri"/>
                        </a:rPr>
                        <a:t>0.0164</a:t>
                      </a:r>
                    </a:p>
                  </a:txBody>
                  <a:tcPr>
                    <a:solidFill>
                      <a:srgbClr val="F2F1EC"/>
                    </a:solidFill>
                  </a:tcPr>
                </a:tc>
                <a:tc>
                  <a:txBody>
                    <a:bodyPr/>
                    <a:lstStyle/>
                    <a:p>
                      <a:r>
                        <a:rPr sz="1300" b="1">
                          <a:solidFill>
                            <a:srgbClr val="0B0B0B"/>
                          </a:solidFill>
                          <a:latin typeface="Calibri"/>
                        </a:rPr>
                        <a:t>3.76e-04</a:t>
                      </a:r>
                    </a:p>
                  </a:txBody>
                  <a:tcPr>
                    <a:solidFill>
                      <a:srgbClr val="F2F1EC"/>
                    </a:solidFill>
                  </a:tcPr>
                </a:tc>
                <a:tc>
                  <a:txBody>
                    <a:bodyPr/>
                    <a:lstStyle/>
                    <a:p>
                      <a:r>
                        <a:rPr sz="1300" b="1">
                          <a:solidFill>
                            <a:srgbClr val="0B0B0B"/>
                          </a:solidFill>
                          <a:latin typeface="Calibri"/>
                        </a:rPr>
                        <a:t>×1.13</a:t>
                      </a:r>
                    </a:p>
                  </a:txBody>
                  <a:tcPr>
                    <a:solidFill>
                      <a:srgbClr val="F2F1EC"/>
                    </a:solidFill>
                  </a:tcPr>
                </a:tc>
                <a:tc>
                  <a:txBody>
                    <a:bodyPr/>
                    <a:lstStyle/>
                    <a:p>
                      <a:r>
                        <a:rPr sz="1300" b="1">
                          <a:solidFill>
                            <a:srgbClr val="0B0B0B"/>
                          </a:solidFill>
                          <a:latin typeface="Calibri"/>
                        </a:rPr>
                        <a:t>8 977 696</a:t>
                      </a:r>
                    </a:p>
                  </a:txBody>
                  <a:tcPr>
                    <a:solidFill>
                      <a:srgbClr val="F2F1EC"/>
                    </a:solidFill>
                  </a:tcPr>
                </a:tc>
              </a:tr>
              <a:tr h="396000">
                <a:tc>
                  <a:txBody>
                    <a:bodyPr/>
                    <a:lstStyle/>
                    <a:p>
                      <a:r>
                        <a:rPr sz="1300" b="0">
                          <a:solidFill>
                            <a:srgbClr val="6B6963"/>
                          </a:solidFill>
                          <a:latin typeface="Calibri"/>
                        </a:rPr>
                        <a:t>isotonic</a:t>
                      </a:r>
                    </a:p>
                  </a:txBody>
                  <a:tcPr>
                    <a:solidFill>
                      <a:srgbClr val="FCFCFB"/>
                    </a:solidFill>
                  </a:tcPr>
                </a:tc>
                <a:tc>
                  <a:txBody>
                    <a:bodyPr/>
                    <a:lstStyle/>
                    <a:p>
                      <a:r>
                        <a:rPr sz="1300" b="0">
                          <a:solidFill>
                            <a:srgbClr val="6B6963"/>
                          </a:solidFill>
                          <a:latin typeface="Calibri"/>
                        </a:rPr>
                        <a:t>0.0151</a:t>
                      </a:r>
                    </a:p>
                  </a:txBody>
                  <a:tcPr>
                    <a:solidFill>
                      <a:srgbClr val="FCFCFB"/>
                    </a:solidFill>
                  </a:tcPr>
                </a:tc>
                <a:tc>
                  <a:txBody>
                    <a:bodyPr/>
                    <a:lstStyle/>
                    <a:p>
                      <a:r>
                        <a:rPr sz="1300" b="0">
                          <a:solidFill>
                            <a:srgbClr val="6B6963"/>
                          </a:solidFill>
                          <a:latin typeface="Calibri"/>
                        </a:rPr>
                        <a:t>2.50e-04</a:t>
                      </a:r>
                    </a:p>
                  </a:txBody>
                  <a:tcPr>
                    <a:solidFill>
                      <a:srgbClr val="FCFCFB"/>
                    </a:solidFill>
                  </a:tcPr>
                </a:tc>
                <a:tc>
                  <a:txBody>
                    <a:bodyPr/>
                    <a:lstStyle/>
                    <a:p>
                      <a:r>
                        <a:rPr sz="1300" b="0">
                          <a:solidFill>
                            <a:srgbClr val="6B6963"/>
                          </a:solidFill>
                          <a:latin typeface="Calibri"/>
                        </a:rPr>
                        <a:t>×0.75</a:t>
                      </a:r>
                    </a:p>
                  </a:txBody>
                  <a:tcPr>
                    <a:solidFill>
                      <a:srgbClr val="FCFCFB"/>
                    </a:solidFill>
                  </a:tcPr>
                </a:tc>
                <a:tc>
                  <a:txBody>
                    <a:bodyPr/>
                    <a:lstStyle/>
                    <a:p>
                      <a:r>
                        <a:rPr sz="1300" b="0">
                          <a:solidFill>
                            <a:srgbClr val="6B6963"/>
                          </a:solidFill>
                          <a:latin typeface="Calibri"/>
                        </a:rPr>
                        <a:t>136</a:t>
                      </a:r>
                    </a:p>
                  </a:txBody>
                  <a:tcPr>
                    <a:solidFill>
                      <a:srgbClr val="FCFCFB"/>
                    </a:solidFill>
                  </a:tcPr>
                </a:tc>
              </a:tr>
            </a:tbl>
          </a:graphicData>
        </a:graphic>
      </p:graphicFrame>
      <p:sp>
        <p:nvSpPr>
          <p:cNvPr id="6" name="TextBox 5"/>
          <p:cNvSpPr txBox="1"/>
          <p:nvPr/>
        </p:nvSpPr>
        <p:spPr>
          <a:xfrm>
            <a:off x="684000" y="3816000"/>
            <a:ext cx="10800000" cy="468000"/>
          </a:xfrm>
          <a:prstGeom prst="rect">
            <a:avLst/>
          </a:prstGeom>
          <a:noFill/>
        </p:spPr>
        <p:txBody>
          <a:bodyPr wrap="square">
            <a:spAutoFit/>
          </a:bodyPr>
          <a:lstStyle/>
          <a:p>
            <a:pPr>
              <a:lnSpc>
                <a:spcPct val="125000"/>
              </a:lnSpc>
            </a:pPr>
            <a:r>
              <a:rPr sz="1500" b="1">
                <a:solidFill>
                  <a:srgbClr val="0B0B0B"/>
                </a:solidFill>
                <a:latin typeface="Calibri"/>
              </a:rPr>
              <a:t>Platt corrige sans rien coûter.</a:t>
            </a:r>
          </a:p>
        </p:txBody>
      </p:sp>
      <p:sp>
        <p:nvSpPr>
          <p:cNvPr id="7" name="TextBox 6"/>
          <p:cNvSpPr txBox="1"/>
          <p:nvPr/>
        </p:nvSpPr>
        <p:spPr>
          <a:xfrm>
            <a:off x="684000" y="4284000"/>
            <a:ext cx="10800000" cy="468000"/>
          </a:xfrm>
          <a:prstGeom prst="rect">
            <a:avLst/>
          </a:prstGeom>
          <a:noFill/>
        </p:spPr>
        <p:txBody>
          <a:bodyPr wrap="square">
            <a:spAutoFit/>
          </a:bodyPr>
          <a:lstStyle/>
          <a:p>
            <a:pPr>
              <a:lnSpc>
                <a:spcPct val="125000"/>
              </a:lnSpc>
            </a:pPr>
            <a:r>
              <a:rPr sz="1500" b="0">
                <a:solidFill>
                  <a:srgbClr val="6B6963"/>
                </a:solidFill>
                <a:latin typeface="Calibri"/>
              </a:rPr>
              <a:t>— Le classement est intact, seule l'échelle bouge.</a:t>
            </a:r>
          </a:p>
        </p:txBody>
      </p:sp>
      <p:sp>
        <p:nvSpPr>
          <p:cNvPr id="8" name="TextBox 7"/>
          <p:cNvSpPr txBox="1"/>
          <p:nvPr/>
        </p:nvSpPr>
        <p:spPr>
          <a:xfrm>
            <a:off x="684000" y="4752000"/>
            <a:ext cx="10800000" cy="468000"/>
          </a:xfrm>
          <a:prstGeom prst="rect">
            <a:avLst/>
          </a:prstGeom>
          <a:noFill/>
        </p:spPr>
        <p:txBody>
          <a:bodyPr wrap="square">
            <a:spAutoFit/>
          </a:bodyPr>
          <a:lstStyle/>
          <a:p>
            <a:pPr>
              <a:lnSpc>
                <a:spcPct val="125000"/>
              </a:lnSpc>
            </a:pPr>
            <a:r>
              <a:rPr sz="1500" b="1">
                <a:solidFill>
                  <a:srgbClr val="0B0B0B"/>
                </a:solidFill>
                <a:latin typeface="Calibri"/>
              </a:rPr>
              <a:t>L'isotonique calibre aussi bien, mais écrase le score.</a:t>
            </a:r>
          </a:p>
        </p:txBody>
      </p:sp>
      <p:sp>
        <p:nvSpPr>
          <p:cNvPr id="9" name="TextBox 8"/>
          <p:cNvSpPr txBox="1"/>
          <p:nvPr/>
        </p:nvSpPr>
        <p:spPr>
          <a:xfrm>
            <a:off x="684000" y="5220000"/>
            <a:ext cx="10800000" cy="468000"/>
          </a:xfrm>
          <a:prstGeom prst="rect">
            <a:avLst/>
          </a:prstGeom>
          <a:noFill/>
        </p:spPr>
        <p:txBody>
          <a:bodyPr wrap="square">
            <a:spAutoFit/>
          </a:bodyPr>
          <a:lstStyle/>
          <a:p>
            <a:pPr>
              <a:lnSpc>
                <a:spcPct val="125000"/>
              </a:lnSpc>
            </a:pPr>
            <a:r>
              <a:rPr sz="1500" b="0">
                <a:solidFill>
                  <a:srgbClr val="6B6963"/>
                </a:solidFill>
                <a:latin typeface="Calibri"/>
              </a:rPr>
              <a:t>— 136 valeurs distinctes au lieu de 9 millions : on perd du pouvoir de discrimination pour rien.</a:t>
            </a:r>
          </a:p>
        </p:txBody>
      </p:sp>
      <p:sp>
        <p:nvSpPr>
          <p:cNvPr id="10" name="TextBox 9"/>
          <p:cNvSpPr txBox="1"/>
          <p:nvPr/>
        </p:nvSpPr>
        <p:spPr>
          <a:xfrm>
            <a:off x="684000" y="5688000"/>
            <a:ext cx="10800000" cy="468000"/>
          </a:xfrm>
          <a:prstGeom prst="rect">
            <a:avLst/>
          </a:prstGeom>
          <a:noFill/>
        </p:spPr>
        <p:txBody>
          <a:bodyPr wrap="square">
            <a:spAutoFit/>
          </a:bodyPr>
          <a:lstStyle/>
          <a:p>
            <a:pPr>
              <a:lnSpc>
                <a:spcPct val="125000"/>
              </a:lnSpc>
            </a:pPr>
            <a:r>
              <a:rPr sz="1500" b="1">
                <a:solidFill>
                  <a:srgbClr val="0B0B0B"/>
                </a:solidFill>
                <a:latin typeface="Calibri"/>
              </a:rPr>
              <a:t>L'application affiche donc un RANG, pas une probabilité.</a:t>
            </a:r>
          </a:p>
        </p:txBody>
      </p:sp>
      <p:sp>
        <p:nvSpPr>
          <p:cNvPr id="11" name="TextBox 10"/>
          <p:cNvSpPr txBox="1"/>
          <p:nvPr/>
        </p:nvSpPr>
        <p:spPr>
          <a:xfrm>
            <a:off x="684000" y="6156000"/>
            <a:ext cx="10800000" cy="468000"/>
          </a:xfrm>
          <a:prstGeom prst="rect">
            <a:avLst/>
          </a:prstGeom>
          <a:noFill/>
        </p:spPr>
        <p:txBody>
          <a:bodyPr wrap="square">
            <a:spAutoFit/>
          </a:bodyPr>
          <a:lstStyle/>
          <a:p>
            <a:pPr>
              <a:lnSpc>
                <a:spcPct val="125000"/>
              </a:lnSpc>
            </a:pPr>
            <a:r>
              <a:rPr sz="1500" b="0">
                <a:solidFill>
                  <a:srgbClr val="6B6963"/>
                </a:solidFill>
                <a:latin typeface="Calibri"/>
              </a:rPr>
              <a:t>— Le calibrateur disponible a été ajusté sur un autre modèle et une autre période : il serait faux d'un facteur ~2. Un rang, lui, reste juste.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L'évaluation finale — ouverte une seule fois</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Après gel complet du modèle, des features et de la calibration.</a:t>
            </a:r>
          </a:p>
        </p:txBody>
      </p:sp>
      <p:graphicFrame>
        <p:nvGraphicFramePr>
          <p:cNvPr id="5" name="Table 4"/>
          <p:cNvGraphicFramePr>
            <a:graphicFrameLocks noGrp="1"/>
          </p:cNvGraphicFramePr>
          <p:nvPr/>
        </p:nvGraphicFramePr>
        <p:xfrm>
          <a:off x="684000" y="1944000"/>
          <a:ext cx="8640000" cy="1584000"/>
        </p:xfrm>
        <a:graphic>
          <a:graphicData uri="http://schemas.openxmlformats.org/drawingml/2006/table">
            <a:tbl>
              <a:tblPr firstRow="1" bandRow="1">
                <a:tableStyleId>{5C22544A-7EE6-4342-B048-85BDC9FD1C3A}</a:tableStyleId>
              </a:tblPr>
              <a:tblGrid>
                <a:gridCol w="1260000"/>
                <a:gridCol w="2160000"/>
                <a:gridCol w="1440000"/>
                <a:gridCol w="1620000"/>
                <a:gridCol w="1260000"/>
                <a:gridCol w="900000"/>
              </a:tblGrid>
              <a:tr h="396000">
                <a:tc>
                  <a:txBody>
                    <a:bodyPr/>
                    <a:lstStyle/>
                    <a:p>
                      <a:r>
                        <a:rPr sz="1300" b="1">
                          <a:solidFill>
                            <a:srgbClr val="FCFCFB"/>
                          </a:solidFill>
                          <a:latin typeface="Calibri"/>
                        </a:rPr>
                        <a:t>Année</a:t>
                      </a:r>
                    </a:p>
                  </a:txBody>
                  <a:tcPr>
                    <a:solidFill>
                      <a:srgbClr val="0B0B0B"/>
                    </a:solidFill>
                  </a:tcPr>
                </a:tc>
                <a:tc>
                  <a:txBody>
                    <a:bodyPr/>
                    <a:lstStyle/>
                    <a:p>
                      <a:r>
                        <a:rPr sz="1300" b="1">
                          <a:solidFill>
                            <a:srgbClr val="FCFCFB"/>
                          </a:solidFill>
                          <a:latin typeface="Calibri"/>
                        </a:rPr>
                        <a:t>Lignes</a:t>
                      </a:r>
                    </a:p>
                  </a:txBody>
                  <a:tcPr>
                    <a:solidFill>
                      <a:srgbClr val="0B0B0B"/>
                    </a:solidFill>
                  </a:tcPr>
                </a:tc>
                <a:tc>
                  <a:txBody>
                    <a:bodyPr/>
                    <a:lstStyle/>
                    <a:p>
                      <a:r>
                        <a:rPr sz="1300" b="1">
                          <a:solidFill>
                            <a:srgbClr val="FCFCFB"/>
                          </a:solidFill>
                          <a:latin typeface="Calibri"/>
                        </a:rPr>
                        <a:t>Feux</a:t>
                      </a:r>
                    </a:p>
                  </a:txBody>
                  <a:tcPr>
                    <a:solidFill>
                      <a:srgbClr val="0B0B0B"/>
                    </a:solidFill>
                  </a:tcPr>
                </a:tc>
                <a:tc>
                  <a:txBody>
                    <a:bodyPr/>
                    <a:lstStyle/>
                    <a:p>
                      <a:r>
                        <a:rPr sz="1300" b="1">
                          <a:solidFill>
                            <a:srgbClr val="FCFCFB"/>
                          </a:solidFill>
                          <a:latin typeface="Calibri"/>
                        </a:rPr>
                        <a:t>Taux</a:t>
                      </a:r>
                    </a:p>
                  </a:txBody>
                  <a:tcPr>
                    <a:solidFill>
                      <a:srgbClr val="0B0B0B"/>
                    </a:solidFill>
                  </a:tcPr>
                </a:tc>
                <a:tc>
                  <a:txBody>
                    <a:bodyPr/>
                    <a:lstStyle/>
                    <a:p>
                      <a:r>
                        <a:rPr sz="1300" b="1">
                          <a:solidFill>
                            <a:srgbClr val="FCFCFB"/>
                          </a:solidFill>
                          <a:latin typeface="Calibri"/>
                        </a:rPr>
                        <a:t>PR-AUC</a:t>
                      </a:r>
                    </a:p>
                  </a:txBody>
                  <a:tcPr>
                    <a:solidFill>
                      <a:srgbClr val="0B0B0B"/>
                    </a:solidFill>
                  </a:tcPr>
                </a:tc>
                <a:tc>
                  <a:txBody>
                    <a:bodyPr/>
                    <a:lstStyle/>
                    <a:p>
                      <a:r>
                        <a:rPr sz="1300" b="1">
                          <a:solidFill>
                            <a:srgbClr val="FCFCFB"/>
                          </a:solidFill>
                          <a:latin typeface="Calibri"/>
                        </a:rPr>
                        <a:t>lift</a:t>
                      </a:r>
                    </a:p>
                  </a:txBody>
                  <a:tcPr>
                    <a:solidFill>
                      <a:srgbClr val="0B0B0B"/>
                    </a:solidFill>
                  </a:tcPr>
                </a:tc>
              </a:tr>
              <a:tr h="396000">
                <a:tc>
                  <a:txBody>
                    <a:bodyPr/>
                    <a:lstStyle/>
                    <a:p>
                      <a:r>
                        <a:rPr sz="1300" b="0">
                          <a:solidFill>
                            <a:srgbClr val="6B6963"/>
                          </a:solidFill>
                          <a:latin typeface="Calibri"/>
                        </a:rPr>
                        <a:t>2023</a:t>
                      </a:r>
                    </a:p>
                  </a:txBody>
                  <a:tcPr>
                    <a:solidFill>
                      <a:srgbClr val="FCFCFB"/>
                    </a:solidFill>
                  </a:tcPr>
                </a:tc>
                <a:tc>
                  <a:txBody>
                    <a:bodyPr/>
                    <a:lstStyle/>
                    <a:p>
                      <a:r>
                        <a:rPr sz="1300" b="0">
                          <a:solidFill>
                            <a:srgbClr val="6B6963"/>
                          </a:solidFill>
                          <a:latin typeface="Calibri"/>
                        </a:rPr>
                        <a:t>12 677 910</a:t>
                      </a:r>
                    </a:p>
                  </a:txBody>
                  <a:tcPr>
                    <a:solidFill>
                      <a:srgbClr val="FCFCFB"/>
                    </a:solidFill>
                  </a:tcPr>
                </a:tc>
                <a:tc>
                  <a:txBody>
                    <a:bodyPr/>
                    <a:lstStyle/>
                    <a:p>
                      <a:r>
                        <a:rPr sz="1300" b="0">
                          <a:solidFill>
                            <a:srgbClr val="6B6963"/>
                          </a:solidFill>
                          <a:latin typeface="Calibri"/>
                        </a:rPr>
                        <a:t>2 591</a:t>
                      </a:r>
                    </a:p>
                  </a:txBody>
                  <a:tcPr>
                    <a:solidFill>
                      <a:srgbClr val="FCFCFB"/>
                    </a:solidFill>
                  </a:tcPr>
                </a:tc>
                <a:tc>
                  <a:txBody>
                    <a:bodyPr/>
                    <a:lstStyle/>
                    <a:p>
                      <a:r>
                        <a:rPr sz="1300" b="0">
                          <a:solidFill>
                            <a:srgbClr val="6B6963"/>
                          </a:solidFill>
                          <a:latin typeface="Calibri"/>
                        </a:rPr>
                        <a:t>0.0204%</a:t>
                      </a:r>
                    </a:p>
                  </a:txBody>
                  <a:tcPr>
                    <a:solidFill>
                      <a:srgbClr val="FCFCFB"/>
                    </a:solidFill>
                  </a:tcPr>
                </a:tc>
                <a:tc>
                  <a:txBody>
                    <a:bodyPr/>
                    <a:lstStyle/>
                    <a:p>
                      <a:r>
                        <a:rPr sz="1300" b="0">
                          <a:solidFill>
                            <a:srgbClr val="6B6963"/>
                          </a:solidFill>
                          <a:latin typeface="Calibri"/>
                        </a:rPr>
                        <a:t>0.0154</a:t>
                      </a:r>
                    </a:p>
                  </a:txBody>
                  <a:tcPr>
                    <a:solidFill>
                      <a:srgbClr val="FCFCFB"/>
                    </a:solidFill>
                  </a:tcPr>
                </a:tc>
                <a:tc>
                  <a:txBody>
                    <a:bodyPr/>
                    <a:lstStyle/>
                    <a:p>
                      <a:r>
                        <a:rPr sz="1300" b="0">
                          <a:solidFill>
                            <a:srgbClr val="6B6963"/>
                          </a:solidFill>
                          <a:latin typeface="Calibri"/>
                        </a:rPr>
                        <a:t>×76</a:t>
                      </a:r>
                    </a:p>
                  </a:txBody>
                  <a:tcPr>
                    <a:solidFill>
                      <a:srgbClr val="FCFCFB"/>
                    </a:solidFill>
                  </a:tcPr>
                </a:tc>
              </a:tr>
              <a:tr h="396000">
                <a:tc>
                  <a:txBody>
                    <a:bodyPr/>
                    <a:lstStyle/>
                    <a:p>
                      <a:r>
                        <a:rPr sz="1300" b="0">
                          <a:solidFill>
                            <a:srgbClr val="6B6963"/>
                          </a:solidFill>
                          <a:latin typeface="Calibri"/>
                        </a:rPr>
                        <a:t>2024</a:t>
                      </a:r>
                    </a:p>
                  </a:txBody>
                  <a:tcPr>
                    <a:solidFill>
                      <a:srgbClr val="FCFCFB"/>
                    </a:solidFill>
                  </a:tcPr>
                </a:tc>
                <a:tc>
                  <a:txBody>
                    <a:bodyPr/>
                    <a:lstStyle/>
                    <a:p>
                      <a:r>
                        <a:rPr sz="1300" b="0">
                          <a:solidFill>
                            <a:srgbClr val="6B6963"/>
                          </a:solidFill>
                          <a:latin typeface="Calibri"/>
                        </a:rPr>
                        <a:t>12 712 644</a:t>
                      </a:r>
                    </a:p>
                  </a:txBody>
                  <a:tcPr>
                    <a:solidFill>
                      <a:srgbClr val="FCFCFB"/>
                    </a:solidFill>
                  </a:tcPr>
                </a:tc>
                <a:tc>
                  <a:txBody>
                    <a:bodyPr/>
                    <a:lstStyle/>
                    <a:p>
                      <a:r>
                        <a:rPr sz="1300" b="0">
                          <a:solidFill>
                            <a:srgbClr val="6B6963"/>
                          </a:solidFill>
                          <a:latin typeface="Calibri"/>
                        </a:rPr>
                        <a:t>1 297</a:t>
                      </a:r>
                    </a:p>
                  </a:txBody>
                  <a:tcPr>
                    <a:solidFill>
                      <a:srgbClr val="FCFCFB"/>
                    </a:solidFill>
                  </a:tcPr>
                </a:tc>
                <a:tc>
                  <a:txBody>
                    <a:bodyPr/>
                    <a:lstStyle/>
                    <a:p>
                      <a:r>
                        <a:rPr sz="1300" b="0">
                          <a:solidFill>
                            <a:srgbClr val="6B6963"/>
                          </a:solidFill>
                          <a:latin typeface="Calibri"/>
                        </a:rPr>
                        <a:t>0.0102%</a:t>
                      </a:r>
                    </a:p>
                  </a:txBody>
                  <a:tcPr>
                    <a:solidFill>
                      <a:srgbClr val="FCFCFB"/>
                    </a:solidFill>
                  </a:tcPr>
                </a:tc>
                <a:tc>
                  <a:txBody>
                    <a:bodyPr/>
                    <a:lstStyle/>
                    <a:p>
                      <a:r>
                        <a:rPr sz="1300" b="0">
                          <a:solidFill>
                            <a:srgbClr val="6B6963"/>
                          </a:solidFill>
                          <a:latin typeface="Calibri"/>
                        </a:rPr>
                        <a:t>0.0155</a:t>
                      </a:r>
                    </a:p>
                  </a:txBody>
                  <a:tcPr>
                    <a:solidFill>
                      <a:srgbClr val="FCFCFB"/>
                    </a:solidFill>
                  </a:tcPr>
                </a:tc>
                <a:tc>
                  <a:txBody>
                    <a:bodyPr/>
                    <a:lstStyle/>
                    <a:p>
                      <a:r>
                        <a:rPr sz="1300" b="0">
                          <a:solidFill>
                            <a:srgbClr val="6B6963"/>
                          </a:solidFill>
                          <a:latin typeface="Calibri"/>
                        </a:rPr>
                        <a:t>×151</a:t>
                      </a:r>
                    </a:p>
                  </a:txBody>
                  <a:tcPr>
                    <a:solidFill>
                      <a:srgbClr val="FCFCFB"/>
                    </a:solidFill>
                  </a:tcPr>
                </a:tc>
              </a:tr>
              <a:tr h="396000">
                <a:tc>
                  <a:txBody>
                    <a:bodyPr/>
                    <a:lstStyle/>
                    <a:p>
                      <a:r>
                        <a:rPr sz="1300" b="0">
                          <a:solidFill>
                            <a:srgbClr val="6B6963"/>
                          </a:solidFill>
                          <a:latin typeface="Calibri"/>
                        </a:rPr>
                        <a:t>2025</a:t>
                      </a:r>
                    </a:p>
                  </a:txBody>
                  <a:tcPr>
                    <a:solidFill>
                      <a:srgbClr val="FCFCFB"/>
                    </a:solidFill>
                  </a:tcPr>
                </a:tc>
                <a:tc>
                  <a:txBody>
                    <a:bodyPr/>
                    <a:lstStyle/>
                    <a:p>
                      <a:r>
                        <a:rPr sz="1300" b="0">
                          <a:solidFill>
                            <a:srgbClr val="6B6963"/>
                          </a:solidFill>
                          <a:latin typeface="Calibri"/>
                        </a:rPr>
                        <a:t>12 677 910</a:t>
                      </a:r>
                    </a:p>
                  </a:txBody>
                  <a:tcPr>
                    <a:solidFill>
                      <a:srgbClr val="FCFCFB"/>
                    </a:solidFill>
                  </a:tcPr>
                </a:tc>
                <a:tc>
                  <a:txBody>
                    <a:bodyPr/>
                    <a:lstStyle/>
                    <a:p>
                      <a:r>
                        <a:rPr sz="1300" b="0">
                          <a:solidFill>
                            <a:srgbClr val="6B6963"/>
                          </a:solidFill>
                          <a:latin typeface="Calibri"/>
                        </a:rPr>
                        <a:t>2 434</a:t>
                      </a:r>
                    </a:p>
                  </a:txBody>
                  <a:tcPr>
                    <a:solidFill>
                      <a:srgbClr val="FCFCFB"/>
                    </a:solidFill>
                  </a:tcPr>
                </a:tc>
                <a:tc>
                  <a:txBody>
                    <a:bodyPr/>
                    <a:lstStyle/>
                    <a:p>
                      <a:r>
                        <a:rPr sz="1300" b="0">
                          <a:solidFill>
                            <a:srgbClr val="6B6963"/>
                          </a:solidFill>
                          <a:latin typeface="Calibri"/>
                        </a:rPr>
                        <a:t>0.0192%</a:t>
                      </a:r>
                    </a:p>
                  </a:txBody>
                  <a:tcPr>
                    <a:solidFill>
                      <a:srgbClr val="FCFCFB"/>
                    </a:solidFill>
                  </a:tcPr>
                </a:tc>
                <a:tc>
                  <a:txBody>
                    <a:bodyPr/>
                    <a:lstStyle/>
                    <a:p>
                      <a:r>
                        <a:rPr sz="1300" b="0">
                          <a:solidFill>
                            <a:srgbClr val="6B6963"/>
                          </a:solidFill>
                          <a:latin typeface="Calibri"/>
                        </a:rPr>
                        <a:t>0.0167</a:t>
                      </a:r>
                    </a:p>
                  </a:txBody>
                  <a:tcPr>
                    <a:solidFill>
                      <a:srgbClr val="FCFCFB"/>
                    </a:solidFill>
                  </a:tcPr>
                </a:tc>
                <a:tc>
                  <a:txBody>
                    <a:bodyPr/>
                    <a:lstStyle/>
                    <a:p>
                      <a:r>
                        <a:rPr sz="1300" b="0">
                          <a:solidFill>
                            <a:srgbClr val="6B6963"/>
                          </a:solidFill>
                          <a:latin typeface="Calibri"/>
                        </a:rPr>
                        <a:t>×87</a:t>
                      </a:r>
                    </a:p>
                  </a:txBody>
                  <a:tcPr>
                    <a:solidFill>
                      <a:srgbClr val="FCFCFB"/>
                    </a:solidFill>
                  </a:tcPr>
                </a:tc>
              </a:tr>
            </a:tbl>
          </a:graphicData>
        </a:graphic>
      </p:graphicFrame>
      <p:sp>
        <p:nvSpPr>
          <p:cNvPr id="6" name="Rectangle 5"/>
          <p:cNvSpPr/>
          <p:nvPr/>
        </p:nvSpPr>
        <p:spPr>
          <a:xfrm>
            <a:off x="684000" y="3816000"/>
            <a:ext cx="39600" cy="1655999"/>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3852000"/>
            <a:ext cx="10548000" cy="1655999"/>
          </a:xfrm>
          <a:prstGeom prst="rect">
            <a:avLst/>
          </a:prstGeom>
          <a:noFill/>
        </p:spPr>
        <p:txBody>
          <a:bodyPr wrap="square">
            <a:spAutoFit/>
          </a:bodyPr>
          <a:lstStyle/>
          <a:p>
            <a:pPr>
              <a:lnSpc>
                <a:spcPct val="130000"/>
              </a:lnSpc>
            </a:pPr>
            <a:r>
              <a:rPr sz="1500" b="0">
                <a:solidFill>
                  <a:srgbClr val="0B0B0B"/>
                </a:solidFill>
                <a:latin typeface="Calibri"/>
              </a:rPr>
              <a:t>LE LIFT VARIE DU SIMPLE AU DOUBLE, ET CE N'EST PAS DU BRUIT — IL SUIT LA RARETÉ.</a:t>
            </a:r>
          </a:p>
          <a:p>
            <a:pPr>
              <a:lnSpc>
                <a:spcPct val="130000"/>
              </a:lnSpc>
            </a:pPr>
            <a:r>
              <a:rPr sz="1500" b="0">
                <a:solidFill>
                  <a:srgbClr val="0B0B0B"/>
                </a:solidFill>
                <a:latin typeface="Calibri"/>
              </a:rPr>
              <a:t>2024 est l'année la plus calme (1297 feux) et donne le MEILLEUR lift (×151) ; 2023, la plus active, le plus faible (×76).</a:t>
            </a:r>
          </a:p>
          <a:p>
            <a:pPr>
              <a:lnSpc>
                <a:spcPct val="130000"/>
              </a:lnSpc>
            </a:pPr>
            <a:r>
              <a:rPr sz="1500" b="0">
                <a:solidFill>
                  <a:srgbClr val="0B0B0B"/>
                </a:solidFill>
                <a:latin typeface="Calibri"/>
              </a:rPr>
              <a:t>Une année calme concentre les feux dans les endroits les plus prévisibles. Quand tout brûle — y compris là où ce n'est pas censé arriver — le modèle est pris en défaut.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84000" y="2268000"/>
            <a:ext cx="2160000" cy="503999"/>
          </a:xfrm>
          <a:prstGeom prst="rect">
            <a:avLst/>
          </a:prstGeom>
          <a:noFill/>
        </p:spPr>
        <p:txBody>
          <a:bodyPr wrap="square">
            <a:spAutoFit/>
          </a:bodyPr>
          <a:lstStyle/>
          <a:p>
            <a:pPr>
              <a:lnSpc>
                <a:spcPct val="125000"/>
              </a:lnSpc>
            </a:pPr>
            <a:r>
              <a:rPr sz="1500" b="1">
                <a:solidFill>
                  <a:srgbClr val="E34948"/>
                </a:solidFill>
                <a:latin typeface="Calibri"/>
              </a:rPr>
              <a:t>04</a:t>
            </a:r>
          </a:p>
        </p:txBody>
      </p:sp>
      <p:sp>
        <p:nvSpPr>
          <p:cNvPr id="3" name="TextBox 2"/>
          <p:cNvSpPr txBox="1"/>
          <p:nvPr/>
        </p:nvSpPr>
        <p:spPr>
          <a:xfrm>
            <a:off x="684000" y="2628000"/>
            <a:ext cx="10080000" cy="1080000"/>
          </a:xfrm>
          <a:prstGeom prst="rect">
            <a:avLst/>
          </a:prstGeom>
          <a:noFill/>
        </p:spPr>
        <p:txBody>
          <a:bodyPr wrap="square">
            <a:spAutoFit/>
          </a:bodyPr>
          <a:lstStyle/>
          <a:p>
            <a:pPr>
              <a:lnSpc>
                <a:spcPct val="110000"/>
              </a:lnSpc>
            </a:pPr>
            <a:r>
              <a:rPr sz="3400" b="1">
                <a:solidFill>
                  <a:srgbClr val="FCFCFB"/>
                </a:solidFill>
                <a:latin typeface="Calibri"/>
              </a:rPr>
              <a:t>Comprendre le modèle</a:t>
            </a:r>
          </a:p>
        </p:txBody>
      </p:sp>
      <p:sp>
        <p:nvSpPr>
          <p:cNvPr id="4" name="TextBox 3"/>
          <p:cNvSpPr txBox="1"/>
          <p:nvPr/>
        </p:nvSpPr>
        <p:spPr>
          <a:xfrm>
            <a:off x="684000" y="4104000"/>
            <a:ext cx="9360000" cy="900000"/>
          </a:xfrm>
          <a:prstGeom prst="rect">
            <a:avLst/>
          </a:prstGeom>
          <a:noFill/>
        </p:spPr>
        <p:txBody>
          <a:bodyPr wrap="square">
            <a:spAutoFit/>
          </a:bodyPr>
          <a:lstStyle/>
          <a:p>
            <a:pPr>
              <a:lnSpc>
                <a:spcPct val="135000"/>
              </a:lnSpc>
            </a:pPr>
            <a:r>
              <a:rPr sz="1600" b="0">
                <a:solidFill>
                  <a:srgbClr val="C3C2B7"/>
                </a:solidFill>
                <a:latin typeface="Calibri"/>
              </a:rPr>
              <a:t>SHAP, LIME, DiCE — et pourquoi ils ne disent pas la même chose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Qu'est-ce qui fait partir un feu ?</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Trois façons de poser la question, trois réponses — chacune juste, mais pas à la même question.</a:t>
            </a:r>
          </a:p>
        </p:txBody>
      </p:sp>
      <p:pic>
        <p:nvPicPr>
          <p:cNvPr id="5" name="Picture 4" descr="shap_c.png"/>
          <p:cNvPicPr>
            <a:picLocks noChangeAspect="1"/>
          </p:cNvPicPr>
          <p:nvPr/>
        </p:nvPicPr>
        <p:blipFill>
          <a:blip r:embed="rId2"/>
          <a:stretch>
            <a:fillRect/>
          </a:stretch>
        </p:blipFill>
        <p:spPr>
          <a:xfrm>
            <a:off x="1882073" y="1944000"/>
            <a:ext cx="8403852" cy="2951999"/>
          </a:xfrm>
          <a:prstGeom prst="rect">
            <a:avLst/>
          </a:prstGeom>
        </p:spPr>
      </p:pic>
      <p:sp>
        <p:nvSpPr>
          <p:cNvPr id="6" name="Rectangle 5"/>
          <p:cNvSpPr/>
          <p:nvPr/>
        </p:nvSpPr>
        <p:spPr>
          <a:xfrm>
            <a:off x="684000" y="5112000"/>
            <a:ext cx="39600" cy="18000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5148000"/>
            <a:ext cx="10548000" cy="1800000"/>
          </a:xfrm>
          <a:prstGeom prst="rect">
            <a:avLst/>
          </a:prstGeom>
          <a:noFill/>
        </p:spPr>
        <p:txBody>
          <a:bodyPr wrap="square">
            <a:spAutoFit/>
          </a:bodyPr>
          <a:lstStyle/>
          <a:p>
            <a:pPr>
              <a:lnSpc>
                <a:spcPct val="130000"/>
              </a:lnSpc>
            </a:pPr>
            <a:r>
              <a:rPr sz="1400" b="0">
                <a:solidFill>
                  <a:srgbClr val="0B0B0B"/>
                </a:solidFill>
                <a:latin typeface="Calibri"/>
              </a:rPr>
              <a:t>danger_effis est 2ᵉ par gain et 30ᵉ par SHAP. Ce n'est pas une erreur : c'est une discrétisation du FWI en six classes. XGBoost adore ces seuils nets pour découper, mais l'information est déjà dans le FWI continu — et SHAP lui en attribue le crédit. L'IMPORTANCE PAR GAIN NE SAIT PAS GÉRER LA REDONDANCE.</a:t>
            </a:r>
          </a:p>
          <a:p>
            <a:pPr>
              <a:lnSpc>
                <a:spcPct val="130000"/>
              </a:lnSpc>
            </a:pPr>
            <a:r>
              <a:rPr sz="1400" b="0">
                <a:solidFill>
                  <a:srgbClr val="0B0B0B"/>
                </a:solidFill>
                <a:latin typeface="Calibri"/>
              </a:rPr>
              <a:t>part_maquis est 1ᵉʳ par gain, 10ᵉ sur l'échantillon aléatoire, 2ᵉ au sommet : il ne change rien sur une commune-jour moyenne, et devient déterminant là où le modèle voit du risque.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DiCE — la seule question actionnable</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SHAP et LIME répondent à « pourquoi ce score ». DiCE répond à « qu'aurait-il fallu changer ».</a:t>
            </a:r>
          </a:p>
        </p:txBody>
      </p:sp>
      <p:sp>
        <p:nvSpPr>
          <p:cNvPr id="5" name="TextBox 4"/>
          <p:cNvSpPr txBox="1"/>
          <p:nvPr/>
        </p:nvSpPr>
        <p:spPr>
          <a:xfrm>
            <a:off x="684000" y="1944000"/>
            <a:ext cx="10800000" cy="460800"/>
          </a:xfrm>
          <a:prstGeom prst="rect">
            <a:avLst/>
          </a:prstGeom>
          <a:noFill/>
        </p:spPr>
        <p:txBody>
          <a:bodyPr wrap="square">
            <a:spAutoFit/>
          </a:bodyPr>
          <a:lstStyle/>
          <a:p>
            <a:pPr>
              <a:lnSpc>
                <a:spcPct val="125000"/>
              </a:lnSpc>
            </a:pPr>
            <a:r>
              <a:rPr sz="1600" b="1">
                <a:solidFill>
                  <a:srgbClr val="0B0B0B"/>
                </a:solidFill>
                <a:latin typeface="Calibri"/>
              </a:rPr>
              <a:t>Un exemple, mesuré</a:t>
            </a:r>
          </a:p>
        </p:txBody>
      </p:sp>
      <p:sp>
        <p:nvSpPr>
          <p:cNvPr id="6" name="TextBox 5"/>
          <p:cNvSpPr txBox="1"/>
          <p:nvPr/>
        </p:nvSpPr>
        <p:spPr>
          <a:xfrm>
            <a:off x="684000" y="2404800"/>
            <a:ext cx="10800000" cy="460800"/>
          </a:xfrm>
          <a:prstGeom prst="rect">
            <a:avLst/>
          </a:prstGeom>
          <a:noFill/>
        </p:spPr>
        <p:txBody>
          <a:bodyPr wrap="square">
            <a:spAutoFit/>
          </a:bodyPr>
          <a:lstStyle/>
          <a:p>
            <a:pPr>
              <a:lnSpc>
                <a:spcPct val="125000"/>
              </a:lnSpc>
            </a:pPr>
            <a:r>
              <a:rPr sz="1600" b="0">
                <a:solidFill>
                  <a:srgbClr val="6B6963"/>
                </a:solidFill>
                <a:latin typeface="Calibri"/>
              </a:rPr>
              <a:t>— Bormes-les-Mimosas, 99,9ᵉ percentile du 12 août 2024. On autorise à modifier la végétation seule : maquis, forêt, part combustible, part agricole.</a:t>
            </a:r>
          </a:p>
        </p:txBody>
      </p:sp>
      <p:sp>
        <p:nvSpPr>
          <p:cNvPr id="7" name="TextBox 6"/>
          <p:cNvSpPr txBox="1"/>
          <p:nvPr/>
        </p:nvSpPr>
        <p:spPr>
          <a:xfrm>
            <a:off x="684000" y="2865600"/>
            <a:ext cx="10800000" cy="460800"/>
          </a:xfrm>
          <a:prstGeom prst="rect">
            <a:avLst/>
          </a:prstGeom>
          <a:noFill/>
        </p:spPr>
        <p:txBody>
          <a:bodyPr wrap="square">
            <a:spAutoFit/>
          </a:bodyPr>
          <a:lstStyle/>
          <a:p>
            <a:pPr>
              <a:lnSpc>
                <a:spcPct val="125000"/>
              </a:lnSpc>
            </a:pPr>
            <a:r>
              <a:rPr sz="1600" b="1">
                <a:solidFill>
                  <a:srgbClr val="0B0B0B"/>
                </a:solidFill>
                <a:latin typeface="Calibri"/>
              </a:rPr>
              <a:t>Résultat : aucun contrefactuel.</a:t>
            </a:r>
          </a:p>
        </p:txBody>
      </p:sp>
      <p:sp>
        <p:nvSpPr>
          <p:cNvPr id="8" name="TextBox 7"/>
          <p:cNvSpPr txBox="1"/>
          <p:nvPr/>
        </p:nvSpPr>
        <p:spPr>
          <a:xfrm>
            <a:off x="684000" y="3326400"/>
            <a:ext cx="10800000" cy="460800"/>
          </a:xfrm>
          <a:prstGeom prst="rect">
            <a:avLst/>
          </a:prstGeom>
          <a:noFill/>
        </p:spPr>
        <p:txBody>
          <a:bodyPr wrap="square">
            <a:spAutoFit/>
          </a:bodyPr>
          <a:lstStyle/>
          <a:p>
            <a:pPr>
              <a:lnSpc>
                <a:spcPct val="125000"/>
              </a:lnSpc>
            </a:pPr>
            <a:r>
              <a:rPr sz="1600" b="0">
                <a:solidFill>
                  <a:srgbClr val="6B6963"/>
                </a:solidFill>
                <a:latin typeface="Calibri"/>
              </a:rPr>
              <a:t>— Rien, sur ces leviers, ne fait sortir la commune du décile à risque. Son exposition tient à sa position, à son relief, à sa superficie. Le risque est STRUCTUREL — et c'est un résultat, pas un échec.</a:t>
            </a:r>
          </a:p>
        </p:txBody>
      </p:sp>
      <p:sp>
        <p:nvSpPr>
          <p:cNvPr id="9" name="Rectangle 8"/>
          <p:cNvSpPr/>
          <p:nvPr/>
        </p:nvSpPr>
        <p:spPr>
          <a:xfrm>
            <a:off x="684000" y="3888000"/>
            <a:ext cx="39600" cy="1872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2000" y="3924000"/>
            <a:ext cx="10548000" cy="1872000"/>
          </a:xfrm>
          <a:prstGeom prst="rect">
            <a:avLst/>
          </a:prstGeom>
          <a:noFill/>
        </p:spPr>
        <p:txBody>
          <a:bodyPr wrap="square">
            <a:spAutoFit/>
          </a:bodyPr>
          <a:lstStyle/>
          <a:p>
            <a:pPr>
              <a:lnSpc>
                <a:spcPct val="130000"/>
              </a:lnSpc>
            </a:pPr>
            <a:r>
              <a:rPr sz="1400" b="0">
                <a:solidFill>
                  <a:srgbClr val="0B0B0B"/>
                </a:solidFill>
                <a:latin typeface="Calibri"/>
              </a:rPr>
              <a:t>UN DÉTAIL D'IMPLÉMENTATION QUI CHANGE TOUT</a:t>
            </a:r>
          </a:p>
          <a:p>
            <a:pPr>
              <a:lnSpc>
                <a:spcPct val="130000"/>
              </a:lnSpc>
            </a:pPr>
            <a:r>
              <a:rPr sz="1400" b="0">
                <a:solidFill>
                  <a:srgbClr val="0B0B0B"/>
                </a:solidFill>
                <a:latin typeface="Calibri"/>
              </a:rPr>
              <a:t>DiCE cherche par défaut à faire passer la probabilité sous 0,5. Or le score n'est pas calibré : 0,5 correspond à un risque astronomique, et l'outil ne renvoyait jamais rien.</a:t>
            </a:r>
          </a:p>
          <a:p>
            <a:pPr>
              <a:lnSpc>
                <a:spcPct val="130000"/>
              </a:lnSpc>
            </a:pPr>
            <a:r>
              <a:rPr sz="1400" b="0">
                <a:solidFill>
                  <a:srgbClr val="0B0B0B"/>
                </a:solidFill>
                <a:latin typeface="Calibri"/>
              </a:rPr>
              <a:t>On a recentré la frontière sur le DÉCILE, par une transformation strictement croissante qui laisse le classement intact. La question devient « que faudrait-il pour sortir des 10 % les plus à risque » — celle qui a un sens opérationnel.</a:t>
            </a:r>
          </a:p>
        </p:txBody>
      </p:sp>
      <p:sp>
        <p:nvSpPr>
          <p:cNvPr id="11" name="Rectangle 10"/>
          <p:cNvSpPr/>
          <p:nvPr/>
        </p:nvSpPr>
        <p:spPr>
          <a:xfrm>
            <a:off x="684000" y="5976000"/>
            <a:ext cx="39600" cy="1007999"/>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2000" y="6012000"/>
            <a:ext cx="10548000" cy="1007999"/>
          </a:xfrm>
          <a:prstGeom prst="rect">
            <a:avLst/>
          </a:prstGeom>
          <a:noFill/>
        </p:spPr>
        <p:txBody>
          <a:bodyPr wrap="square">
            <a:spAutoFit/>
          </a:bodyPr>
          <a:lstStyle/>
          <a:p>
            <a:pPr>
              <a:lnSpc>
                <a:spcPct val="130000"/>
              </a:lnSpc>
            </a:pPr>
            <a:r>
              <a:rPr sz="1400" b="0">
                <a:solidFill>
                  <a:srgbClr val="0B0B0B"/>
                </a:solidFill>
                <a:latin typeface="Calibri"/>
              </a:rPr>
              <a:t>UN CONTREFACTUEL N'EST PAS UNE RECOMMANDATION. Rien ne garantit qu'il soit réalisable — on ne convertit pas 40 % de maquis en terres agricoles — ni que le lien soit causal : le modèle a appris des corrélations, pas des mécanismes.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84000" y="2268000"/>
            <a:ext cx="2160000" cy="503999"/>
          </a:xfrm>
          <a:prstGeom prst="rect">
            <a:avLst/>
          </a:prstGeom>
          <a:noFill/>
        </p:spPr>
        <p:txBody>
          <a:bodyPr wrap="square">
            <a:spAutoFit/>
          </a:bodyPr>
          <a:lstStyle/>
          <a:p>
            <a:pPr>
              <a:lnSpc>
                <a:spcPct val="125000"/>
              </a:lnSpc>
            </a:pPr>
            <a:r>
              <a:rPr sz="1500" b="1">
                <a:solidFill>
                  <a:srgbClr val="E34948"/>
                </a:solidFill>
                <a:latin typeface="Calibri"/>
              </a:rPr>
              <a:t>05</a:t>
            </a:r>
          </a:p>
        </p:txBody>
      </p:sp>
      <p:sp>
        <p:nvSpPr>
          <p:cNvPr id="3" name="TextBox 2"/>
          <p:cNvSpPr txBox="1"/>
          <p:nvPr/>
        </p:nvSpPr>
        <p:spPr>
          <a:xfrm>
            <a:off x="684000" y="2628000"/>
            <a:ext cx="10080000" cy="1080000"/>
          </a:xfrm>
          <a:prstGeom prst="rect">
            <a:avLst/>
          </a:prstGeom>
          <a:noFill/>
        </p:spPr>
        <p:txBody>
          <a:bodyPr wrap="square">
            <a:spAutoFit/>
          </a:bodyPr>
          <a:lstStyle/>
          <a:p>
            <a:pPr>
              <a:lnSpc>
                <a:spcPct val="110000"/>
              </a:lnSpc>
            </a:pPr>
            <a:r>
              <a:rPr sz="3400" b="1">
                <a:solidFill>
                  <a:srgbClr val="FCFCFB"/>
                </a:solidFill>
                <a:latin typeface="Calibri"/>
              </a:rPr>
              <a:t>Le climat</a:t>
            </a:r>
          </a:p>
        </p:txBody>
      </p:sp>
      <p:sp>
        <p:nvSpPr>
          <p:cNvPr id="4" name="TextBox 3"/>
          <p:cNvSpPr txBox="1"/>
          <p:nvPr/>
        </p:nvSpPr>
        <p:spPr>
          <a:xfrm>
            <a:off x="684000" y="4104000"/>
            <a:ext cx="9360000" cy="900000"/>
          </a:xfrm>
          <a:prstGeom prst="rect">
            <a:avLst/>
          </a:prstGeom>
          <a:noFill/>
        </p:spPr>
        <p:txBody>
          <a:bodyPr wrap="square">
            <a:spAutoFit/>
          </a:bodyPr>
          <a:lstStyle/>
          <a:p>
            <a:pPr>
              <a:lnSpc>
                <a:spcPct val="135000"/>
              </a:lnSpc>
            </a:pPr>
            <a:r>
              <a:rPr sz="1600" b="0">
                <a:solidFill>
                  <a:srgbClr val="C3C2B7"/>
                </a:solidFill>
                <a:latin typeface="Calibri"/>
              </a:rPr>
              <a:t>Ce que les données disent — et ce qu'elles ne disent pas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Le danger monte. Les feux, non.</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Deux fenêtres d'observation, deux conclusions — et il faut dire laquelle croire.</a:t>
            </a:r>
          </a:p>
        </p:txBody>
      </p:sp>
      <p:pic>
        <p:nvPicPr>
          <p:cNvPr id="5" name="Picture 4" descr="tendance.png"/>
          <p:cNvPicPr>
            <a:picLocks noChangeAspect="1"/>
          </p:cNvPicPr>
          <p:nvPr/>
        </p:nvPicPr>
        <p:blipFill>
          <a:blip r:embed="rId2"/>
          <a:stretch>
            <a:fillRect/>
          </a:stretch>
        </p:blipFill>
        <p:spPr>
          <a:xfrm>
            <a:off x="2353329" y="1944000"/>
            <a:ext cx="7461341" cy="2592000"/>
          </a:xfrm>
          <a:prstGeom prst="rect">
            <a:avLst/>
          </a:prstGeom>
        </p:spPr>
      </p:pic>
      <p:graphicFrame>
        <p:nvGraphicFramePr>
          <p:cNvPr id="6" name="Table 5"/>
          <p:cNvGraphicFramePr>
            <a:graphicFrameLocks noGrp="1"/>
          </p:cNvGraphicFramePr>
          <p:nvPr/>
        </p:nvGraphicFramePr>
        <p:xfrm>
          <a:off x="684000" y="4752000"/>
          <a:ext cx="9720000" cy="1800000"/>
        </p:xfrm>
        <a:graphic>
          <a:graphicData uri="http://schemas.openxmlformats.org/drawingml/2006/table">
            <a:tbl>
              <a:tblPr firstRow="1" bandRow="1">
                <a:tableStyleId>{5C22544A-7EE6-4342-B048-85BDC9FD1C3A}</a:tableStyleId>
              </a:tblPr>
              <a:tblGrid>
                <a:gridCol w="2880000"/>
                <a:gridCol w="1800000"/>
                <a:gridCol w="1800000"/>
                <a:gridCol w="1620000"/>
                <a:gridCol w="1620000"/>
              </a:tblGrid>
              <a:tr h="360000">
                <a:tc>
                  <a:txBody>
                    <a:bodyPr/>
                    <a:lstStyle/>
                    <a:p>
                      <a:r>
                        <a:rPr sz="1300" b="1">
                          <a:solidFill>
                            <a:srgbClr val="FCFCFB"/>
                          </a:solidFill>
                          <a:latin typeface="Calibri"/>
                        </a:rPr>
                        <a:t>Série</a:t>
                      </a:r>
                    </a:p>
                  </a:txBody>
                  <a:tcPr>
                    <a:solidFill>
                      <a:srgbClr val="0B0B0B"/>
                    </a:solidFill>
                  </a:tcPr>
                </a:tc>
                <a:tc>
                  <a:txBody>
                    <a:bodyPr/>
                    <a:lstStyle/>
                    <a:p>
                      <a:r>
                        <a:rPr sz="1300" b="1">
                          <a:solidFill>
                            <a:srgbClr val="FCFCFB"/>
                          </a:solidFill>
                          <a:latin typeface="Calibri"/>
                        </a:rPr>
                        <a:t>Période</a:t>
                      </a:r>
                    </a:p>
                  </a:txBody>
                  <a:tcPr>
                    <a:solidFill>
                      <a:srgbClr val="0B0B0B"/>
                    </a:solidFill>
                  </a:tcPr>
                </a:tc>
                <a:tc>
                  <a:txBody>
                    <a:bodyPr/>
                    <a:lstStyle/>
                    <a:p>
                      <a:r>
                        <a:rPr sz="1300" b="1">
                          <a:solidFill>
                            <a:srgbClr val="FCFCFB"/>
                          </a:solidFill>
                          <a:latin typeface="Calibri"/>
                        </a:rPr>
                        <a:t>Variation</a:t>
                      </a:r>
                    </a:p>
                  </a:txBody>
                  <a:tcPr>
                    <a:solidFill>
                      <a:srgbClr val="0B0B0B"/>
                    </a:solidFill>
                  </a:tcPr>
                </a:tc>
                <a:tc>
                  <a:txBody>
                    <a:bodyPr/>
                    <a:lstStyle/>
                    <a:p>
                      <a:r>
                        <a:rPr sz="1300" b="1">
                          <a:solidFill>
                            <a:srgbClr val="FCFCFB"/>
                          </a:solidFill>
                          <a:latin typeface="Calibri"/>
                        </a:rPr>
                        <a:t>p</a:t>
                      </a:r>
                    </a:p>
                  </a:txBody>
                  <a:tcPr>
                    <a:solidFill>
                      <a:srgbClr val="0B0B0B"/>
                    </a:solidFill>
                  </a:tcPr>
                </a:tc>
                <a:tc>
                  <a:txBody>
                    <a:bodyPr/>
                    <a:lstStyle/>
                    <a:p>
                      <a:r>
                        <a:rPr sz="1300" b="1">
                          <a:solidFill>
                            <a:srgbClr val="FCFCFB"/>
                          </a:solidFill>
                          <a:latin typeface="Calibri"/>
                        </a:rPr>
                        <a:t>Verdict</a:t>
                      </a:r>
                    </a:p>
                  </a:txBody>
                  <a:tcPr>
                    <a:solidFill>
                      <a:srgbClr val="0B0B0B"/>
                    </a:solidFill>
                  </a:tcPr>
                </a:tc>
              </a:tr>
              <a:tr h="360000">
                <a:tc>
                  <a:txBody>
                    <a:bodyPr/>
                    <a:lstStyle/>
                    <a:p>
                      <a:r>
                        <a:rPr sz="1300" b="0">
                          <a:solidFill>
                            <a:srgbClr val="6B6963"/>
                          </a:solidFill>
                          <a:latin typeface="Calibri"/>
                        </a:rPr>
                        <a:t>FWI moyen annuel</a:t>
                      </a:r>
                    </a:p>
                  </a:txBody>
                  <a:tcPr>
                    <a:solidFill>
                      <a:srgbClr val="FCFCFB"/>
                    </a:solidFill>
                  </a:tcPr>
                </a:tc>
                <a:tc>
                  <a:txBody>
                    <a:bodyPr/>
                    <a:lstStyle/>
                    <a:p>
                      <a:r>
                        <a:rPr sz="1300" b="0">
                          <a:solidFill>
                            <a:srgbClr val="6B6963"/>
                          </a:solidFill>
                          <a:latin typeface="Calibri"/>
                        </a:rPr>
                        <a:t>1973-2025</a:t>
                      </a:r>
                    </a:p>
                  </a:txBody>
                  <a:tcPr>
                    <a:solidFill>
                      <a:srgbClr val="FCFCFB"/>
                    </a:solidFill>
                  </a:tcPr>
                </a:tc>
                <a:tc>
                  <a:txBody>
                    <a:bodyPr/>
                    <a:lstStyle/>
                    <a:p>
                      <a:r>
                        <a:rPr sz="1300" b="0">
                          <a:solidFill>
                            <a:srgbClr val="6B6963"/>
                          </a:solidFill>
                          <a:latin typeface="Calibri"/>
                        </a:rPr>
                        <a:t>+58 %</a:t>
                      </a:r>
                    </a:p>
                  </a:txBody>
                  <a:tcPr>
                    <a:solidFill>
                      <a:srgbClr val="FCFCFB"/>
                    </a:solidFill>
                  </a:tcPr>
                </a:tc>
                <a:tc>
                  <a:txBody>
                    <a:bodyPr/>
                    <a:lstStyle/>
                    <a:p>
                      <a:r>
                        <a:rPr sz="1300" b="0">
                          <a:solidFill>
                            <a:srgbClr val="6B6963"/>
                          </a:solidFill>
                          <a:latin typeface="Calibri"/>
                        </a:rPr>
                        <a:t>4.2e-05</a:t>
                      </a:r>
                    </a:p>
                  </a:txBody>
                  <a:tcPr>
                    <a:solidFill>
                      <a:srgbClr val="FCFCFB"/>
                    </a:solidFill>
                  </a:tcPr>
                </a:tc>
                <a:tc>
                  <a:txBody>
                    <a:bodyPr/>
                    <a:lstStyle/>
                    <a:p>
                      <a:r>
                        <a:rPr sz="1300" b="0">
                          <a:solidFill>
                            <a:srgbClr val="6B6963"/>
                          </a:solidFill>
                          <a:latin typeface="Calibri"/>
                        </a:rPr>
                        <a:t>significatif</a:t>
                      </a:r>
                    </a:p>
                  </a:txBody>
                  <a:tcPr>
                    <a:solidFill>
                      <a:srgbClr val="FCFCFB"/>
                    </a:solidFill>
                  </a:tcPr>
                </a:tc>
              </a:tr>
              <a:tr h="360000">
                <a:tc>
                  <a:txBody>
                    <a:bodyPr/>
                    <a:lstStyle/>
                    <a:p>
                      <a:r>
                        <a:rPr sz="1300" b="0">
                          <a:solidFill>
                            <a:srgbClr val="6B6963"/>
                          </a:solidFill>
                          <a:latin typeface="Calibri"/>
                        </a:rPr>
                        <a:t>FWI juin-septembre</a:t>
                      </a:r>
                    </a:p>
                  </a:txBody>
                  <a:tcPr>
                    <a:solidFill>
                      <a:srgbClr val="FCFCFB"/>
                    </a:solidFill>
                  </a:tcPr>
                </a:tc>
                <a:tc>
                  <a:txBody>
                    <a:bodyPr/>
                    <a:lstStyle/>
                    <a:p>
                      <a:r>
                        <a:rPr sz="1300" b="0">
                          <a:solidFill>
                            <a:srgbClr val="6B6963"/>
                          </a:solidFill>
                          <a:latin typeface="Calibri"/>
                        </a:rPr>
                        <a:t>1973-2025</a:t>
                      </a:r>
                    </a:p>
                  </a:txBody>
                  <a:tcPr>
                    <a:solidFill>
                      <a:srgbClr val="FCFCFB"/>
                    </a:solidFill>
                  </a:tcPr>
                </a:tc>
                <a:tc>
                  <a:txBody>
                    <a:bodyPr/>
                    <a:lstStyle/>
                    <a:p>
                      <a:r>
                        <a:rPr sz="1300" b="0">
                          <a:solidFill>
                            <a:srgbClr val="6B6963"/>
                          </a:solidFill>
                          <a:latin typeface="Calibri"/>
                        </a:rPr>
                        <a:t>+62 %</a:t>
                      </a:r>
                    </a:p>
                  </a:txBody>
                  <a:tcPr>
                    <a:solidFill>
                      <a:srgbClr val="FCFCFB"/>
                    </a:solidFill>
                  </a:tcPr>
                </a:tc>
                <a:tc>
                  <a:txBody>
                    <a:bodyPr/>
                    <a:lstStyle/>
                    <a:p>
                      <a:r>
                        <a:rPr sz="1300" b="0">
                          <a:solidFill>
                            <a:srgbClr val="6B6963"/>
                          </a:solidFill>
                          <a:latin typeface="Calibri"/>
                        </a:rPr>
                        <a:t>1.5e-04</a:t>
                      </a:r>
                    </a:p>
                  </a:txBody>
                  <a:tcPr>
                    <a:solidFill>
                      <a:srgbClr val="FCFCFB"/>
                    </a:solidFill>
                  </a:tcPr>
                </a:tc>
                <a:tc>
                  <a:txBody>
                    <a:bodyPr/>
                    <a:lstStyle/>
                    <a:p>
                      <a:r>
                        <a:rPr sz="1300" b="0">
                          <a:solidFill>
                            <a:srgbClr val="6B6963"/>
                          </a:solidFill>
                          <a:latin typeface="Calibri"/>
                        </a:rPr>
                        <a:t>significatif</a:t>
                      </a:r>
                    </a:p>
                  </a:txBody>
                  <a:tcPr>
                    <a:solidFill>
                      <a:srgbClr val="FCFCFB"/>
                    </a:solidFill>
                  </a:tcPr>
                </a:tc>
              </a:tr>
              <a:tr h="360000">
                <a:tc>
                  <a:txBody>
                    <a:bodyPr/>
                    <a:lstStyle/>
                    <a:p>
                      <a:r>
                        <a:rPr sz="1300" b="0">
                          <a:solidFill>
                            <a:srgbClr val="6B6963"/>
                          </a:solidFill>
                          <a:latin typeface="Calibri"/>
                        </a:rPr>
                        <a:t>jours de danger élevé</a:t>
                      </a:r>
                    </a:p>
                  </a:txBody>
                  <a:tcPr>
                    <a:solidFill>
                      <a:srgbClr val="FCFCFB"/>
                    </a:solidFill>
                  </a:tcPr>
                </a:tc>
                <a:tc>
                  <a:txBody>
                    <a:bodyPr/>
                    <a:lstStyle/>
                    <a:p>
                      <a:r>
                        <a:rPr sz="1300" b="0">
                          <a:solidFill>
                            <a:srgbClr val="6B6963"/>
                          </a:solidFill>
                          <a:latin typeface="Calibri"/>
                        </a:rPr>
                        <a:t>1973-2025</a:t>
                      </a:r>
                    </a:p>
                  </a:txBody>
                  <a:tcPr>
                    <a:solidFill>
                      <a:srgbClr val="FCFCFB"/>
                    </a:solidFill>
                  </a:tcPr>
                </a:tc>
                <a:tc>
                  <a:txBody>
                    <a:bodyPr/>
                    <a:lstStyle/>
                    <a:p>
                      <a:r>
                        <a:rPr sz="1300" b="0">
                          <a:solidFill>
                            <a:srgbClr val="6B6963"/>
                          </a:solidFill>
                          <a:latin typeface="Calibri"/>
                        </a:rPr>
                        <a:t>+197 %</a:t>
                      </a:r>
                    </a:p>
                  </a:txBody>
                  <a:tcPr>
                    <a:solidFill>
                      <a:srgbClr val="FCFCFB"/>
                    </a:solidFill>
                  </a:tcPr>
                </a:tc>
                <a:tc>
                  <a:txBody>
                    <a:bodyPr/>
                    <a:lstStyle/>
                    <a:p>
                      <a:r>
                        <a:rPr sz="1300" b="0">
                          <a:solidFill>
                            <a:srgbClr val="6B6963"/>
                          </a:solidFill>
                          <a:latin typeface="Calibri"/>
                        </a:rPr>
                        <a:t>5.2e-05</a:t>
                      </a:r>
                    </a:p>
                  </a:txBody>
                  <a:tcPr>
                    <a:solidFill>
                      <a:srgbClr val="FCFCFB"/>
                    </a:solidFill>
                  </a:tcPr>
                </a:tc>
                <a:tc>
                  <a:txBody>
                    <a:bodyPr/>
                    <a:lstStyle/>
                    <a:p>
                      <a:r>
                        <a:rPr sz="1300" b="0">
                          <a:solidFill>
                            <a:srgbClr val="6B6963"/>
                          </a:solidFill>
                          <a:latin typeface="Calibri"/>
                        </a:rPr>
                        <a:t>significatif</a:t>
                      </a:r>
                    </a:p>
                  </a:txBody>
                  <a:tcPr>
                    <a:solidFill>
                      <a:srgbClr val="FCFCFB"/>
                    </a:solidFill>
                  </a:tcPr>
                </a:tc>
              </a:tr>
              <a:tr h="360000">
                <a:tc>
                  <a:txBody>
                    <a:bodyPr/>
                    <a:lstStyle/>
                    <a:p>
                      <a:r>
                        <a:rPr sz="1300" b="1">
                          <a:solidFill>
                            <a:srgbClr val="0B0B0B"/>
                          </a:solidFill>
                          <a:latin typeface="Calibri"/>
                        </a:rPr>
                        <a:t>communes-jours en feu</a:t>
                      </a:r>
                    </a:p>
                  </a:txBody>
                  <a:tcPr>
                    <a:solidFill>
                      <a:srgbClr val="F2F1EC"/>
                    </a:solidFill>
                  </a:tcPr>
                </a:tc>
                <a:tc>
                  <a:txBody>
                    <a:bodyPr/>
                    <a:lstStyle/>
                    <a:p>
                      <a:r>
                        <a:rPr sz="1300" b="1">
                          <a:solidFill>
                            <a:srgbClr val="0B0B0B"/>
                          </a:solidFill>
                          <a:latin typeface="Calibri"/>
                        </a:rPr>
                        <a:t>2006-2025</a:t>
                      </a:r>
                    </a:p>
                  </a:txBody>
                  <a:tcPr>
                    <a:solidFill>
                      <a:srgbClr val="F2F1EC"/>
                    </a:solidFill>
                  </a:tcPr>
                </a:tc>
                <a:tc>
                  <a:txBody>
                    <a:bodyPr/>
                    <a:lstStyle/>
                    <a:p>
                      <a:r>
                        <a:rPr sz="1300" b="1">
                          <a:solidFill>
                            <a:srgbClr val="0B0B0B"/>
                          </a:solidFill>
                          <a:latin typeface="Calibri"/>
                        </a:rPr>
                        <a:t>+3 %</a:t>
                      </a:r>
                    </a:p>
                  </a:txBody>
                  <a:tcPr>
                    <a:solidFill>
                      <a:srgbClr val="F2F1EC"/>
                    </a:solidFill>
                  </a:tcPr>
                </a:tc>
                <a:tc>
                  <a:txBody>
                    <a:bodyPr/>
                    <a:lstStyle/>
                    <a:p>
                      <a:r>
                        <a:rPr sz="1300" b="1">
                          <a:solidFill>
                            <a:srgbClr val="0B0B0B"/>
                          </a:solidFill>
                          <a:latin typeface="Calibri"/>
                        </a:rPr>
                        <a:t>0.89</a:t>
                      </a:r>
                    </a:p>
                  </a:txBody>
                  <a:tcPr>
                    <a:solidFill>
                      <a:srgbClr val="F2F1EC"/>
                    </a:solidFill>
                  </a:tcPr>
                </a:tc>
                <a:tc>
                  <a:txBody>
                    <a:bodyPr/>
                    <a:lstStyle/>
                    <a:p>
                      <a:r>
                        <a:rPr sz="1300" b="1">
                          <a:solidFill>
                            <a:srgbClr val="0B0B0B"/>
                          </a:solidFill>
                          <a:latin typeface="Calibri"/>
                        </a:rPr>
                        <a:t>NON significatif</a:t>
                      </a:r>
                    </a:p>
                  </a:txBody>
                  <a:tcPr>
                    <a:solidFill>
                      <a:srgbClr val="F2F1E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Projeter jusqu'en 2100 — et ce que ça ne veut PAS dire</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Trois scénarios GIEC, appliqués à l'aléa météo.</a:t>
            </a:r>
          </a:p>
        </p:txBody>
      </p:sp>
      <p:pic>
        <p:nvPicPr>
          <p:cNvPr id="5" name="Picture 4" descr="02_le-risque-de-fond-en-2041-2055-a-vegetation-relief-et-preven.png"/>
          <p:cNvPicPr>
            <a:picLocks noChangeAspect="1"/>
          </p:cNvPicPr>
          <p:nvPr/>
        </p:nvPicPr>
        <p:blipFill>
          <a:blip r:embed="rId2"/>
          <a:stretch>
            <a:fillRect/>
          </a:stretch>
        </p:blipFill>
        <p:spPr>
          <a:xfrm>
            <a:off x="684000" y="2748660"/>
            <a:ext cx="6480000" cy="2062678"/>
          </a:xfrm>
          <a:prstGeom prst="rect">
            <a:avLst/>
          </a:prstGeom>
        </p:spPr>
      </p:pic>
      <p:sp>
        <p:nvSpPr>
          <p:cNvPr id="6" name="TextBox 5"/>
          <p:cNvSpPr txBox="1"/>
          <p:nvPr/>
        </p:nvSpPr>
        <p:spPr>
          <a:xfrm>
            <a:off x="7488000" y="1944000"/>
            <a:ext cx="4068000" cy="432000"/>
          </a:xfrm>
          <a:prstGeom prst="rect">
            <a:avLst/>
          </a:prstGeom>
          <a:noFill/>
        </p:spPr>
        <p:txBody>
          <a:bodyPr wrap="square">
            <a:spAutoFit/>
          </a:bodyPr>
          <a:lstStyle/>
          <a:p>
            <a:pPr>
              <a:lnSpc>
                <a:spcPct val="125000"/>
              </a:lnSpc>
            </a:pPr>
            <a:r>
              <a:rPr sz="1250" b="1">
                <a:solidFill>
                  <a:srgbClr val="0B0B0B"/>
                </a:solidFill>
                <a:latin typeface="Calibri"/>
              </a:rPr>
              <a:t>Ce qu'on projette</a:t>
            </a:r>
          </a:p>
        </p:txBody>
      </p:sp>
      <p:sp>
        <p:nvSpPr>
          <p:cNvPr id="7" name="TextBox 6"/>
          <p:cNvSpPr txBox="1"/>
          <p:nvPr/>
        </p:nvSpPr>
        <p:spPr>
          <a:xfrm>
            <a:off x="7488000" y="2376000"/>
            <a:ext cx="4068000" cy="432000"/>
          </a:xfrm>
          <a:prstGeom prst="rect">
            <a:avLst/>
          </a:prstGeom>
          <a:noFill/>
        </p:spPr>
        <p:txBody>
          <a:bodyPr wrap="square">
            <a:spAutoFit/>
          </a:bodyPr>
          <a:lstStyle/>
          <a:p>
            <a:pPr>
              <a:lnSpc>
                <a:spcPct val="125000"/>
              </a:lnSpc>
            </a:pPr>
            <a:r>
              <a:rPr sz="1250" b="0">
                <a:solidFill>
                  <a:srgbClr val="6B6963"/>
                </a:solidFill>
                <a:latin typeface="Calibri"/>
              </a:rPr>
              <a:t>— Le FWI — seule quantité qui montre un signal, et seule que les modèles climatiques savent fournir.</a:t>
            </a:r>
          </a:p>
        </p:txBody>
      </p:sp>
      <p:sp>
        <p:nvSpPr>
          <p:cNvPr id="8" name="TextBox 7"/>
          <p:cNvSpPr txBox="1"/>
          <p:nvPr/>
        </p:nvSpPr>
        <p:spPr>
          <a:xfrm>
            <a:off x="7488000" y="2808000"/>
            <a:ext cx="4068000" cy="432000"/>
          </a:xfrm>
          <a:prstGeom prst="rect">
            <a:avLst/>
          </a:prstGeom>
          <a:noFill/>
        </p:spPr>
        <p:txBody>
          <a:bodyPr wrap="square">
            <a:spAutoFit/>
          </a:bodyPr>
          <a:lstStyle/>
          <a:p>
            <a:pPr>
              <a:lnSpc>
                <a:spcPct val="125000"/>
              </a:lnSpc>
            </a:pPr>
            <a:r>
              <a:rPr sz="1250" b="1">
                <a:solidFill>
                  <a:srgbClr val="0B0B0B"/>
                </a:solidFill>
                <a:latin typeface="Calibri"/>
              </a:rPr>
              <a:t>Ce qu'on ne projette pas</a:t>
            </a:r>
          </a:p>
        </p:txBody>
      </p:sp>
      <p:sp>
        <p:nvSpPr>
          <p:cNvPr id="9" name="TextBox 8"/>
          <p:cNvSpPr txBox="1"/>
          <p:nvPr/>
        </p:nvSpPr>
        <p:spPr>
          <a:xfrm>
            <a:off x="7488000" y="3240000"/>
            <a:ext cx="4068000" cy="432000"/>
          </a:xfrm>
          <a:prstGeom prst="rect">
            <a:avLst/>
          </a:prstGeom>
          <a:noFill/>
        </p:spPr>
        <p:txBody>
          <a:bodyPr wrap="square">
            <a:spAutoFit/>
          </a:bodyPr>
          <a:lstStyle/>
          <a:p>
            <a:pPr>
              <a:lnSpc>
                <a:spcPct val="125000"/>
              </a:lnSpc>
            </a:pPr>
            <a:r>
              <a:rPr sz="1250" b="0">
                <a:solidFill>
                  <a:srgbClr val="6B6963"/>
                </a:solidFill>
                <a:latin typeface="Calibri"/>
              </a:rPr>
              <a:t>— Le nombre de feux. La végétation, la prévention et les pratiques agricoles sont supposées constantes : c'est une hypothèse, et elle est fausse.</a:t>
            </a:r>
          </a:p>
        </p:txBody>
      </p:sp>
      <p:sp>
        <p:nvSpPr>
          <p:cNvPr id="10" name="TextBox 9"/>
          <p:cNvSpPr txBox="1"/>
          <p:nvPr/>
        </p:nvSpPr>
        <p:spPr>
          <a:xfrm>
            <a:off x="7488000" y="3671999"/>
            <a:ext cx="4068000" cy="432000"/>
          </a:xfrm>
          <a:prstGeom prst="rect">
            <a:avLst/>
          </a:prstGeom>
          <a:noFill/>
        </p:spPr>
        <p:txBody>
          <a:bodyPr wrap="square">
            <a:spAutoFit/>
          </a:bodyPr>
          <a:lstStyle/>
          <a:p>
            <a:pPr>
              <a:lnSpc>
                <a:spcPct val="125000"/>
              </a:lnSpc>
            </a:pPr>
            <a:r>
              <a:rPr sz="1250" b="1">
                <a:solidFill>
                  <a:srgbClr val="0B0B0B"/>
                </a:solidFill>
                <a:latin typeface="Calibri"/>
              </a:rPr>
              <a:t>Ce que « le 2 août 2050 » veut dire</a:t>
            </a:r>
          </a:p>
        </p:txBody>
      </p:sp>
      <p:sp>
        <p:nvSpPr>
          <p:cNvPr id="11" name="TextBox 10"/>
          <p:cNvSpPr txBox="1"/>
          <p:nvPr/>
        </p:nvSpPr>
        <p:spPr>
          <a:xfrm>
            <a:off x="7488000" y="4104000"/>
            <a:ext cx="4068000" cy="432000"/>
          </a:xfrm>
          <a:prstGeom prst="rect">
            <a:avLst/>
          </a:prstGeom>
          <a:noFill/>
        </p:spPr>
        <p:txBody>
          <a:bodyPr wrap="square">
            <a:spAutoFit/>
          </a:bodyPr>
          <a:lstStyle/>
          <a:p>
            <a:pPr>
              <a:lnSpc>
                <a:spcPct val="125000"/>
              </a:lnSpc>
            </a:pPr>
            <a:r>
              <a:rPr sz="1250" b="0">
                <a:solidFill>
                  <a:srgbClr val="6B6963"/>
                </a:solidFill>
                <a:latin typeface="Calibri"/>
              </a:rPr>
              <a:t>— Pas une prévision météo : un 2 août ORDINAIRE sous le climat de 2050. La forme de la saison vient des observations, seul son niveau est décalé.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84000" y="2268000"/>
            <a:ext cx="2160000" cy="503999"/>
          </a:xfrm>
          <a:prstGeom prst="rect">
            <a:avLst/>
          </a:prstGeom>
          <a:noFill/>
        </p:spPr>
        <p:txBody>
          <a:bodyPr wrap="square">
            <a:spAutoFit/>
          </a:bodyPr>
          <a:lstStyle/>
          <a:p>
            <a:pPr>
              <a:lnSpc>
                <a:spcPct val="125000"/>
              </a:lnSpc>
            </a:pPr>
            <a:r>
              <a:rPr sz="1500" b="1">
                <a:solidFill>
                  <a:srgbClr val="E34948"/>
                </a:solidFill>
                <a:latin typeface="Calibri"/>
              </a:rPr>
              <a:t>06</a:t>
            </a:r>
          </a:p>
        </p:txBody>
      </p:sp>
      <p:sp>
        <p:nvSpPr>
          <p:cNvPr id="3" name="TextBox 2"/>
          <p:cNvSpPr txBox="1"/>
          <p:nvPr/>
        </p:nvSpPr>
        <p:spPr>
          <a:xfrm>
            <a:off x="684000" y="2628000"/>
            <a:ext cx="10080000" cy="1080000"/>
          </a:xfrm>
          <a:prstGeom prst="rect">
            <a:avLst/>
          </a:prstGeom>
          <a:noFill/>
        </p:spPr>
        <p:txBody>
          <a:bodyPr wrap="square">
            <a:spAutoFit/>
          </a:bodyPr>
          <a:lstStyle/>
          <a:p>
            <a:pPr>
              <a:lnSpc>
                <a:spcPct val="110000"/>
              </a:lnSpc>
            </a:pPr>
            <a:r>
              <a:rPr sz="3400" b="1">
                <a:solidFill>
                  <a:srgbClr val="FCFCFB"/>
                </a:solidFill>
                <a:latin typeface="Calibri"/>
              </a:rPr>
              <a:t>Rigueur</a:t>
            </a:r>
          </a:p>
        </p:txBody>
      </p:sp>
      <p:sp>
        <p:nvSpPr>
          <p:cNvPr id="4" name="TextBox 3"/>
          <p:cNvSpPr txBox="1"/>
          <p:nvPr/>
        </p:nvSpPr>
        <p:spPr>
          <a:xfrm>
            <a:off x="684000" y="4104000"/>
            <a:ext cx="9360000" cy="900000"/>
          </a:xfrm>
          <a:prstGeom prst="rect">
            <a:avLst/>
          </a:prstGeom>
          <a:noFill/>
        </p:spPr>
        <p:txBody>
          <a:bodyPr wrap="square">
            <a:spAutoFit/>
          </a:bodyPr>
          <a:lstStyle/>
          <a:p>
            <a:pPr>
              <a:lnSpc>
                <a:spcPct val="135000"/>
              </a:lnSpc>
            </a:pPr>
            <a:r>
              <a:rPr sz="1600" b="0">
                <a:solidFill>
                  <a:srgbClr val="C3C2B7"/>
                </a:solidFill>
                <a:latin typeface="Calibri"/>
              </a:rPr>
              <a:t>Les erreurs commises, et comment elles ont été trouvées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Le premier verdict du LSTM annonçait −97 %. Le vrai est −52 %.</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L'écart ne venait pas du modèle, mais de la façon de comparer deux fichiers.</a:t>
            </a:r>
          </a:p>
        </p:txBody>
      </p:sp>
      <p:pic>
        <p:nvPicPr>
          <p:cNvPr id="5" name="Picture 4" descr="alignement.png"/>
          <p:cNvPicPr>
            <a:picLocks noChangeAspect="1"/>
          </p:cNvPicPr>
          <p:nvPr/>
        </p:nvPicPr>
        <p:blipFill>
          <a:blip r:embed="rId2"/>
          <a:stretch>
            <a:fillRect/>
          </a:stretch>
        </p:blipFill>
        <p:spPr>
          <a:xfrm>
            <a:off x="927364" y="1944000"/>
            <a:ext cx="5633271" cy="3311999"/>
          </a:xfrm>
          <a:prstGeom prst="rect">
            <a:avLst/>
          </a:prstGeom>
        </p:spPr>
      </p:pic>
      <p:sp>
        <p:nvSpPr>
          <p:cNvPr id="6" name="TextBox 5"/>
          <p:cNvSpPr txBox="1"/>
          <p:nvPr/>
        </p:nvSpPr>
        <p:spPr>
          <a:xfrm>
            <a:off x="7020000" y="1944000"/>
            <a:ext cx="4536000" cy="432000"/>
          </a:xfrm>
          <a:prstGeom prst="rect">
            <a:avLst/>
          </a:prstGeom>
          <a:noFill/>
        </p:spPr>
        <p:txBody>
          <a:bodyPr wrap="square">
            <a:spAutoFit/>
          </a:bodyPr>
          <a:lstStyle/>
          <a:p>
            <a:pPr>
              <a:lnSpc>
                <a:spcPct val="125000"/>
              </a:lnSpc>
            </a:pPr>
            <a:r>
              <a:rPr sz="1250" b="1">
                <a:solidFill>
                  <a:srgbClr val="0B0B0B"/>
                </a:solidFill>
                <a:latin typeface="Calibri"/>
              </a:rPr>
              <a:t>La cause</a:t>
            </a:r>
          </a:p>
        </p:txBody>
      </p:sp>
      <p:sp>
        <p:nvSpPr>
          <p:cNvPr id="7" name="TextBox 6"/>
          <p:cNvSpPr txBox="1"/>
          <p:nvPr/>
        </p:nvSpPr>
        <p:spPr>
          <a:xfrm>
            <a:off x="7020000" y="2376000"/>
            <a:ext cx="4536000" cy="432000"/>
          </a:xfrm>
          <a:prstGeom prst="rect">
            <a:avLst/>
          </a:prstGeom>
          <a:noFill/>
        </p:spPr>
        <p:txBody>
          <a:bodyPr wrap="square">
            <a:spAutoFit/>
          </a:bodyPr>
          <a:lstStyle/>
          <a:p>
            <a:pPr>
              <a:lnSpc>
                <a:spcPct val="125000"/>
              </a:lnSpc>
            </a:pPr>
            <a:r>
              <a:rPr sz="1250" b="0">
                <a:solidFill>
                  <a:srgbClr val="6B6963"/>
                </a:solidFill>
                <a:latin typeface="Calibri"/>
              </a:rPr>
              <a:t>— La requête d'assemblage n'a pas d'ORDER BY. L'ordre des 38 M lignes que renvoie PostgreSQL dépend du plan d'exécution, et change d'une exécution à l'autre.</a:t>
            </a:r>
          </a:p>
        </p:txBody>
      </p:sp>
      <p:sp>
        <p:nvSpPr>
          <p:cNvPr id="8" name="TextBox 7"/>
          <p:cNvSpPr txBox="1"/>
          <p:nvPr/>
        </p:nvSpPr>
        <p:spPr>
          <a:xfrm>
            <a:off x="7020000" y="2808000"/>
            <a:ext cx="4536000" cy="432000"/>
          </a:xfrm>
          <a:prstGeom prst="rect">
            <a:avLst/>
          </a:prstGeom>
          <a:noFill/>
        </p:spPr>
        <p:txBody>
          <a:bodyPr wrap="square">
            <a:spAutoFit/>
          </a:bodyPr>
          <a:lstStyle/>
          <a:p>
            <a:pPr>
              <a:lnSpc>
                <a:spcPct val="125000"/>
              </a:lnSpc>
            </a:pPr>
            <a:r>
              <a:rPr sz="1250" b="1">
                <a:solidFill>
                  <a:srgbClr val="0B0B0B"/>
                </a:solidFill>
                <a:latin typeface="Calibri"/>
              </a:rPr>
              <a:t>Pourquoi c'est invisible</a:t>
            </a:r>
          </a:p>
        </p:txBody>
      </p:sp>
      <p:sp>
        <p:nvSpPr>
          <p:cNvPr id="9" name="TextBox 8"/>
          <p:cNvSpPr txBox="1"/>
          <p:nvPr/>
        </p:nvSpPr>
        <p:spPr>
          <a:xfrm>
            <a:off x="7020000" y="3240000"/>
            <a:ext cx="4536000" cy="432000"/>
          </a:xfrm>
          <a:prstGeom prst="rect">
            <a:avLst/>
          </a:prstGeom>
          <a:noFill/>
        </p:spPr>
        <p:txBody>
          <a:bodyPr wrap="square">
            <a:spAutoFit/>
          </a:bodyPr>
          <a:lstStyle/>
          <a:p>
            <a:pPr>
              <a:lnSpc>
                <a:spcPct val="125000"/>
              </a:lnSpc>
            </a:pPr>
            <a:r>
              <a:rPr sz="1250" b="0">
                <a:solidFill>
                  <a:srgbClr val="6B6963"/>
                </a:solidFill>
                <a:latin typeface="Calibri"/>
              </a:rPr>
              <a:t>— Les fichiers ne portaient que (score, cible). Même taille, même nombre de feux, ordre différent : rien ne lève d'erreur.</a:t>
            </a:r>
          </a:p>
        </p:txBody>
      </p:sp>
      <p:sp>
        <p:nvSpPr>
          <p:cNvPr id="10" name="TextBox 9"/>
          <p:cNvSpPr txBox="1"/>
          <p:nvPr/>
        </p:nvSpPr>
        <p:spPr>
          <a:xfrm>
            <a:off x="7020000" y="3671999"/>
            <a:ext cx="4536000" cy="432000"/>
          </a:xfrm>
          <a:prstGeom prst="rect">
            <a:avLst/>
          </a:prstGeom>
          <a:noFill/>
        </p:spPr>
        <p:txBody>
          <a:bodyPr wrap="square">
            <a:spAutoFit/>
          </a:bodyPr>
          <a:lstStyle/>
          <a:p>
            <a:pPr>
              <a:lnSpc>
                <a:spcPct val="125000"/>
              </a:lnSpc>
            </a:pPr>
            <a:r>
              <a:rPr sz="1250" b="1">
                <a:solidFill>
                  <a:srgbClr val="0B0B0B"/>
                </a:solidFill>
                <a:latin typeface="Calibri"/>
              </a:rPr>
              <a:t>La parade</a:t>
            </a:r>
          </a:p>
        </p:txBody>
      </p:sp>
      <p:sp>
        <p:nvSpPr>
          <p:cNvPr id="11" name="TextBox 10"/>
          <p:cNvSpPr txBox="1"/>
          <p:nvPr/>
        </p:nvSpPr>
        <p:spPr>
          <a:xfrm>
            <a:off x="7020000" y="4104000"/>
            <a:ext cx="4536000" cy="432000"/>
          </a:xfrm>
          <a:prstGeom prst="rect">
            <a:avLst/>
          </a:prstGeom>
          <a:noFill/>
        </p:spPr>
        <p:txBody>
          <a:bodyPr wrap="square">
            <a:spAutoFit/>
          </a:bodyPr>
          <a:lstStyle/>
          <a:p>
            <a:pPr>
              <a:lnSpc>
                <a:spcPct val="125000"/>
              </a:lnSpc>
            </a:pPr>
            <a:r>
              <a:rPr sz="1250" b="0">
                <a:solidFill>
                  <a:srgbClr val="6B6963"/>
                </a:solidFill>
                <a:latin typeface="Calibri"/>
              </a:rPr>
              <a:t>— Tout fichier porte désormais ses clés (code_insee, date) ; une fonction d'alignement vérifie ; un test REFUSE un fichier sans clés.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Les autres erreurs, trouvées et corrigées</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Sur un événement à 0,02 %, une erreur ne se manifeste jamais par une exception. Elle se manifeste par un chiffre plausible.</a:t>
            </a:r>
          </a:p>
        </p:txBody>
      </p:sp>
      <p:graphicFrame>
        <p:nvGraphicFramePr>
          <p:cNvPr id="5" name="Table 4"/>
          <p:cNvGraphicFramePr>
            <a:graphicFrameLocks noGrp="1"/>
          </p:cNvGraphicFramePr>
          <p:nvPr/>
        </p:nvGraphicFramePr>
        <p:xfrm>
          <a:off x="684000" y="1944000"/>
          <a:ext cx="10800000" cy="3311999"/>
        </p:xfrm>
        <a:graphic>
          <a:graphicData uri="http://schemas.openxmlformats.org/drawingml/2006/table">
            <a:tbl>
              <a:tblPr firstRow="1" bandRow="1">
                <a:tableStyleId>{5C22544A-7EE6-4342-B048-85BDC9FD1C3A}</a:tableStyleId>
              </a:tblPr>
              <a:tblGrid>
                <a:gridCol w="3600000"/>
                <a:gridCol w="3240000"/>
                <a:gridCol w="3960000"/>
              </a:tblGrid>
              <a:tr h="551999">
                <a:tc>
                  <a:txBody>
                    <a:bodyPr/>
                    <a:lstStyle/>
                    <a:p>
                      <a:r>
                        <a:rPr sz="1200" b="1">
                          <a:solidFill>
                            <a:srgbClr val="FCFCFB"/>
                          </a:solidFill>
                          <a:latin typeface="Calibri"/>
                        </a:rPr>
                        <a:t>L'erreur</a:t>
                      </a:r>
                    </a:p>
                  </a:txBody>
                  <a:tcPr>
                    <a:solidFill>
                      <a:srgbClr val="0B0B0B"/>
                    </a:solidFill>
                  </a:tcPr>
                </a:tc>
                <a:tc>
                  <a:txBody>
                    <a:bodyPr/>
                    <a:lstStyle/>
                    <a:p>
                      <a:r>
                        <a:rPr sz="1200" b="1">
                          <a:solidFill>
                            <a:srgbClr val="FCFCFB"/>
                          </a:solidFill>
                          <a:latin typeface="Calibri"/>
                        </a:rPr>
                        <a:t>Le symptôme</a:t>
                      </a:r>
                    </a:p>
                  </a:txBody>
                  <a:tcPr>
                    <a:solidFill>
                      <a:srgbClr val="0B0B0B"/>
                    </a:solidFill>
                  </a:tcPr>
                </a:tc>
                <a:tc>
                  <a:txBody>
                    <a:bodyPr/>
                    <a:lstStyle/>
                    <a:p>
                      <a:r>
                        <a:rPr sz="1200" b="1">
                          <a:solidFill>
                            <a:srgbClr val="FCFCFB"/>
                          </a:solidFill>
                          <a:latin typeface="Calibri"/>
                        </a:rPr>
                        <a:t>Ce qui l'a révélée</a:t>
                      </a:r>
                    </a:p>
                  </a:txBody>
                  <a:tcPr>
                    <a:solidFill>
                      <a:srgbClr val="0B0B0B"/>
                    </a:solidFill>
                  </a:tcPr>
                </a:tc>
              </a:tr>
              <a:tr h="551999">
                <a:tc>
                  <a:txBody>
                    <a:bodyPr/>
                    <a:lstStyle/>
                    <a:p>
                      <a:r>
                        <a:rPr sz="1200" b="0">
                          <a:solidFill>
                            <a:srgbClr val="6B6963"/>
                          </a:solidFill>
                          <a:latin typeface="Calibri"/>
                        </a:rPr>
                        <a:t>ha et cible laissées dans les features du modèle de surface</a:t>
                      </a:r>
                    </a:p>
                  </a:txBody>
                  <a:tcPr>
                    <a:solidFill>
                      <a:srgbClr val="FCFCFB"/>
                    </a:solidFill>
                  </a:tcPr>
                </a:tc>
                <a:tc>
                  <a:txBody>
                    <a:bodyPr/>
                    <a:lstStyle/>
                    <a:p>
                      <a:r>
                        <a:rPr sz="1200" b="0">
                          <a:solidFill>
                            <a:srgbClr val="6B6963"/>
                          </a:solidFill>
                          <a:latin typeface="Calibri"/>
                        </a:rPr>
                        <a:t>R² = 0,994 et ROC-AUC = 1,0000</a:t>
                      </a:r>
                    </a:p>
                  </a:txBody>
                  <a:tcPr>
                    <a:solidFill>
                      <a:srgbClr val="FCFCFB"/>
                    </a:solidFill>
                  </a:tcPr>
                </a:tc>
                <a:tc>
                  <a:txBody>
                    <a:bodyPr/>
                    <a:lstStyle/>
                    <a:p>
                      <a:r>
                        <a:rPr sz="1200" b="0">
                          <a:solidFill>
                            <a:srgbClr val="6B6963"/>
                          </a:solidFill>
                          <a:latin typeface="Calibri"/>
                        </a:rPr>
                        <a:t>un score trop beau pour être vrai</a:t>
                      </a:r>
                    </a:p>
                  </a:txBody>
                  <a:tcPr>
                    <a:solidFill>
                      <a:srgbClr val="FCFCFB"/>
                    </a:solidFill>
                  </a:tcPr>
                </a:tc>
              </a:tr>
              <a:tr h="551999">
                <a:tc>
                  <a:txBody>
                    <a:bodyPr/>
                    <a:lstStyle/>
                    <a:p>
                      <a:r>
                        <a:rPr sz="1200" b="0">
                          <a:solidFill>
                            <a:srgbClr val="6B6963"/>
                          </a:solidFill>
                          <a:latin typeface="Calibri"/>
                        </a:rPr>
                        <a:t>interaction analysée sur l'échantillon du SOMMET</a:t>
                      </a:r>
                    </a:p>
                  </a:txBody>
                  <a:tcPr>
                    <a:solidFill>
                      <a:srgbClr val="FCFCFB"/>
                    </a:solidFill>
                  </a:tcPr>
                </a:tc>
                <a:tc>
                  <a:txBody>
                    <a:bodyPr/>
                    <a:lstStyle/>
                    <a:p>
                      <a:r>
                        <a:rPr sz="1200" b="0">
                          <a:solidFill>
                            <a:srgbClr val="6B6963"/>
                          </a:solidFill>
                          <a:latin typeface="Calibri"/>
                        </a:rPr>
                        <a:t>le signe de l'interaction s'inversait</a:t>
                      </a:r>
                    </a:p>
                  </a:txBody>
                  <a:tcPr>
                    <a:solidFill>
                      <a:srgbClr val="FCFCFB"/>
                    </a:solidFill>
                  </a:tcPr>
                </a:tc>
                <a:tc>
                  <a:txBody>
                    <a:bodyPr/>
                    <a:lstStyle/>
                    <a:p>
                      <a:r>
                        <a:rPr sz="1200" b="0">
                          <a:solidFill>
                            <a:srgbClr val="6B6963"/>
                          </a:solidFill>
                          <a:latin typeface="Calibri"/>
                        </a:rPr>
                        <a:t>biais de collision : sélectionner sur le score conditionne le résultat</a:t>
                      </a:r>
                    </a:p>
                  </a:txBody>
                  <a:tcPr>
                    <a:solidFill>
                      <a:srgbClr val="FCFCFB"/>
                    </a:solidFill>
                  </a:tcPr>
                </a:tc>
              </a:tr>
              <a:tr h="551999">
                <a:tc>
                  <a:txBody>
                    <a:bodyPr/>
                    <a:lstStyle/>
                    <a:p>
                      <a:r>
                        <a:rPr sz="1200" b="0">
                          <a:solidFill>
                            <a:srgbClr val="6B6963"/>
                          </a:solidFill>
                          <a:latin typeface="Calibri"/>
                        </a:rPr>
                        <a:t>moyenne climatologique non lissée</a:t>
                      </a:r>
                    </a:p>
                  </a:txBody>
                  <a:tcPr>
                    <a:solidFill>
                      <a:srgbClr val="FCFCFB"/>
                    </a:solidFill>
                  </a:tcPr>
                </a:tc>
                <a:tc>
                  <a:txBody>
                    <a:bodyPr/>
                    <a:lstStyle/>
                    <a:p>
                      <a:r>
                        <a:rPr sz="1200" b="0">
                          <a:solidFill>
                            <a:srgbClr val="6B6963"/>
                          </a:solidFill>
                          <a:latin typeface="Calibri"/>
                        </a:rPr>
                        <a:t>un dentelé de période 4 ans dans les séries annuelles</a:t>
                      </a:r>
                    </a:p>
                  </a:txBody>
                  <a:tcPr>
                    <a:solidFill>
                      <a:srgbClr val="FCFCFB"/>
                    </a:solidFill>
                  </a:tcPr>
                </a:tc>
                <a:tc>
                  <a:txBody>
                    <a:bodyPr/>
                    <a:lstStyle/>
                    <a:p>
                      <a:r>
                        <a:rPr sz="1200" b="0">
                          <a:solidFill>
                            <a:srgbClr val="6B6963"/>
                          </a:solidFill>
                          <a:latin typeface="Calibri"/>
                        </a:rPr>
                        <a:t>le 15 août tombe au jour 227 ou 228 selon les bissextiles</a:t>
                      </a:r>
                    </a:p>
                  </a:txBody>
                  <a:tcPr>
                    <a:solidFill>
                      <a:srgbClr val="FCFCFB"/>
                    </a:solidFill>
                  </a:tcPr>
                </a:tc>
              </a:tr>
              <a:tr h="551999">
                <a:tc>
                  <a:txBody>
                    <a:bodyPr/>
                    <a:lstStyle/>
                    <a:p>
                      <a:r>
                        <a:rPr sz="1200" b="0">
                          <a:solidFill>
                            <a:srgbClr val="6B6963"/>
                          </a:solidFill>
                          <a:latin typeface="Calibri"/>
                        </a:rPr>
                        <a:t>projection ancrée à k = 1,0 en 2025</a:t>
                      </a:r>
                    </a:p>
                  </a:txBody>
                  <a:tcPr>
                    <a:solidFill>
                      <a:srgbClr val="FCFCFB"/>
                    </a:solidFill>
                  </a:tcPr>
                </a:tc>
                <a:tc>
                  <a:txBody>
                    <a:bodyPr/>
                    <a:lstStyle/>
                    <a:p>
                      <a:r>
                        <a:rPr sz="1200" b="0">
                          <a:solidFill>
                            <a:srgbClr val="6B6963"/>
                          </a:solidFill>
                          <a:latin typeface="Calibri"/>
                        </a:rPr>
                        <a:t>la courbe plongeait au passage 2025 → 2026</a:t>
                      </a:r>
                    </a:p>
                  </a:txBody>
                  <a:tcPr>
                    <a:solidFill>
                      <a:srgbClr val="FCFCFB"/>
                    </a:solidFill>
                  </a:tcPr>
                </a:tc>
                <a:tc>
                  <a:txBody>
                    <a:bodyPr/>
                    <a:lstStyle/>
                    <a:p>
                      <a:r>
                        <a:rPr sz="1200" b="0">
                          <a:solidFill>
                            <a:srgbClr val="6B6963"/>
                          </a:solidFill>
                          <a:latin typeface="Calibri"/>
                        </a:rPr>
                        <a:t>le facteur observé de 2025 vaut déjà ~1,3</a:t>
                      </a:r>
                    </a:p>
                  </a:txBody>
                  <a:tcPr>
                    <a:solidFill>
                      <a:srgbClr val="FCFCFB"/>
                    </a:solidFill>
                  </a:tcPr>
                </a:tc>
              </a:tr>
              <a:tr h="552004">
                <a:tc>
                  <a:txBody>
                    <a:bodyPr/>
                    <a:lstStyle/>
                    <a:p>
                      <a:r>
                        <a:rPr sz="1200" b="0">
                          <a:solidFill>
                            <a:srgbClr val="6B6963"/>
                          </a:solidFill>
                          <a:latin typeface="Calibri"/>
                        </a:rPr>
                        <a:t>tendance du FWI écrite en dur dans l'application</a:t>
                      </a:r>
                    </a:p>
                  </a:txBody>
                  <a:tcPr>
                    <a:solidFill>
                      <a:srgbClr val="FCFCFB"/>
                    </a:solidFill>
                  </a:tcPr>
                </a:tc>
                <a:tc>
                  <a:txBody>
                    <a:bodyPr/>
                    <a:lstStyle/>
                    <a:p>
                      <a:r>
                        <a:rPr sz="1200" b="0">
                          <a:solidFill>
                            <a:srgbClr val="6B6963"/>
                          </a:solidFill>
                          <a:latin typeface="Calibri"/>
                        </a:rPr>
                        <a:t>+45 % affiché, +58 % réel</a:t>
                      </a:r>
                    </a:p>
                  </a:txBody>
                  <a:tcPr>
                    <a:solidFill>
                      <a:srgbClr val="FCFCFB"/>
                    </a:solidFill>
                  </a:tcPr>
                </a:tc>
                <a:tc>
                  <a:txBody>
                    <a:bodyPr/>
                    <a:lstStyle/>
                    <a:p>
                      <a:r>
                        <a:rPr sz="1200" b="0">
                          <a:solidFill>
                            <a:srgbClr val="6B6963"/>
                          </a:solidFill>
                          <a:latin typeface="Calibri"/>
                        </a:rPr>
                        <a:t>recalcul systématique à la source</a:t>
                      </a:r>
                    </a:p>
                  </a:txBody>
                  <a:tcPr>
                    <a:solidFill>
                      <a:srgbClr val="FCFCFB"/>
                    </a:solidFill>
                  </a:tcPr>
                </a:tc>
              </a:tr>
            </a:tbl>
          </a:graphicData>
        </a:graphic>
      </p:graphicFrame>
      <p:sp>
        <p:nvSpPr>
          <p:cNvPr id="6" name="Rectangle 5"/>
          <p:cNvSpPr/>
          <p:nvPr/>
        </p:nvSpPr>
        <p:spPr>
          <a:xfrm>
            <a:off x="684000" y="5544000"/>
            <a:ext cx="39600" cy="864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5580000"/>
            <a:ext cx="10548000" cy="864000"/>
          </a:xfrm>
          <a:prstGeom prst="rect">
            <a:avLst/>
          </a:prstGeom>
          <a:noFill/>
        </p:spPr>
        <p:txBody>
          <a:bodyPr wrap="square">
            <a:spAutoFit/>
          </a:bodyPr>
          <a:lstStyle/>
          <a:p>
            <a:pPr>
              <a:lnSpc>
                <a:spcPct val="130000"/>
              </a:lnSpc>
            </a:pPr>
            <a:r>
              <a:rPr sz="1500" b="0">
                <a:solidFill>
                  <a:srgbClr val="0B0B0B"/>
                </a:solidFill>
                <a:latin typeface="Calibri"/>
              </a:rPr>
              <a:t>Les seules défenses sont les invariants explicites et les assertions qui échouent bruyamment. 50 tests tournent en intégration continue à chaque commit.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L'application</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Cinq pages, déployée publiquement.</a:t>
            </a:r>
          </a:p>
        </p:txBody>
      </p:sp>
      <p:graphicFrame>
        <p:nvGraphicFramePr>
          <p:cNvPr id="5" name="Table 4"/>
          <p:cNvGraphicFramePr>
            <a:graphicFrameLocks noGrp="1"/>
          </p:cNvGraphicFramePr>
          <p:nvPr/>
        </p:nvGraphicFramePr>
        <p:xfrm>
          <a:off x="684000" y="1944000"/>
          <a:ext cx="10800000" cy="2736000"/>
        </p:xfrm>
        <a:graphic>
          <a:graphicData uri="http://schemas.openxmlformats.org/drawingml/2006/table">
            <a:tbl>
              <a:tblPr firstRow="1" bandRow="1">
                <a:tableStyleId>{5C22544A-7EE6-4342-B048-85BDC9FD1C3A}</a:tableStyleId>
              </a:tblPr>
              <a:tblGrid>
                <a:gridCol w="2520000"/>
                <a:gridCol w="8280000"/>
              </a:tblGrid>
              <a:tr h="456000">
                <a:tc>
                  <a:txBody>
                    <a:bodyPr/>
                    <a:lstStyle/>
                    <a:p>
                      <a:r>
                        <a:rPr sz="1300" b="1">
                          <a:solidFill>
                            <a:srgbClr val="FCFCFB"/>
                          </a:solidFill>
                          <a:latin typeface="Calibri"/>
                        </a:rPr>
                        <a:t>Page</a:t>
                      </a:r>
                    </a:p>
                  </a:txBody>
                  <a:tcPr>
                    <a:solidFill>
                      <a:srgbClr val="0B0B0B"/>
                    </a:solidFill>
                  </a:tcPr>
                </a:tc>
                <a:tc>
                  <a:txBody>
                    <a:bodyPr/>
                    <a:lstStyle/>
                    <a:p>
                      <a:r>
                        <a:rPr sz="1300" b="1">
                          <a:solidFill>
                            <a:srgbClr val="FCFCFB"/>
                          </a:solidFill>
                          <a:latin typeface="Calibri"/>
                        </a:rPr>
                        <a:t>Ce qu'elle montre</a:t>
                      </a:r>
                    </a:p>
                  </a:txBody>
                  <a:tcPr>
                    <a:solidFill>
                      <a:srgbClr val="0B0B0B"/>
                    </a:solidFill>
                  </a:tcPr>
                </a:tc>
              </a:tr>
              <a:tr h="456000">
                <a:tc>
                  <a:txBody>
                    <a:bodyPr/>
                    <a:lstStyle/>
                    <a:p>
                      <a:r>
                        <a:rPr sz="1300" b="0">
                          <a:solidFill>
                            <a:srgbClr val="6B6963"/>
                          </a:solidFill>
                          <a:latin typeface="Calibri"/>
                        </a:rPr>
                        <a:t>Carte</a:t>
                      </a:r>
                    </a:p>
                  </a:txBody>
                  <a:tcPr>
                    <a:solidFill>
                      <a:srgbClr val="FCFCFB"/>
                    </a:solidFill>
                  </a:tcPr>
                </a:tc>
                <a:tc>
                  <a:txBody>
                    <a:bodyPr/>
                    <a:lstStyle/>
                    <a:p>
                      <a:r>
                        <a:rPr sz="1300" b="0">
                          <a:solidFill>
                            <a:srgbClr val="6B6963"/>
                          </a:solidFill>
                          <a:latin typeface="Calibri"/>
                        </a:rPr>
                        <a:t>carte de chaleur nationale, 1973 → 2100, 3 scénarios GIEC, et un mode rétrospectif qui compare v3 et C sur le test</a:t>
                      </a:r>
                    </a:p>
                  </a:txBody>
                  <a:tcPr>
                    <a:solidFill>
                      <a:srgbClr val="FCFCFB"/>
                    </a:solidFill>
                  </a:tcPr>
                </a:tc>
              </a:tr>
              <a:tr h="456000">
                <a:tc>
                  <a:txBody>
                    <a:bodyPr/>
                    <a:lstStyle/>
                    <a:p>
                      <a:r>
                        <a:rPr sz="1300" b="0">
                          <a:solidFill>
                            <a:srgbClr val="6B6963"/>
                          </a:solidFill>
                          <a:latin typeface="Calibri"/>
                        </a:rPr>
                        <a:t>Commune</a:t>
                      </a:r>
                    </a:p>
                  </a:txBody>
                  <a:tcPr>
                    <a:solidFill>
                      <a:srgbClr val="FCFCFB"/>
                    </a:solidFill>
                  </a:tcPr>
                </a:tc>
                <a:tc>
                  <a:txBody>
                    <a:bodyPr/>
                    <a:lstStyle/>
                    <a:p>
                      <a:r>
                        <a:rPr sz="1300" b="0">
                          <a:solidFill>
                            <a:srgbClr val="6B6963"/>
                          </a:solidFill>
                          <a:latin typeface="Calibri"/>
                        </a:rPr>
                        <a:t>fiche détaillée : décennies, projections, type de territoire</a:t>
                      </a:r>
                    </a:p>
                  </a:txBody>
                  <a:tcPr>
                    <a:solidFill>
                      <a:srgbClr val="FCFCFB"/>
                    </a:solidFill>
                  </a:tcPr>
                </a:tc>
              </a:tr>
              <a:tr h="456000">
                <a:tc>
                  <a:txBody>
                    <a:bodyPr/>
                    <a:lstStyle/>
                    <a:p>
                      <a:r>
                        <a:rPr sz="1300" b="0">
                          <a:solidFill>
                            <a:srgbClr val="6B6963"/>
                          </a:solidFill>
                          <a:latin typeface="Calibri"/>
                        </a:rPr>
                        <a:t>Les données</a:t>
                      </a:r>
                    </a:p>
                  </a:txBody>
                  <a:tcPr>
                    <a:solidFill>
                      <a:srgbClr val="FCFCFB"/>
                    </a:solidFill>
                  </a:tcPr>
                </a:tc>
                <a:tc>
                  <a:txBody>
                    <a:bodyPr/>
                    <a:lstStyle/>
                    <a:p>
                      <a:r>
                        <a:rPr sz="1300" b="0">
                          <a:solidFill>
                            <a:srgbClr val="6B6963"/>
                          </a:solidFill>
                          <a:latin typeface="Calibri"/>
                        </a:rPr>
                        <a:t>les 4 sources, la tendance sur 53 ans, ADF et SARIMAX</a:t>
                      </a:r>
                    </a:p>
                  </a:txBody>
                  <a:tcPr>
                    <a:solidFill>
                      <a:srgbClr val="FCFCFB"/>
                    </a:solidFill>
                  </a:tcPr>
                </a:tc>
              </a:tr>
              <a:tr h="456000">
                <a:tc>
                  <a:txBody>
                    <a:bodyPr/>
                    <a:lstStyle/>
                    <a:p>
                      <a:r>
                        <a:rPr sz="1300" b="0">
                          <a:solidFill>
                            <a:srgbClr val="6B6963"/>
                          </a:solidFill>
                          <a:latin typeface="Calibri"/>
                        </a:rPr>
                        <a:t>Les modèles</a:t>
                      </a:r>
                    </a:p>
                  </a:txBody>
                  <a:tcPr>
                    <a:solidFill>
                      <a:srgbClr val="FCFCFB"/>
                    </a:solidFill>
                  </a:tcPr>
                </a:tc>
                <a:tc>
                  <a:txBody>
                    <a:bodyPr/>
                    <a:lstStyle/>
                    <a:p>
                      <a:r>
                        <a:rPr sz="1300" b="0">
                          <a:solidFill>
                            <a:srgbClr val="6B6963"/>
                          </a:solidFill>
                          <a:latin typeface="Calibri"/>
                        </a:rPr>
                        <a:t>protocole, les 6 modèles et leurs IC, le LSTM, v3 contre C, la calibration, le bug d'alignement</a:t>
                      </a:r>
                    </a:p>
                  </a:txBody>
                  <a:tcPr>
                    <a:solidFill>
                      <a:srgbClr val="FCFCFB"/>
                    </a:solidFill>
                  </a:tcPr>
                </a:tc>
              </a:tr>
              <a:tr h="456000">
                <a:tc>
                  <a:txBody>
                    <a:bodyPr/>
                    <a:lstStyle/>
                    <a:p>
                      <a:r>
                        <a:rPr sz="1300" b="0">
                          <a:solidFill>
                            <a:srgbClr val="6B6963"/>
                          </a:solidFill>
                          <a:latin typeface="Calibri"/>
                        </a:rPr>
                        <a:t>Pourquoi un feu part</a:t>
                      </a:r>
                    </a:p>
                  </a:txBody>
                  <a:tcPr>
                    <a:solidFill>
                      <a:srgbClr val="FCFCFB"/>
                    </a:solidFill>
                  </a:tcPr>
                </a:tc>
                <a:tc>
                  <a:txBody>
                    <a:bodyPr/>
                    <a:lstStyle/>
                    <a:p>
                      <a:r>
                        <a:rPr sz="1300" b="0">
                          <a:solidFill>
                            <a:srgbClr val="6B6963"/>
                          </a:solidFill>
                          <a:latin typeface="Calibri"/>
                        </a:rPr>
                        <a:t>SHAP, LIME et DiCE — et leur désaccord</a:t>
                      </a:r>
                    </a:p>
                  </a:txBody>
                  <a:tcPr>
                    <a:solidFill>
                      <a:srgbClr val="FCFCFB"/>
                    </a:solidFill>
                  </a:tcPr>
                </a:tc>
              </a:tr>
            </a:tbl>
          </a:graphicData>
        </a:graphic>
      </p:graphicFrame>
      <p:sp>
        <p:nvSpPr>
          <p:cNvPr id="6" name="Rectangle 5"/>
          <p:cNvSpPr/>
          <p:nvPr/>
        </p:nvSpPr>
        <p:spPr>
          <a:xfrm>
            <a:off x="684000" y="4968000"/>
            <a:ext cx="39600" cy="11520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000" y="5004000"/>
            <a:ext cx="10548000" cy="1152000"/>
          </a:xfrm>
          <a:prstGeom prst="rect">
            <a:avLst/>
          </a:prstGeom>
          <a:noFill/>
        </p:spPr>
        <p:txBody>
          <a:bodyPr wrap="square">
            <a:spAutoFit/>
          </a:bodyPr>
          <a:lstStyle/>
          <a:p>
            <a:pPr>
              <a:lnSpc>
                <a:spcPct val="130000"/>
              </a:lnSpc>
            </a:pPr>
            <a:r>
              <a:rPr sz="1500" b="0">
                <a:solidFill>
                  <a:srgbClr val="0B0B0B"/>
                </a:solidFill>
                <a:latin typeface="Calibri"/>
              </a:rPr>
              <a:t>Le mode rétrospectif REFUSE d'afficher le modèle v3 sur 20 des 23 années qu'il pourrait techniquement couvrir — le train (il a appris ces lignes), la validation (elle a servi à choisir), l'avenir (pas d'historique) — et sait dire pourquoi pour chacune.</a:t>
            </a:r>
          </a:p>
        </p:txBody>
      </p:sp>
      <p:sp>
        <p:nvSpPr>
          <p:cNvPr id="8" name="TextBox 7"/>
          <p:cNvSpPr txBox="1"/>
          <p:nvPr/>
        </p:nvSpPr>
        <p:spPr>
          <a:xfrm>
            <a:off x="684000" y="6300000"/>
            <a:ext cx="10800000" cy="503999"/>
          </a:xfrm>
          <a:prstGeom prst="rect">
            <a:avLst/>
          </a:prstGeom>
          <a:noFill/>
        </p:spPr>
        <p:txBody>
          <a:bodyPr wrap="square">
            <a:spAutoFit/>
          </a:bodyPr>
          <a:lstStyle/>
          <a:p>
            <a:pPr>
              <a:lnSpc>
                <a:spcPct val="125000"/>
              </a:lnSpc>
            </a:pPr>
            <a:r>
              <a:rPr sz="1900" b="1">
                <a:solidFill>
                  <a:srgbClr val="2A78D6"/>
                </a:solidFill>
                <a:latin typeface="Calibri"/>
              </a:rPr>
              <a:t>terre-vent-feu-eau-data.streamlit.app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4000" y="540000"/>
            <a:ext cx="1152000" cy="324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702000"/>
            <a:ext cx="10440000" cy="648000"/>
          </a:xfrm>
          <a:prstGeom prst="rect">
            <a:avLst/>
          </a:prstGeom>
          <a:noFill/>
        </p:spPr>
        <p:txBody>
          <a:bodyPr wrap="square">
            <a:spAutoFit/>
          </a:bodyPr>
          <a:lstStyle/>
          <a:p>
            <a:pPr>
              <a:lnSpc>
                <a:spcPct val="125000"/>
              </a:lnSpc>
            </a:pPr>
            <a:r>
              <a:rPr sz="2700" b="1">
                <a:solidFill>
                  <a:srgbClr val="0B0B0B"/>
                </a:solidFill>
                <a:latin typeface="Calibri"/>
              </a:rPr>
              <a:t>Ce que le projet ne fait pas</a:t>
            </a:r>
          </a:p>
        </p:txBody>
      </p:sp>
      <p:sp>
        <p:nvSpPr>
          <p:cNvPr id="4" name="TextBox 3"/>
          <p:cNvSpPr txBox="1"/>
          <p:nvPr/>
        </p:nvSpPr>
        <p:spPr>
          <a:xfrm>
            <a:off x="684000" y="1404000"/>
            <a:ext cx="10440000" cy="576000"/>
          </a:xfrm>
          <a:prstGeom prst="rect">
            <a:avLst/>
          </a:prstGeom>
          <a:noFill/>
        </p:spPr>
        <p:txBody>
          <a:bodyPr wrap="square">
            <a:spAutoFit/>
          </a:bodyPr>
          <a:lstStyle/>
          <a:p>
            <a:pPr>
              <a:lnSpc>
                <a:spcPct val="130000"/>
              </a:lnSpc>
            </a:pPr>
            <a:r>
              <a:rPr sz="1450" b="0">
                <a:solidFill>
                  <a:srgbClr val="6B6963"/>
                </a:solidFill>
                <a:latin typeface="Calibri"/>
              </a:rPr>
              <a:t>Les limites qu'on connaît valent mieux que celles qu'on découvre en soutenance.</a:t>
            </a:r>
          </a:p>
        </p:txBody>
      </p:sp>
      <p:sp>
        <p:nvSpPr>
          <p:cNvPr id="5" name="TextBox 4"/>
          <p:cNvSpPr txBox="1"/>
          <p:nvPr/>
        </p:nvSpPr>
        <p:spPr>
          <a:xfrm>
            <a:off x="684000" y="1944000"/>
            <a:ext cx="10800000" cy="453600"/>
          </a:xfrm>
          <a:prstGeom prst="rect">
            <a:avLst/>
          </a:prstGeom>
          <a:noFill/>
        </p:spPr>
        <p:txBody>
          <a:bodyPr wrap="square">
            <a:spAutoFit/>
          </a:bodyPr>
          <a:lstStyle/>
          <a:p>
            <a:pPr>
              <a:lnSpc>
                <a:spcPct val="125000"/>
              </a:lnSpc>
            </a:pPr>
            <a:r>
              <a:rPr sz="1500" b="1">
                <a:solidFill>
                  <a:srgbClr val="0B0B0B"/>
                </a:solidFill>
                <a:latin typeface="Calibri"/>
              </a:rPr>
              <a:t>La surface brûlée n'est pas prédictible.</a:t>
            </a:r>
          </a:p>
        </p:txBody>
      </p:sp>
      <p:sp>
        <p:nvSpPr>
          <p:cNvPr id="6" name="TextBox 5"/>
          <p:cNvSpPr txBox="1"/>
          <p:nvPr/>
        </p:nvSpPr>
        <p:spPr>
          <a:xfrm>
            <a:off x="684000" y="2397600"/>
            <a:ext cx="10800000" cy="453600"/>
          </a:xfrm>
          <a:prstGeom prst="rect">
            <a:avLst/>
          </a:prstGeom>
          <a:noFill/>
        </p:spPr>
        <p:txBody>
          <a:bodyPr wrap="square">
            <a:spAutoFit/>
          </a:bodyPr>
          <a:lstStyle/>
          <a:p>
            <a:pPr>
              <a:lnSpc>
                <a:spcPct val="125000"/>
              </a:lnSpc>
            </a:pPr>
            <a:r>
              <a:rPr sz="1500" b="0">
                <a:solidFill>
                  <a:srgbClr val="6B6963"/>
                </a:solidFill>
                <a:latin typeface="Calibri"/>
              </a:rPr>
              <a:t>— R² de 0,14 — moins bon que d'annoncer toujours la médiane. Elle dépend de ce qui se passe APRÈS le départ : vent, délai d'intervention, relief.</a:t>
            </a:r>
          </a:p>
        </p:txBody>
      </p:sp>
      <p:sp>
        <p:nvSpPr>
          <p:cNvPr id="7" name="TextBox 6"/>
          <p:cNvSpPr txBox="1"/>
          <p:nvPr/>
        </p:nvSpPr>
        <p:spPr>
          <a:xfrm>
            <a:off x="684000" y="2851200"/>
            <a:ext cx="10800000" cy="453600"/>
          </a:xfrm>
          <a:prstGeom prst="rect">
            <a:avLst/>
          </a:prstGeom>
          <a:noFill/>
        </p:spPr>
        <p:txBody>
          <a:bodyPr wrap="square">
            <a:spAutoFit/>
          </a:bodyPr>
          <a:lstStyle/>
          <a:p>
            <a:pPr>
              <a:lnSpc>
                <a:spcPct val="125000"/>
              </a:lnSpc>
            </a:pPr>
            <a:r>
              <a:rPr sz="1500" b="1">
                <a:solidFill>
                  <a:srgbClr val="0B0B0B"/>
                </a:solidFill>
                <a:latin typeface="Calibri"/>
              </a:rPr>
              <a:t>Et « sera-ce un grand feu ? » se prédit mal aussi.</a:t>
            </a:r>
          </a:p>
        </p:txBody>
      </p:sp>
      <p:sp>
        <p:nvSpPr>
          <p:cNvPr id="8" name="TextBox 7"/>
          <p:cNvSpPr txBox="1"/>
          <p:nvPr/>
        </p:nvSpPr>
        <p:spPr>
          <a:xfrm>
            <a:off x="684000" y="3304800"/>
            <a:ext cx="10800000" cy="453600"/>
          </a:xfrm>
          <a:prstGeom prst="rect">
            <a:avLst/>
          </a:prstGeom>
          <a:noFill/>
        </p:spPr>
        <p:txBody>
          <a:bodyPr wrap="square">
            <a:spAutoFit/>
          </a:bodyPr>
          <a:lstStyle/>
          <a:p>
            <a:pPr>
              <a:lnSpc>
                <a:spcPct val="125000"/>
              </a:lnSpc>
            </a:pPr>
            <a:r>
              <a:rPr sz="1500" b="0">
                <a:solidFill>
                  <a:srgbClr val="6B6963"/>
                </a:solidFill>
                <a:latin typeface="Calibri"/>
              </a:rPr>
              <a:t>— lift de 2.9× seulement, contre 63.7× pour les départs. On lit parfois « ROC-AUC 0,77 » : c'est exact, mais s'en servir après avoir expliqué pourquoi la ROC-AUC flatte serait se contredire.</a:t>
            </a:r>
          </a:p>
        </p:txBody>
      </p:sp>
      <p:sp>
        <p:nvSpPr>
          <p:cNvPr id="9" name="TextBox 8"/>
          <p:cNvSpPr txBox="1"/>
          <p:nvPr/>
        </p:nvSpPr>
        <p:spPr>
          <a:xfrm>
            <a:off x="684000" y="3758400"/>
            <a:ext cx="10800000" cy="453600"/>
          </a:xfrm>
          <a:prstGeom prst="rect">
            <a:avLst/>
          </a:prstGeom>
          <a:noFill/>
        </p:spPr>
        <p:txBody>
          <a:bodyPr wrap="square">
            <a:spAutoFit/>
          </a:bodyPr>
          <a:lstStyle/>
          <a:p>
            <a:pPr>
              <a:lnSpc>
                <a:spcPct val="125000"/>
              </a:lnSpc>
            </a:pPr>
            <a:r>
              <a:rPr sz="1500" b="1">
                <a:solidFill>
                  <a:srgbClr val="0B0B0B"/>
                </a:solidFill>
                <a:latin typeface="Calibri"/>
              </a:rPr>
              <a:t>Une commune-jour n'est pas un incendie.</a:t>
            </a:r>
          </a:p>
        </p:txBody>
      </p:sp>
      <p:sp>
        <p:nvSpPr>
          <p:cNvPr id="10" name="TextBox 9"/>
          <p:cNvSpPr txBox="1"/>
          <p:nvPr/>
        </p:nvSpPr>
        <p:spPr>
          <a:xfrm>
            <a:off x="684000" y="4212000"/>
            <a:ext cx="10800000" cy="453600"/>
          </a:xfrm>
          <a:prstGeom prst="rect">
            <a:avLst/>
          </a:prstGeom>
          <a:noFill/>
        </p:spPr>
        <p:txBody>
          <a:bodyPr wrap="square">
            <a:spAutoFit/>
          </a:bodyPr>
          <a:lstStyle/>
          <a:p>
            <a:pPr>
              <a:lnSpc>
                <a:spcPct val="125000"/>
              </a:lnSpc>
            </a:pPr>
            <a:r>
              <a:rPr sz="1500" b="0">
                <a:solidFill>
                  <a:srgbClr val="6B6963"/>
                </a:solidFill>
                <a:latin typeface="Calibri"/>
              </a:rPr>
              <a:t>— Un feu traversant cinq communes compte cinq fois.</a:t>
            </a:r>
          </a:p>
        </p:txBody>
      </p:sp>
      <p:sp>
        <p:nvSpPr>
          <p:cNvPr id="11" name="TextBox 10"/>
          <p:cNvSpPr txBox="1"/>
          <p:nvPr/>
        </p:nvSpPr>
        <p:spPr>
          <a:xfrm>
            <a:off x="684000" y="4665600"/>
            <a:ext cx="10800000" cy="453600"/>
          </a:xfrm>
          <a:prstGeom prst="rect">
            <a:avLst/>
          </a:prstGeom>
          <a:noFill/>
        </p:spPr>
        <p:txBody>
          <a:bodyPr wrap="square">
            <a:spAutoFit/>
          </a:bodyPr>
          <a:lstStyle/>
          <a:p>
            <a:pPr>
              <a:lnSpc>
                <a:spcPct val="125000"/>
              </a:lnSpc>
            </a:pPr>
            <a:r>
              <a:rPr sz="1500" b="1">
                <a:solidFill>
                  <a:srgbClr val="0B0B0B"/>
                </a:solidFill>
                <a:latin typeface="Calibri"/>
              </a:rPr>
              <a:t>31 communes partagent une maille météo de 28 km.</a:t>
            </a:r>
          </a:p>
        </p:txBody>
      </p:sp>
      <p:sp>
        <p:nvSpPr>
          <p:cNvPr id="12" name="TextBox 11"/>
          <p:cNvSpPr txBox="1"/>
          <p:nvPr/>
        </p:nvSpPr>
        <p:spPr>
          <a:xfrm>
            <a:off x="684000" y="5119200"/>
            <a:ext cx="10800000" cy="453600"/>
          </a:xfrm>
          <a:prstGeom prst="rect">
            <a:avLst/>
          </a:prstGeom>
          <a:noFill/>
        </p:spPr>
        <p:txBody>
          <a:bodyPr wrap="square">
            <a:spAutoFit/>
          </a:bodyPr>
          <a:lstStyle/>
          <a:p>
            <a:pPr>
              <a:lnSpc>
                <a:spcPct val="125000"/>
              </a:lnSpc>
            </a:pPr>
            <a:r>
              <a:rPr sz="1500" b="0">
                <a:solidFill>
                  <a:srgbClr val="6B6963"/>
                </a:solidFill>
                <a:latin typeface="Calibri"/>
              </a:rPr>
              <a:t>— Le FWI porte le quand, la végétation porte le où. Conséquence statistique : les intervalles naïfs sur les coefficients météo seraient trop étroits.</a:t>
            </a:r>
          </a:p>
        </p:txBody>
      </p:sp>
      <p:sp>
        <p:nvSpPr>
          <p:cNvPr id="13" name="TextBox 12"/>
          <p:cNvSpPr txBox="1"/>
          <p:nvPr/>
        </p:nvSpPr>
        <p:spPr>
          <a:xfrm>
            <a:off x="684000" y="5572800"/>
            <a:ext cx="10800000" cy="453600"/>
          </a:xfrm>
          <a:prstGeom prst="rect">
            <a:avLst/>
          </a:prstGeom>
          <a:noFill/>
        </p:spPr>
        <p:txBody>
          <a:bodyPr wrap="square">
            <a:spAutoFit/>
          </a:bodyPr>
          <a:lstStyle/>
          <a:p>
            <a:pPr>
              <a:lnSpc>
                <a:spcPct val="125000"/>
              </a:lnSpc>
            </a:pPr>
            <a:r>
              <a:rPr sz="1500" b="1">
                <a:solidFill>
                  <a:srgbClr val="0B0B0B"/>
                </a:solidFill>
                <a:latin typeface="Calibri"/>
              </a:rPr>
              <a:t>Le LSTM n'a pas reçu danger_effis.</a:t>
            </a:r>
          </a:p>
        </p:txBody>
      </p:sp>
      <p:sp>
        <p:nvSpPr>
          <p:cNvPr id="14" name="TextBox 13"/>
          <p:cNvSpPr txBox="1"/>
          <p:nvPr/>
        </p:nvSpPr>
        <p:spPr>
          <a:xfrm>
            <a:off x="684000" y="6026400"/>
            <a:ext cx="10800000" cy="453600"/>
          </a:xfrm>
          <a:prstGeom prst="rect">
            <a:avLst/>
          </a:prstGeom>
          <a:noFill/>
        </p:spPr>
        <p:txBody>
          <a:bodyPr wrap="square">
            <a:spAutoFit/>
          </a:bodyPr>
          <a:lstStyle/>
          <a:p>
            <a:pPr>
              <a:lnSpc>
                <a:spcPct val="125000"/>
              </a:lnSpc>
            </a:pPr>
            <a:r>
              <a:rPr sz="1500" b="0">
                <a:solidFill>
                  <a:srgbClr val="6B6963"/>
                </a:solidFill>
                <a:latin typeface="Calibri"/>
              </a:rPr>
              <a:t>— L'écart de 23,6 % est un majorant tant que cette asymétrie n'est pas levée. C'est la première chose à refaire.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